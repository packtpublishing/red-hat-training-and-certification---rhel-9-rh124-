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96"/>
  </p:notesMasterIdLst>
  <p:handoutMasterIdLst>
    <p:handoutMasterId r:id="rId97"/>
  </p:handoutMasterIdLst>
  <p:sldIdLst>
    <p:sldId id="376" r:id="rId5"/>
    <p:sldId id="457" r:id="rId6"/>
    <p:sldId id="458" r:id="rId7"/>
    <p:sldId id="455" r:id="rId8"/>
    <p:sldId id="389" r:id="rId9"/>
    <p:sldId id="378" r:id="rId10"/>
    <p:sldId id="392" r:id="rId11"/>
    <p:sldId id="393" r:id="rId12"/>
    <p:sldId id="390" r:id="rId13"/>
    <p:sldId id="391" r:id="rId14"/>
    <p:sldId id="394" r:id="rId15"/>
    <p:sldId id="379" r:id="rId16"/>
    <p:sldId id="395" r:id="rId17"/>
    <p:sldId id="396" r:id="rId18"/>
    <p:sldId id="397" r:id="rId19"/>
    <p:sldId id="399" r:id="rId20"/>
    <p:sldId id="400" r:id="rId21"/>
    <p:sldId id="401" r:id="rId22"/>
    <p:sldId id="404" r:id="rId23"/>
    <p:sldId id="403" r:id="rId24"/>
    <p:sldId id="405" r:id="rId25"/>
    <p:sldId id="406" r:id="rId26"/>
    <p:sldId id="407" r:id="rId27"/>
    <p:sldId id="408" r:id="rId28"/>
    <p:sldId id="409" r:id="rId29"/>
    <p:sldId id="410" r:id="rId30"/>
    <p:sldId id="459" r:id="rId31"/>
    <p:sldId id="411" r:id="rId32"/>
    <p:sldId id="412" r:id="rId33"/>
    <p:sldId id="414" r:id="rId34"/>
    <p:sldId id="415" r:id="rId35"/>
    <p:sldId id="416" r:id="rId36"/>
    <p:sldId id="417" r:id="rId37"/>
    <p:sldId id="418" r:id="rId38"/>
    <p:sldId id="420" r:id="rId39"/>
    <p:sldId id="419" r:id="rId40"/>
    <p:sldId id="421" r:id="rId41"/>
    <p:sldId id="422" r:id="rId42"/>
    <p:sldId id="423" r:id="rId43"/>
    <p:sldId id="424" r:id="rId44"/>
    <p:sldId id="427" r:id="rId45"/>
    <p:sldId id="428" r:id="rId46"/>
    <p:sldId id="429" r:id="rId47"/>
    <p:sldId id="430" r:id="rId48"/>
    <p:sldId id="431" r:id="rId49"/>
    <p:sldId id="432" r:id="rId50"/>
    <p:sldId id="433" r:id="rId51"/>
    <p:sldId id="425" r:id="rId52"/>
    <p:sldId id="434" r:id="rId53"/>
    <p:sldId id="426" r:id="rId54"/>
    <p:sldId id="435" r:id="rId55"/>
    <p:sldId id="437" r:id="rId56"/>
    <p:sldId id="436" r:id="rId57"/>
    <p:sldId id="438" r:id="rId58"/>
    <p:sldId id="439" r:id="rId59"/>
    <p:sldId id="440" r:id="rId60"/>
    <p:sldId id="441" r:id="rId61"/>
    <p:sldId id="442" r:id="rId62"/>
    <p:sldId id="443" r:id="rId63"/>
    <p:sldId id="444" r:id="rId64"/>
    <p:sldId id="445" r:id="rId65"/>
    <p:sldId id="451" r:id="rId66"/>
    <p:sldId id="446" r:id="rId67"/>
    <p:sldId id="447" r:id="rId68"/>
    <p:sldId id="448" r:id="rId69"/>
    <p:sldId id="449" r:id="rId70"/>
    <p:sldId id="450" r:id="rId71"/>
    <p:sldId id="452" r:id="rId72"/>
    <p:sldId id="453" r:id="rId73"/>
    <p:sldId id="454" r:id="rId74"/>
    <p:sldId id="460" r:id="rId75"/>
    <p:sldId id="461" r:id="rId76"/>
    <p:sldId id="462" r:id="rId77"/>
    <p:sldId id="463" r:id="rId78"/>
    <p:sldId id="464" r:id="rId79"/>
    <p:sldId id="465" r:id="rId80"/>
    <p:sldId id="466" r:id="rId81"/>
    <p:sldId id="467" r:id="rId82"/>
    <p:sldId id="468" r:id="rId83"/>
    <p:sldId id="469" r:id="rId84"/>
    <p:sldId id="471" r:id="rId85"/>
    <p:sldId id="472" r:id="rId86"/>
    <p:sldId id="470" r:id="rId87"/>
    <p:sldId id="381" r:id="rId88"/>
    <p:sldId id="456" r:id="rId89"/>
    <p:sldId id="382" r:id="rId90"/>
    <p:sldId id="383" r:id="rId91"/>
    <p:sldId id="384" r:id="rId92"/>
    <p:sldId id="386" r:id="rId93"/>
    <p:sldId id="388" r:id="rId94"/>
    <p:sldId id="387"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howGuides="1">
      <p:cViewPr varScale="1">
        <p:scale>
          <a:sx n="89" d="100"/>
          <a:sy n="89" d="100"/>
        </p:scale>
        <p:origin x="466"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3082"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commentAuthors" Target="commentAuthor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5/25/2024</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5/25/2024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dirty="0"/>
          </a:p>
        </p:txBody>
      </p:sp>
    </p:spTree>
    <p:extLst>
      <p:ext uri="{BB962C8B-B14F-4D97-AF65-F5344CB8AC3E}">
        <p14:creationId xmlns:p14="http://schemas.microsoft.com/office/powerpoint/2010/main" val="2278711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80206913-4198-C5BA-6B13-02095EAA2B6F}"/>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F770BC68-C025-CE63-EEBA-5DC7ADC44D91}"/>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2F993316-5D9D-6B5D-B678-3E0B84A3C0D2}"/>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1" name="Text Placeholder 7">
            <a:extLst>
              <a:ext uri="{FF2B5EF4-FFF2-40B4-BE49-F238E27FC236}">
                <a16:creationId xmlns:a16="http://schemas.microsoft.com/office/drawing/2014/main" id="{41C39372-CEC6-2265-7611-84F187C126B1}"/>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2" name="Text Placeholder 12">
            <a:extLst>
              <a:ext uri="{FF2B5EF4-FFF2-40B4-BE49-F238E27FC236}">
                <a16:creationId xmlns:a16="http://schemas.microsoft.com/office/drawing/2014/main" id="{5E13D63F-D0AC-7CD2-770C-6AB09F1BA68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85BF73EF-490D-CA1C-DAD3-BACB141D0988}"/>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B82C914D-7190-2AD0-228B-6DA13843762C}"/>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DAE3299D-125C-8DBC-60F9-82920ADE34EB}"/>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B84261D4-8740-689B-A5CA-C6442BC13E2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7D4393D6-D866-E411-A222-2FE8B99C4D3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30" name="Text Placeholder 12">
            <a:extLst>
              <a:ext uri="{FF2B5EF4-FFF2-40B4-BE49-F238E27FC236}">
                <a16:creationId xmlns:a16="http://schemas.microsoft.com/office/drawing/2014/main" id="{94666BC0-682D-FE04-6EC3-AA81EA3F96FB}"/>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4627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g"/><Relationship Id="rId1" Type="http://schemas.openxmlformats.org/officeDocument/2006/relationships/slideLayout" Target="../slideLayouts/slideLayout1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85.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86.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jpg"/><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88.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g"/><Relationship Id="rId1" Type="http://schemas.openxmlformats.org/officeDocument/2006/relationships/slideLayout" Target="../slideLayouts/slideLayout11.xml"/><Relationship Id="rId4" Type="http://schemas.openxmlformats.org/officeDocument/2006/relationships/image" Target="../media/image4.sv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91.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7010726" y="526213"/>
            <a:ext cx="4675517" cy="2096218"/>
          </a:xfrm>
        </p:spPr>
        <p:txBody>
          <a:bodyPr>
            <a:normAutofit/>
          </a:bodyPr>
          <a:lstStyle/>
          <a:p>
            <a:pPr algn="ctr" eaLnBrk="1" fontAlgn="auto" hangingPunct="1">
              <a:spcBef>
                <a:spcPts val="0"/>
              </a:spcBef>
              <a:spcAft>
                <a:spcPts val="0"/>
              </a:spcAft>
              <a:defRPr/>
            </a:pPr>
            <a:r>
              <a:rPr lang="en-US" sz="3800" b="1"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mn-lt"/>
              </a:rPr>
              <a:t>RED HAT LINUX ADMINISTRATION l</a:t>
            </a:r>
          </a:p>
        </p:txBody>
      </p:sp>
      <p:sp>
        <p:nvSpPr>
          <p:cNvPr id="97" name="Text Placeholder 96">
            <a:extLst>
              <a:ext uri="{FF2B5EF4-FFF2-40B4-BE49-F238E27FC236}">
                <a16:creationId xmlns:a16="http://schemas.microsoft.com/office/drawing/2014/main" id="{2A924E96-9B1C-6D19-49F6-49CA70E65537}"/>
              </a:ext>
            </a:extLst>
          </p:cNvPr>
          <p:cNvSpPr>
            <a:spLocks noGrp="1"/>
          </p:cNvSpPr>
          <p:nvPr>
            <p:ph type="body" sz="quarter" idx="10"/>
          </p:nvPr>
        </p:nvSpPr>
        <p:spPr>
          <a:xfrm>
            <a:off x="7868574" y="3813462"/>
            <a:ext cx="4323426" cy="1008926"/>
          </a:xfrm>
        </p:spPr>
        <p:txBody>
          <a:bodyPr/>
          <a:lstStyle/>
          <a:p>
            <a:r>
              <a:rPr lang="en-US" dirty="0">
                <a:solidFill>
                  <a:srgbClr val="FF0000"/>
                </a:solidFill>
              </a:rPr>
              <a:t>RHEL9</a:t>
            </a:r>
          </a:p>
        </p:txBody>
      </p:sp>
      <p:sp>
        <p:nvSpPr>
          <p:cNvPr id="53" name="Freeform: Shape 52">
            <a:extLst>
              <a:ext uri="{FF2B5EF4-FFF2-40B4-BE49-F238E27FC236}">
                <a16:creationId xmlns:a16="http://schemas.microsoft.com/office/drawing/2014/main" id="{D96C8D99-3232-849B-9CC8-6E4982208FEA}"/>
              </a:ext>
              <a:ext uri="{C183D7F6-B498-43B3-948B-1728B52AA6E4}">
                <adec:decorative xmlns:adec="http://schemas.microsoft.com/office/drawing/2017/decorative" val="1"/>
              </a:ext>
            </a:extLst>
          </p:cNvPr>
          <p:cNvSpPr/>
          <p:nvPr/>
        </p:nvSpPr>
        <p:spPr>
          <a:xfrm rot="10800000">
            <a:off x="3507757" y="-11160"/>
            <a:ext cx="2553080" cy="6858841"/>
          </a:xfrm>
          <a:custGeom>
            <a:avLst/>
            <a:gdLst>
              <a:gd name="connsiteX0" fmla="*/ 2526446 w 2553080"/>
              <a:gd name="connsiteY0" fmla="*/ 0 h 6858841"/>
              <a:gd name="connsiteX1" fmla="*/ 1707127 w 2553080"/>
              <a:gd name="connsiteY1" fmla="*/ 3182290 h 6858841"/>
              <a:gd name="connsiteX2" fmla="*/ 1365955 w 2553080"/>
              <a:gd name="connsiteY2" fmla="*/ 4453431 h 6858841"/>
              <a:gd name="connsiteX3" fmla="*/ 1182052 w 2553080"/>
              <a:gd name="connsiteY3" fmla="*/ 4538343 h 6858841"/>
              <a:gd name="connsiteX4" fmla="*/ 1070442 w 2553080"/>
              <a:gd name="connsiteY4" fmla="*/ 4344440 h 6858841"/>
              <a:gd name="connsiteX5" fmla="*/ 1329175 w 2553080"/>
              <a:gd name="connsiteY5" fmla="*/ 3390133 h 6858841"/>
              <a:gd name="connsiteX6" fmla="*/ 1311418 w 2553080"/>
              <a:gd name="connsiteY6" fmla="*/ 3250726 h 6858841"/>
              <a:gd name="connsiteX7" fmla="*/ 1199808 w 2553080"/>
              <a:gd name="connsiteY7" fmla="*/ 3164547 h 6858841"/>
              <a:gd name="connsiteX8" fmla="*/ 975320 w 2553080"/>
              <a:gd name="connsiteY8" fmla="*/ 3293816 h 6858841"/>
              <a:gd name="connsiteX9" fmla="*/ 582148 w 2553080"/>
              <a:gd name="connsiteY9" fmla="*/ 4743652 h 6858841"/>
              <a:gd name="connsiteX10" fmla="*/ 5073 w 2553080"/>
              <a:gd name="connsiteY10" fmla="*/ 6842367 h 6858841"/>
              <a:gd name="connsiteX11" fmla="*/ 0 w 2553080"/>
              <a:gd name="connsiteY11" fmla="*/ 6858842 h 6858841"/>
              <a:gd name="connsiteX12" fmla="*/ 26634 w 2553080"/>
              <a:gd name="connsiteY12" fmla="*/ 6858842 h 6858841"/>
              <a:gd name="connsiteX13" fmla="*/ 607514 w 2553080"/>
              <a:gd name="connsiteY13" fmla="*/ 4751256 h 6858841"/>
              <a:gd name="connsiteX14" fmla="*/ 1000686 w 2553080"/>
              <a:gd name="connsiteY14" fmla="*/ 3301420 h 6858841"/>
              <a:gd name="connsiteX15" fmla="*/ 1194735 w 2553080"/>
              <a:gd name="connsiteY15" fmla="*/ 3189894 h 6858841"/>
              <a:gd name="connsiteX16" fmla="*/ 1289857 w 2553080"/>
              <a:gd name="connsiteY16" fmla="*/ 3263399 h 6858841"/>
              <a:gd name="connsiteX17" fmla="*/ 1305077 w 2553080"/>
              <a:gd name="connsiteY17" fmla="*/ 3383797 h 6858841"/>
              <a:gd name="connsiteX18" fmla="*/ 1046345 w 2553080"/>
              <a:gd name="connsiteY18" fmla="*/ 4338103 h 6858841"/>
              <a:gd name="connsiteX19" fmla="*/ 1175711 w 2553080"/>
              <a:gd name="connsiteY19" fmla="*/ 4562423 h 6858841"/>
              <a:gd name="connsiteX20" fmla="*/ 1390053 w 2553080"/>
              <a:gd name="connsiteY20" fmla="*/ 4462303 h 6858841"/>
              <a:gd name="connsiteX21" fmla="*/ 1390053 w 2553080"/>
              <a:gd name="connsiteY21" fmla="*/ 4461035 h 6858841"/>
              <a:gd name="connsiteX22" fmla="*/ 1731225 w 2553080"/>
              <a:gd name="connsiteY22" fmla="*/ 3188627 h 6858841"/>
              <a:gd name="connsiteX23" fmla="*/ 2553081 w 2553080"/>
              <a:gd name="connsiteY23" fmla="*/ 1267 h 6858841"/>
              <a:gd name="connsiteX24" fmla="*/ 2526446 w 2553080"/>
              <a:gd name="connsiteY24" fmla="*/ 0 h 685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53080" h="6858841">
                <a:moveTo>
                  <a:pt x="2526446" y="0"/>
                </a:moveTo>
                <a:lnTo>
                  <a:pt x="1707127" y="3182290"/>
                </a:lnTo>
                <a:lnTo>
                  <a:pt x="1365955" y="4453431"/>
                </a:lnTo>
                <a:cubicBezTo>
                  <a:pt x="1332979" y="4523135"/>
                  <a:pt x="1255613" y="4558621"/>
                  <a:pt x="1182052" y="4538343"/>
                </a:cubicBezTo>
                <a:cubicBezTo>
                  <a:pt x="1098345" y="4515531"/>
                  <a:pt x="1047613" y="4428085"/>
                  <a:pt x="1070442" y="4344440"/>
                </a:cubicBezTo>
                <a:lnTo>
                  <a:pt x="1329175" y="3390133"/>
                </a:lnTo>
                <a:cubicBezTo>
                  <a:pt x="1341858" y="3343242"/>
                  <a:pt x="1335516" y="3293816"/>
                  <a:pt x="1311418" y="3250726"/>
                </a:cubicBezTo>
                <a:cubicBezTo>
                  <a:pt x="1287321" y="3207637"/>
                  <a:pt x="1248004" y="3177220"/>
                  <a:pt x="1199808" y="3164547"/>
                </a:cubicBezTo>
                <a:cubicBezTo>
                  <a:pt x="1102150" y="3137933"/>
                  <a:pt x="1000686" y="3196230"/>
                  <a:pt x="975320" y="3293816"/>
                </a:cubicBezTo>
                <a:lnTo>
                  <a:pt x="582148" y="4743652"/>
                </a:lnTo>
                <a:lnTo>
                  <a:pt x="5073" y="6842367"/>
                </a:lnTo>
                <a:cubicBezTo>
                  <a:pt x="5073" y="6842367"/>
                  <a:pt x="1268" y="6855040"/>
                  <a:pt x="0" y="6858842"/>
                </a:cubicBezTo>
                <a:lnTo>
                  <a:pt x="26634" y="6858842"/>
                </a:lnTo>
                <a:lnTo>
                  <a:pt x="607514" y="4751256"/>
                </a:lnTo>
                <a:lnTo>
                  <a:pt x="1000686" y="3301420"/>
                </a:lnTo>
                <a:cubicBezTo>
                  <a:pt x="1023515" y="3217775"/>
                  <a:pt x="1111028" y="3167082"/>
                  <a:pt x="1194735" y="3189894"/>
                </a:cubicBezTo>
                <a:cubicBezTo>
                  <a:pt x="1235321" y="3201300"/>
                  <a:pt x="1269565" y="3226647"/>
                  <a:pt x="1289857" y="3263399"/>
                </a:cubicBezTo>
                <a:cubicBezTo>
                  <a:pt x="1311418" y="3300152"/>
                  <a:pt x="1316492" y="3341975"/>
                  <a:pt x="1305077" y="3383797"/>
                </a:cubicBezTo>
                <a:lnTo>
                  <a:pt x="1046345" y="4338103"/>
                </a:lnTo>
                <a:cubicBezTo>
                  <a:pt x="1019710" y="4435689"/>
                  <a:pt x="1078052" y="4537076"/>
                  <a:pt x="1175711" y="4562423"/>
                </a:cubicBezTo>
                <a:cubicBezTo>
                  <a:pt x="1261955" y="4585235"/>
                  <a:pt x="1352004" y="4543413"/>
                  <a:pt x="1390053" y="4462303"/>
                </a:cubicBezTo>
                <a:lnTo>
                  <a:pt x="1390053" y="4461035"/>
                </a:lnTo>
                <a:lnTo>
                  <a:pt x="1731225" y="3188627"/>
                </a:lnTo>
                <a:lnTo>
                  <a:pt x="2553081" y="1267"/>
                </a:lnTo>
                <a:cubicBezTo>
                  <a:pt x="2544203" y="0"/>
                  <a:pt x="2535325" y="0"/>
                  <a:pt x="2526446" y="0"/>
                </a:cubicBezTo>
                <a:close/>
              </a:path>
            </a:pathLst>
          </a:custGeom>
          <a:solidFill>
            <a:schemeClr val="accent1"/>
          </a:solidFill>
          <a:ln w="9116" cap="flat">
            <a:noFill/>
            <a:prstDash val="solid"/>
            <a:miter/>
          </a:ln>
        </p:spPr>
        <p:txBody>
          <a:bodyPr rtlCol="0" anchor="ctr"/>
          <a:lstStyle/>
          <a:p>
            <a:endParaRPr lang="en-US" dirty="0"/>
          </a:p>
        </p:txBody>
      </p:sp>
      <p:pic>
        <p:nvPicPr>
          <p:cNvPr id="38" name="Picture Placeholder 37">
            <a:extLst>
              <a:ext uri="{FF2B5EF4-FFF2-40B4-BE49-F238E27FC236}">
                <a16:creationId xmlns:a16="http://schemas.microsoft.com/office/drawing/2014/main" id="{59B4AC25-C0F9-8375-71AD-ADAA2A7965F0}"/>
              </a:ext>
            </a:extLst>
          </p:cNvPr>
          <p:cNvPicPr>
            <a:picLocks noGrp="1" noChangeAspect="1"/>
          </p:cNvPicPr>
          <p:nvPr>
            <p:ph type="pic" sz="quarter" idx="11"/>
          </p:nvPr>
        </p:nvPicPr>
        <p:blipFill>
          <a:blip r:embed="rId3"/>
          <a:srcRect l="6041" r="6041"/>
          <a:stretch>
            <a:fillRect/>
          </a:stretch>
        </p:blipFill>
        <p:spPr/>
      </p:pic>
    </p:spTree>
    <p:extLst>
      <p:ext uri="{BB962C8B-B14F-4D97-AF65-F5344CB8AC3E}">
        <p14:creationId xmlns:p14="http://schemas.microsoft.com/office/powerpoint/2010/main" val="350397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barn(inVertical)">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97">
                                            <p:txEl>
                                              <p:pRg st="0" end="0"/>
                                            </p:txEl>
                                          </p:spTgt>
                                        </p:tgtEl>
                                        <p:attrNameLst>
                                          <p:attrName>style.visibility</p:attrName>
                                        </p:attrNameLst>
                                      </p:cBhvr>
                                      <p:to>
                                        <p:strVal val="visible"/>
                                      </p:to>
                                    </p:set>
                                    <p:anim calcmode="lin" valueType="num">
                                      <p:cBhvr>
                                        <p:cTn id="12" dur="1000" fill="hold"/>
                                        <p:tgtEl>
                                          <p:spTgt spid="97">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97">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97">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CD53A-3321-FDB9-CA50-70544F935C22}"/>
              </a:ext>
            </a:extLst>
          </p:cNvPr>
          <p:cNvSpPr>
            <a:spLocks noGrp="1"/>
          </p:cNvSpPr>
          <p:nvPr>
            <p:ph type="ctrTitle"/>
          </p:nvPr>
        </p:nvSpPr>
        <p:spPr>
          <a:xfrm>
            <a:off x="447368" y="270880"/>
            <a:ext cx="11297264" cy="1524000"/>
          </a:xfrm>
        </p:spPr>
        <p:txBody>
          <a:bodyPr/>
          <a:lstStyle/>
          <a:p>
            <a:r>
              <a:rPr lang="en-US" sz="3600" b="1" dirty="0"/>
              <a:t>Red Hat Enterprise Linux 9 RH124</a:t>
            </a:r>
            <a:endParaRPr lang="en-US" dirty="0"/>
          </a:p>
        </p:txBody>
      </p:sp>
      <p:sp>
        <p:nvSpPr>
          <p:cNvPr id="4" name="Text Placeholder 3">
            <a:extLst>
              <a:ext uri="{FF2B5EF4-FFF2-40B4-BE49-F238E27FC236}">
                <a16:creationId xmlns:a16="http://schemas.microsoft.com/office/drawing/2014/main" id="{548BD71C-DCE9-9855-DCBE-675F20E94682}"/>
              </a:ext>
            </a:extLst>
          </p:cNvPr>
          <p:cNvSpPr>
            <a:spLocks noGrp="1"/>
          </p:cNvSpPr>
          <p:nvPr>
            <p:ph type="body" sz="quarter" idx="16"/>
          </p:nvPr>
        </p:nvSpPr>
        <p:spPr>
          <a:xfrm>
            <a:off x="1318352" y="1894376"/>
            <a:ext cx="2847975" cy="3390899"/>
          </a:xfrm>
        </p:spPr>
        <p:txBody>
          <a:bodyPr/>
          <a:lstStyle/>
          <a:p>
            <a:r>
              <a:rPr lang="en-US" dirty="0"/>
              <a:t>Objective </a:t>
            </a:r>
          </a:p>
        </p:txBody>
      </p:sp>
      <p:pic>
        <p:nvPicPr>
          <p:cNvPr id="51" name="Picture Placeholder 50" descr="Abacus">
            <a:extLst>
              <a:ext uri="{FF2B5EF4-FFF2-40B4-BE49-F238E27FC236}">
                <a16:creationId xmlns:a16="http://schemas.microsoft.com/office/drawing/2014/main" id="{F1A5F630-1971-68D5-BEDA-6FC11471C8E1}"/>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02" b="4502"/>
          <a:stretch/>
        </p:blipFill>
        <p:spPr>
          <a:xfrm>
            <a:off x="2239419" y="2833688"/>
            <a:ext cx="1005840" cy="914400"/>
          </a:xfrm>
        </p:spPr>
      </p:pic>
      <p:sp>
        <p:nvSpPr>
          <p:cNvPr id="8" name="Text Placeholder 7">
            <a:extLst>
              <a:ext uri="{FF2B5EF4-FFF2-40B4-BE49-F238E27FC236}">
                <a16:creationId xmlns:a16="http://schemas.microsoft.com/office/drawing/2014/main" id="{442063B1-AD32-CF53-B792-70C1B67D527C}"/>
              </a:ext>
            </a:extLst>
          </p:cNvPr>
          <p:cNvSpPr>
            <a:spLocks noGrp="1"/>
          </p:cNvSpPr>
          <p:nvPr>
            <p:ph type="body" sz="quarter" idx="20"/>
          </p:nvPr>
        </p:nvSpPr>
        <p:spPr>
          <a:xfrm>
            <a:off x="1605817" y="3989405"/>
            <a:ext cx="2275880" cy="893763"/>
          </a:xfrm>
        </p:spPr>
        <p:txBody>
          <a:bodyPr/>
          <a:lstStyle/>
          <a:p>
            <a:pPr lvl="0"/>
            <a:r>
              <a:rPr lang="en-US" dirty="0"/>
              <a:t>Develop the foundation skills required for RHCSA</a:t>
            </a:r>
          </a:p>
        </p:txBody>
      </p:sp>
      <p:sp>
        <p:nvSpPr>
          <p:cNvPr id="7" name="Text Placeholder 6">
            <a:extLst>
              <a:ext uri="{FF2B5EF4-FFF2-40B4-BE49-F238E27FC236}">
                <a16:creationId xmlns:a16="http://schemas.microsoft.com/office/drawing/2014/main" id="{CEAC814C-D211-009A-190F-549B7A0D6398}"/>
              </a:ext>
            </a:extLst>
          </p:cNvPr>
          <p:cNvSpPr>
            <a:spLocks noGrp="1"/>
          </p:cNvSpPr>
          <p:nvPr>
            <p:ph type="body" sz="quarter" idx="18"/>
          </p:nvPr>
        </p:nvSpPr>
        <p:spPr>
          <a:xfrm>
            <a:off x="4651092" y="1894376"/>
            <a:ext cx="2847975" cy="3390899"/>
          </a:xfrm>
        </p:spPr>
        <p:txBody>
          <a:bodyPr/>
          <a:lstStyle/>
          <a:p>
            <a:r>
              <a:rPr lang="en-US" dirty="0"/>
              <a:t>RHCSA Exam</a:t>
            </a:r>
          </a:p>
        </p:txBody>
      </p:sp>
      <p:pic>
        <p:nvPicPr>
          <p:cNvPr id="53" name="Picture Placeholder 52" descr="3d Glasses">
            <a:extLst>
              <a:ext uri="{FF2B5EF4-FFF2-40B4-BE49-F238E27FC236}">
                <a16:creationId xmlns:a16="http://schemas.microsoft.com/office/drawing/2014/main" id="{6D152620-03B9-AECD-503A-E23309285EA7}"/>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ABB0AEFB-9FA8-4379-DA69-49759E72608E}"/>
              </a:ext>
            </a:extLst>
          </p:cNvPr>
          <p:cNvSpPr>
            <a:spLocks noGrp="1"/>
          </p:cNvSpPr>
          <p:nvPr>
            <p:ph type="body" sz="quarter" idx="21"/>
          </p:nvPr>
        </p:nvSpPr>
        <p:spPr>
          <a:xfrm>
            <a:off x="4938556" y="3989404"/>
            <a:ext cx="2368017" cy="1203698"/>
          </a:xfrm>
        </p:spPr>
        <p:txBody>
          <a:bodyPr/>
          <a:lstStyle/>
          <a:p>
            <a:r>
              <a:rPr lang="en-US" dirty="0"/>
              <a:t>You need to study two books: SA1 (RH124) and SA2 (RH134)</a:t>
            </a:r>
          </a:p>
        </p:txBody>
      </p:sp>
      <p:sp>
        <p:nvSpPr>
          <p:cNvPr id="2" name="Text Placeholder 1">
            <a:extLst>
              <a:ext uri="{FF2B5EF4-FFF2-40B4-BE49-F238E27FC236}">
                <a16:creationId xmlns:a16="http://schemas.microsoft.com/office/drawing/2014/main" id="{C5B8455C-CEA2-F7C8-E898-97C86849DC0E}"/>
              </a:ext>
            </a:extLst>
          </p:cNvPr>
          <p:cNvSpPr>
            <a:spLocks noGrp="1"/>
          </p:cNvSpPr>
          <p:nvPr>
            <p:ph type="body" sz="quarter" idx="19"/>
          </p:nvPr>
        </p:nvSpPr>
        <p:spPr>
          <a:xfrm>
            <a:off x="7995403" y="1894376"/>
            <a:ext cx="2847975" cy="3390899"/>
          </a:xfrm>
        </p:spPr>
        <p:txBody>
          <a:bodyPr/>
          <a:lstStyle/>
          <a:p>
            <a:r>
              <a:rPr lang="en-US" dirty="0"/>
              <a:t>Red Hat System Administration I</a:t>
            </a:r>
          </a:p>
        </p:txBody>
      </p:sp>
      <p:pic>
        <p:nvPicPr>
          <p:cNvPr id="55" name="Picture Placeholder 54" descr="Circuit">
            <a:extLst>
              <a:ext uri="{FF2B5EF4-FFF2-40B4-BE49-F238E27FC236}">
                <a16:creationId xmlns:a16="http://schemas.microsoft.com/office/drawing/2014/main" id="{415585AE-96E0-81D6-0A31-2A13ECB76808}"/>
              </a:ext>
            </a:extLst>
          </p:cNvPr>
          <p:cNvPicPr>
            <a:picLocks noGrp="1" noChangeAspect="1"/>
          </p:cNvPicPr>
          <p:nvPr>
            <p:ph type="pic" sz="quarter" idx="25"/>
          </p:nvPr>
        </p:nvPicPr>
        <p:blipFill>
          <a:blip r:embed="rId6">
            <a:extLst>
              <a:ext uri="{96DAC541-7B7A-43D3-8B79-37D633B846F1}">
                <asvg:svgBlip xmlns:asvg="http://schemas.microsoft.com/office/drawing/2016/SVG/main" r:embed="rId7"/>
              </a:ext>
            </a:extLst>
          </a:blip>
          <a:srcRect t="4502" b="4502"/>
          <a:stretch/>
        </p:blipFill>
        <p:spPr>
          <a:xfrm>
            <a:off x="8916470" y="3070691"/>
            <a:ext cx="1005840" cy="914400"/>
          </a:xfrm>
        </p:spPr>
      </p:pic>
      <p:sp>
        <p:nvSpPr>
          <p:cNvPr id="10" name="Text Placeholder 9">
            <a:extLst>
              <a:ext uri="{FF2B5EF4-FFF2-40B4-BE49-F238E27FC236}">
                <a16:creationId xmlns:a16="http://schemas.microsoft.com/office/drawing/2014/main" id="{C0563BBD-CFF8-BAAA-D1C5-C6AC7B376BCA}"/>
              </a:ext>
            </a:extLst>
          </p:cNvPr>
          <p:cNvSpPr>
            <a:spLocks noGrp="1"/>
          </p:cNvSpPr>
          <p:nvPr>
            <p:ph type="body" sz="quarter" idx="22"/>
          </p:nvPr>
        </p:nvSpPr>
        <p:spPr>
          <a:xfrm>
            <a:off x="8282868" y="3989404"/>
            <a:ext cx="2275880" cy="893763"/>
          </a:xfrm>
        </p:spPr>
        <p:txBody>
          <a:bodyPr/>
          <a:lstStyle/>
          <a:p>
            <a:pPr lvl="0"/>
            <a:r>
              <a:rPr lang="en-US" dirty="0"/>
              <a:t>This course will help you gain a better understanding of the book SA1</a:t>
            </a:r>
          </a:p>
        </p:txBody>
      </p:sp>
      <p:sp>
        <p:nvSpPr>
          <p:cNvPr id="5" name="Footer Placeholder 4">
            <a:extLst>
              <a:ext uri="{FF2B5EF4-FFF2-40B4-BE49-F238E27FC236}">
                <a16:creationId xmlns:a16="http://schemas.microsoft.com/office/drawing/2014/main" id="{F692A183-22BD-739B-59DF-20E049F931B2}"/>
              </a:ext>
            </a:extLst>
          </p:cNvPr>
          <p:cNvSpPr>
            <a:spLocks noGrp="1"/>
          </p:cNvSpPr>
          <p:nvPr>
            <p:ph type="ftr" sz="quarter" idx="3"/>
          </p:nvPr>
        </p:nvSpPr>
        <p:spPr>
          <a:xfrm>
            <a:off x="824241" y="6290774"/>
            <a:ext cx="6637071" cy="365125"/>
          </a:xfrm>
        </p:spPr>
        <p:txBody>
          <a:bodyPr/>
          <a:lstStyle/>
          <a:p>
            <a:r>
              <a:rPr lang="en-US" dirty="0"/>
              <a:t>Shikhar </a:t>
            </a:r>
            <a:r>
              <a:rPr lang="en-US" dirty="0" err="1"/>
              <a:t>verma</a:t>
            </a:r>
            <a:endParaRPr lang="en-US" dirty="0"/>
          </a:p>
        </p:txBody>
      </p:sp>
      <p:sp>
        <p:nvSpPr>
          <p:cNvPr id="6" name="Slide Number Placeholder 5">
            <a:extLst>
              <a:ext uri="{FF2B5EF4-FFF2-40B4-BE49-F238E27FC236}">
                <a16:creationId xmlns:a16="http://schemas.microsoft.com/office/drawing/2014/main" id="{6314DC98-ED35-A03F-CA2C-D54F23D0FD1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2</a:t>
            </a:fld>
            <a:endParaRPr lang="en-US" dirty="0"/>
          </a:p>
        </p:txBody>
      </p:sp>
    </p:spTree>
    <p:extLst>
      <p:ext uri="{BB962C8B-B14F-4D97-AF65-F5344CB8AC3E}">
        <p14:creationId xmlns:p14="http://schemas.microsoft.com/office/powerpoint/2010/main" val="385040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additive="base">
                                        <p:cTn id="17" dur="500" fill="hold"/>
                                        <p:tgtEl>
                                          <p:spTgt spid="51"/>
                                        </p:tgtEl>
                                        <p:attrNameLst>
                                          <p:attrName>ppt_x</p:attrName>
                                        </p:attrNameLst>
                                      </p:cBhvr>
                                      <p:tavLst>
                                        <p:tav tm="0">
                                          <p:val>
                                            <p:strVal val="#ppt_x"/>
                                          </p:val>
                                        </p:tav>
                                        <p:tav tm="100000">
                                          <p:val>
                                            <p:strVal val="#ppt_x"/>
                                          </p:val>
                                        </p:tav>
                                      </p:tavLst>
                                    </p:anim>
                                    <p:anim calcmode="lin" valueType="num">
                                      <p:cBhvr additive="base">
                                        <p:cTn id="18" dur="500" fill="hold"/>
                                        <p:tgtEl>
                                          <p:spTgt spid="5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bg/>
                                          </p:spTgt>
                                        </p:tgtEl>
                                        <p:attrNameLst>
                                          <p:attrName>style.visibility</p:attrName>
                                        </p:attrNameLst>
                                      </p:cBhvr>
                                      <p:to>
                                        <p:strVal val="visible"/>
                                      </p:to>
                                    </p:set>
                                    <p:anim calcmode="lin" valueType="num">
                                      <p:cBhvr additive="base">
                                        <p:cTn id="27" dur="500" fill="hold"/>
                                        <p:tgtEl>
                                          <p:spTgt spid="7">
                                            <p:bg/>
                                          </p:spTgt>
                                        </p:tgtEl>
                                        <p:attrNameLst>
                                          <p:attrName>ppt_x</p:attrName>
                                        </p:attrNameLst>
                                      </p:cBhvr>
                                      <p:tavLst>
                                        <p:tav tm="0">
                                          <p:val>
                                            <p:strVal val="#ppt_x"/>
                                          </p:val>
                                        </p:tav>
                                        <p:tav tm="100000">
                                          <p:val>
                                            <p:strVal val="#ppt_x"/>
                                          </p:val>
                                        </p:tav>
                                      </p:tavLst>
                                    </p:anim>
                                    <p:anim calcmode="lin" valueType="num">
                                      <p:cBhvr additive="base">
                                        <p:cTn id="28" dur="500" fill="hold"/>
                                        <p:tgtEl>
                                          <p:spTgt spid="7">
                                            <p:bg/>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anim calcmode="lin" valueType="num">
                                      <p:cBhvr additive="base">
                                        <p:cTn id="3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0" end="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anim calcmode="lin" valueType="num">
                                      <p:cBhvr additive="base">
                                        <p:cTn id="4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bg/>
                                          </p:spTgt>
                                        </p:tgtEl>
                                        <p:attrNameLst>
                                          <p:attrName>style.visibility</p:attrName>
                                        </p:attrNameLst>
                                      </p:cBhvr>
                                      <p:to>
                                        <p:strVal val="visible"/>
                                      </p:to>
                                    </p:set>
                                    <p:anim calcmode="lin" valueType="num">
                                      <p:cBhvr additive="base">
                                        <p:cTn id="47" dur="500" fill="hold"/>
                                        <p:tgtEl>
                                          <p:spTgt spid="2">
                                            <p:bg/>
                                          </p:spTgt>
                                        </p:tgtEl>
                                        <p:attrNameLst>
                                          <p:attrName>ppt_x</p:attrName>
                                        </p:attrNameLst>
                                      </p:cBhvr>
                                      <p:tavLst>
                                        <p:tav tm="0">
                                          <p:val>
                                            <p:strVal val="#ppt_x"/>
                                          </p:val>
                                        </p:tav>
                                        <p:tav tm="100000">
                                          <p:val>
                                            <p:strVal val="#ppt_x"/>
                                          </p:val>
                                        </p:tav>
                                      </p:tavLst>
                                    </p:anim>
                                    <p:anim calcmode="lin" valueType="num">
                                      <p:cBhvr additive="base">
                                        <p:cTn id="48" dur="500" fill="hold"/>
                                        <p:tgtEl>
                                          <p:spTgt spid="2">
                                            <p:bg/>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
                                            <p:txEl>
                                              <p:pRg st="0" end="0"/>
                                            </p:txEl>
                                          </p:spTgt>
                                        </p:tgtEl>
                                        <p:attrNameLst>
                                          <p:attrName>style.visibility</p:attrName>
                                        </p:attrNameLst>
                                      </p:cBhvr>
                                      <p:to>
                                        <p:strVal val="visible"/>
                                      </p:to>
                                    </p:set>
                                    <p:anim calcmode="lin" valueType="num">
                                      <p:cBhvr additive="base">
                                        <p:cTn id="5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
                                            <p:txEl>
                                              <p:pRg st="0" end="0"/>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5"/>
                                        </p:tgtEl>
                                        <p:attrNameLst>
                                          <p:attrName>style.visibility</p:attrName>
                                        </p:attrNameLst>
                                      </p:cBhvr>
                                      <p:to>
                                        <p:strVal val="visible"/>
                                      </p:to>
                                    </p:set>
                                    <p:anim calcmode="lin" valueType="num">
                                      <p:cBhvr additive="base">
                                        <p:cTn id="57" dur="500" fill="hold"/>
                                        <p:tgtEl>
                                          <p:spTgt spid="55"/>
                                        </p:tgtEl>
                                        <p:attrNameLst>
                                          <p:attrName>ppt_x</p:attrName>
                                        </p:attrNameLst>
                                      </p:cBhvr>
                                      <p:tavLst>
                                        <p:tav tm="0">
                                          <p:val>
                                            <p:strVal val="#ppt_x"/>
                                          </p:val>
                                        </p:tav>
                                        <p:tav tm="100000">
                                          <p:val>
                                            <p:strVal val="#ppt_x"/>
                                          </p:val>
                                        </p:tav>
                                      </p:tavLst>
                                    </p:anim>
                                    <p:anim calcmode="lin" valueType="num">
                                      <p:cBhvr additive="base">
                                        <p:cTn id="58" dur="500" fill="hold"/>
                                        <p:tgtEl>
                                          <p:spTgt spid="5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0">
                                            <p:txEl>
                                              <p:pRg st="0" end="0"/>
                                            </p:txEl>
                                          </p:spTgt>
                                        </p:tgtEl>
                                        <p:attrNameLst>
                                          <p:attrName>style.visibility</p:attrName>
                                        </p:attrNameLst>
                                      </p:cBhvr>
                                      <p:to>
                                        <p:strVal val="visible"/>
                                      </p:to>
                                    </p:set>
                                    <p:anim calcmode="lin" valueType="num">
                                      <p:cBhvr additive="base">
                                        <p:cTn id="6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8" grpId="0" build="p"/>
      <p:bldP spid="7" grpId="0" build="p" animBg="1"/>
      <p:bldP spid="9" grpId="0" build="p"/>
      <p:bldP spid="2" grpId="0" build="p" animBg="1"/>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A person raising his hand">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l="8333" r="8333"/>
          <a:stretch/>
        </p:blipFill>
        <p:spPr/>
      </p:pic>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p:txBody>
          <a:bodyPr>
            <a:normAutofit/>
          </a:bodyPr>
          <a:lstStyle/>
          <a:p>
            <a:r>
              <a:rPr lang="en-US" sz="3600" b="1" dirty="0"/>
              <a:t>Red Hat Enterprise Linux 9</a:t>
            </a:r>
            <a:endParaRPr lang="en-US" dirty="0"/>
          </a:p>
        </p:txBody>
      </p:sp>
      <p:sp>
        <p:nvSpPr>
          <p:cNvPr id="4" name="Text Placeholder 3">
            <a:extLst>
              <a:ext uri="{FF2B5EF4-FFF2-40B4-BE49-F238E27FC236}">
                <a16:creationId xmlns:a16="http://schemas.microsoft.com/office/drawing/2014/main" id="{C2ABC786-DACF-D63D-553F-4EDB8E95A2F1}"/>
              </a:ext>
            </a:extLst>
          </p:cNvPr>
          <p:cNvSpPr>
            <a:spLocks noGrp="1"/>
          </p:cNvSpPr>
          <p:nvPr>
            <p:ph type="body" sz="quarter" idx="10"/>
          </p:nvPr>
        </p:nvSpPr>
        <p:spPr>
          <a:xfrm>
            <a:off x="824242" y="1609665"/>
            <a:ext cx="788639" cy="533400"/>
          </a:xfrm>
        </p:spPr>
        <p:txBody>
          <a:bodyPr/>
          <a:lstStyle/>
          <a:p>
            <a:r>
              <a:rPr lang="en-US" dirty="0"/>
              <a:t>o1.</a:t>
            </a:r>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a:xfrm>
            <a:off x="1643379" y="1749479"/>
            <a:ext cx="6988557" cy="533400"/>
          </a:xfrm>
        </p:spPr>
        <p:txBody>
          <a:bodyPr>
            <a:noAutofit/>
          </a:bodyPr>
          <a:lstStyle/>
          <a:p>
            <a:r>
              <a:rPr lang="en-US" dirty="0">
                <a:ln w="0"/>
                <a:solidFill>
                  <a:schemeClr val="tx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Who will be the target audience for this course module?</a:t>
            </a:r>
          </a:p>
        </p:txBody>
      </p:sp>
      <p:sp>
        <p:nvSpPr>
          <p:cNvPr id="6" name="Text Placeholder 5">
            <a:extLst>
              <a:ext uri="{FF2B5EF4-FFF2-40B4-BE49-F238E27FC236}">
                <a16:creationId xmlns:a16="http://schemas.microsoft.com/office/drawing/2014/main" id="{EF880F1A-5BCC-F84F-3EED-7FA660DEB3F7}"/>
              </a:ext>
            </a:extLst>
          </p:cNvPr>
          <p:cNvSpPr>
            <a:spLocks noGrp="1"/>
          </p:cNvSpPr>
          <p:nvPr>
            <p:ph type="body" sz="quarter" idx="12"/>
          </p:nvPr>
        </p:nvSpPr>
        <p:spPr/>
        <p:txBody>
          <a:bodyPr/>
          <a:lstStyle/>
          <a:p>
            <a:r>
              <a:rPr lang="en-US" dirty="0"/>
              <a:t>o2.</a:t>
            </a:r>
          </a:p>
        </p:txBody>
      </p:sp>
      <p:sp>
        <p:nvSpPr>
          <p:cNvPr id="7" name="Text Placeholder 6">
            <a:extLst>
              <a:ext uri="{FF2B5EF4-FFF2-40B4-BE49-F238E27FC236}">
                <a16:creationId xmlns:a16="http://schemas.microsoft.com/office/drawing/2014/main" id="{BDA9475A-A652-4BB2-F82D-18D978C3972A}"/>
              </a:ext>
            </a:extLst>
          </p:cNvPr>
          <p:cNvSpPr>
            <a:spLocks noGrp="1"/>
          </p:cNvSpPr>
          <p:nvPr>
            <p:ph type="body" sz="quarter" idx="17"/>
          </p:nvPr>
        </p:nvSpPr>
        <p:spPr/>
        <p:txBody>
          <a:bodyPr>
            <a:normAutofit/>
          </a:bodyPr>
          <a:lstStyle/>
          <a:p>
            <a:r>
              <a:rPr lang="en-US" sz="2000" dirty="0">
                <a:ln w="0"/>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What are the prerequisites for this?</a:t>
            </a:r>
          </a:p>
        </p:txBody>
      </p:sp>
      <p:sp>
        <p:nvSpPr>
          <p:cNvPr id="8" name="Text Placeholder 7">
            <a:extLst>
              <a:ext uri="{FF2B5EF4-FFF2-40B4-BE49-F238E27FC236}">
                <a16:creationId xmlns:a16="http://schemas.microsoft.com/office/drawing/2014/main" id="{EBA4606E-0589-2AE6-3A39-D84CDB24870F}"/>
              </a:ext>
            </a:extLst>
          </p:cNvPr>
          <p:cNvSpPr>
            <a:spLocks noGrp="1"/>
          </p:cNvSpPr>
          <p:nvPr>
            <p:ph type="body" sz="quarter" idx="13"/>
          </p:nvPr>
        </p:nvSpPr>
        <p:spPr/>
        <p:txBody>
          <a:bodyPr/>
          <a:lstStyle/>
          <a:p>
            <a:r>
              <a:rPr lang="en-US" dirty="0"/>
              <a:t>o3.</a:t>
            </a:r>
          </a:p>
        </p:txBody>
      </p:sp>
      <p:sp>
        <p:nvSpPr>
          <p:cNvPr id="9" name="Text Placeholder 8">
            <a:extLst>
              <a:ext uri="{FF2B5EF4-FFF2-40B4-BE49-F238E27FC236}">
                <a16:creationId xmlns:a16="http://schemas.microsoft.com/office/drawing/2014/main" id="{5DE5E134-360B-2943-34EC-C57477A8C820}"/>
              </a:ext>
            </a:extLst>
          </p:cNvPr>
          <p:cNvSpPr>
            <a:spLocks noGrp="1"/>
          </p:cNvSpPr>
          <p:nvPr>
            <p:ph type="body" sz="quarter" idx="18"/>
          </p:nvPr>
        </p:nvSpPr>
        <p:spPr/>
        <p:txBody>
          <a:bodyPr/>
          <a:lstStyle/>
          <a:p>
            <a:r>
              <a:rPr lang="en-US" dirty="0">
                <a:ln w="0"/>
                <a:solidFill>
                  <a:schemeClr val="tx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About the Instructor !</a:t>
            </a:r>
          </a:p>
        </p:txBody>
      </p:sp>
      <p:sp>
        <p:nvSpPr>
          <p:cNvPr id="10" name="Text Placeholder 9">
            <a:extLst>
              <a:ext uri="{FF2B5EF4-FFF2-40B4-BE49-F238E27FC236}">
                <a16:creationId xmlns:a16="http://schemas.microsoft.com/office/drawing/2014/main" id="{50E7CD20-3130-C2BD-2379-6EB766F55674}"/>
              </a:ext>
            </a:extLst>
          </p:cNvPr>
          <p:cNvSpPr>
            <a:spLocks noGrp="1"/>
          </p:cNvSpPr>
          <p:nvPr>
            <p:ph type="body" sz="quarter" idx="14"/>
          </p:nvPr>
        </p:nvSpPr>
        <p:spPr/>
        <p:txBody>
          <a:bodyPr/>
          <a:lstStyle/>
          <a:p>
            <a:r>
              <a:rPr lang="en-US" dirty="0"/>
              <a:t>o4.</a:t>
            </a:r>
          </a:p>
        </p:txBody>
      </p:sp>
      <p:sp>
        <p:nvSpPr>
          <p:cNvPr id="11" name="Text Placeholder 10">
            <a:extLst>
              <a:ext uri="{FF2B5EF4-FFF2-40B4-BE49-F238E27FC236}">
                <a16:creationId xmlns:a16="http://schemas.microsoft.com/office/drawing/2014/main" id="{9C7F6B17-F299-A158-A26D-47FCD7A1971B}"/>
              </a:ext>
            </a:extLst>
          </p:cNvPr>
          <p:cNvSpPr>
            <a:spLocks noGrp="1"/>
          </p:cNvSpPr>
          <p:nvPr>
            <p:ph type="body" sz="quarter" idx="19"/>
          </p:nvPr>
        </p:nvSpPr>
        <p:spPr/>
        <p:txBody>
          <a:bodyPr/>
          <a:lstStyle/>
          <a:p>
            <a:r>
              <a:rPr lang="en-IN" i="0" dirty="0">
                <a:ln w="0"/>
                <a:solidFill>
                  <a:schemeClr val="tx1"/>
                </a:solidFill>
                <a:effectLst>
                  <a:outerShdw blurRad="38100" dist="19050" dir="2700000" algn="tl" rotWithShape="0">
                    <a:schemeClr val="dk1">
                      <a:alpha val="40000"/>
                    </a:schemeClr>
                  </a:outerShdw>
                </a:effectLst>
                <a:latin typeface="Poppins" panose="00000500000000000000" pitchFamily="2" charset="0"/>
              </a:rPr>
              <a:t>After successfully completing the Course !</a:t>
            </a:r>
            <a:endParaRPr lang="en-US" dirty="0">
              <a:ln w="0"/>
              <a:solidFill>
                <a:schemeClr val="tx1"/>
              </a:solidFill>
              <a:effectLst>
                <a:outerShdw blurRad="38100" dist="19050" dir="2700000" algn="tl" rotWithShape="0">
                  <a:schemeClr val="dk1">
                    <a:alpha val="40000"/>
                  </a:schemeClr>
                </a:outerShdw>
              </a:effectLst>
            </a:endParaRPr>
          </a:p>
        </p:txBody>
      </p:sp>
      <p:sp>
        <p:nvSpPr>
          <p:cNvPr id="12" name="Text Placeholder 11">
            <a:extLst>
              <a:ext uri="{FF2B5EF4-FFF2-40B4-BE49-F238E27FC236}">
                <a16:creationId xmlns:a16="http://schemas.microsoft.com/office/drawing/2014/main" id="{DEC4E845-9A78-36A5-60F3-A22DFD938257}"/>
              </a:ext>
            </a:extLst>
          </p:cNvPr>
          <p:cNvSpPr>
            <a:spLocks noGrp="1"/>
          </p:cNvSpPr>
          <p:nvPr>
            <p:ph type="body" sz="quarter" idx="15"/>
          </p:nvPr>
        </p:nvSpPr>
        <p:spPr/>
        <p:txBody>
          <a:bodyPr/>
          <a:lstStyle/>
          <a:p>
            <a:r>
              <a:rPr lang="en-US" dirty="0"/>
              <a:t>o5.</a:t>
            </a:r>
          </a:p>
        </p:txBody>
      </p:sp>
      <p:sp>
        <p:nvSpPr>
          <p:cNvPr id="13" name="Text Placeholder 12">
            <a:extLst>
              <a:ext uri="{FF2B5EF4-FFF2-40B4-BE49-F238E27FC236}">
                <a16:creationId xmlns:a16="http://schemas.microsoft.com/office/drawing/2014/main" id="{125FE4BA-08C1-FBA0-844E-67EA0062904C}"/>
              </a:ext>
            </a:extLst>
          </p:cNvPr>
          <p:cNvSpPr>
            <a:spLocks noGrp="1"/>
          </p:cNvSpPr>
          <p:nvPr>
            <p:ph type="body" sz="quarter" idx="20"/>
          </p:nvPr>
        </p:nvSpPr>
        <p:spPr/>
        <p:txBody>
          <a:bodyPr/>
          <a:lstStyle/>
          <a:p>
            <a:r>
              <a:rPr lang="en-US" dirty="0">
                <a:ln w="0"/>
                <a:solidFill>
                  <a:schemeClr val="tx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Thank You !!!</a:t>
            </a:r>
          </a:p>
        </p:txBody>
      </p:sp>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p:txBody>
          <a:bodyPr/>
          <a:lstStyle/>
          <a:p>
            <a:r>
              <a:rPr lang="en-US" dirty="0"/>
              <a:t>Shikhar </a:t>
            </a:r>
            <a:r>
              <a:rPr lang="en-US" dirty="0" err="1"/>
              <a:t>verma</a:t>
            </a:r>
            <a:endParaRPr lang="en-US" dirty="0"/>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p:txBody>
          <a:bodyPr/>
          <a:lstStyle/>
          <a:p>
            <a:fld id="{3A98EE3D-8CD1-4C3F-BD1C-C98C9596463C}" type="slidenum">
              <a:rPr lang="en-US" smtClean="0"/>
              <a:pPr/>
              <a:t>3</a:t>
            </a:fld>
            <a:endParaRPr lang="en-US" dirty="0"/>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235053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 calcmode="lin" valueType="num">
                                      <p:cBhvr additive="base">
                                        <p:cTn id="2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 calcmode="lin" valueType="num">
                                      <p:cBhvr additive="base">
                                        <p:cTn id="2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 calcmode="lin" valueType="num">
                                      <p:cBhvr additive="base">
                                        <p:cTn id="3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 calcmode="lin" valueType="num">
                                      <p:cBhvr additive="base">
                                        <p:cTn id="3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xEl>
                                              <p:pRg st="0" end="0"/>
                                            </p:txEl>
                                          </p:spTgt>
                                        </p:tgtEl>
                                        <p:attrNameLst>
                                          <p:attrName>style.visibility</p:attrName>
                                        </p:attrNameLst>
                                      </p:cBhvr>
                                      <p:to>
                                        <p:strVal val="visible"/>
                                      </p:to>
                                    </p:set>
                                    <p:anim calcmode="lin" valueType="num">
                                      <p:cBhvr additive="base">
                                        <p:cTn id="4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anim calcmode="lin" valueType="num">
                                      <p:cBhvr additive="base">
                                        <p:cTn id="4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xEl>
                                              <p:pRg st="0" end="0"/>
                                            </p:txEl>
                                          </p:spTgt>
                                        </p:tgtEl>
                                        <p:attrNameLst>
                                          <p:attrName>style.visibility</p:attrName>
                                        </p:attrNameLst>
                                      </p:cBhvr>
                                      <p:to>
                                        <p:strVal val="visible"/>
                                      </p:to>
                                    </p:set>
                                    <p:anim calcmode="lin" valueType="num">
                                      <p:cBhvr additive="base">
                                        <p:cTn id="5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P spid="9" grpId="0" build="p"/>
      <p:bldP spid="10" grpId="0" build="p"/>
      <p:bldP spid="11" grpId="0" build="p"/>
      <p:bldP spid="12" grpId="0" build="p"/>
      <p:bldP spid="1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lstStyle/>
          <a:p>
            <a:r>
              <a:rPr lang="en-US" dirty="0"/>
              <a:t>RHEL 9 Standard Installation</a:t>
            </a:r>
          </a:p>
          <a:p>
            <a:endParaRPr lang="en-US" dirty="0"/>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fontScale="92500" lnSpcReduction="20000"/>
          </a:bodyPr>
          <a:lstStyle/>
          <a:p>
            <a:r>
              <a:rPr lang="en-US" dirty="0"/>
              <a:t>RHN Account, Red Hat Login ID.</a:t>
            </a:r>
          </a:p>
          <a:p>
            <a:r>
              <a:rPr lang="en-US" dirty="0"/>
              <a:t>Download RHEL 9.2 ISO.</a:t>
            </a:r>
          </a:p>
          <a:p>
            <a:r>
              <a:rPr lang="en-US" dirty="0"/>
              <a:t>Installation of RHEL 9.2, step by step using Oracle Virtual Box</a:t>
            </a:r>
          </a:p>
          <a:p>
            <a:r>
              <a:rPr lang="en-US" dirty="0"/>
              <a:t>RHEL 9.2 dependencies for VirtualBox Guest Additions.</a:t>
            </a:r>
          </a:p>
          <a:p>
            <a:r>
              <a:rPr lang="en-US" dirty="0"/>
              <a:t>Access the Linux System locally and remotely.</a:t>
            </a:r>
          </a:p>
          <a:p>
            <a:r>
              <a:rPr lang="en-US" dirty="0"/>
              <a:t>Troubleshooting.</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1699906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a:t>
            </a:fld>
            <a:endParaRPr lang="en-US" dirty="0"/>
          </a:p>
        </p:txBody>
      </p:sp>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824241" y="105956"/>
            <a:ext cx="6732237" cy="1017147"/>
          </a:xfrm>
        </p:spPr>
        <p:txBody>
          <a:bodyPr>
            <a:noAutofit/>
          </a:bodyPr>
          <a:lstStyle/>
          <a:p>
            <a:pPr algn="ctr"/>
            <a:r>
              <a:rPr lang="en-US" sz="3200" b="1"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mn-lt"/>
              </a:rPr>
              <a:t>RED HAT LINUX ADMINISTRATION l</a:t>
            </a:r>
            <a:endParaRPr lang="en-US" sz="3200" dirty="0"/>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a:xfrm>
            <a:off x="979517" y="1123103"/>
            <a:ext cx="6704317" cy="533400"/>
          </a:xfrm>
        </p:spPr>
        <p:txBody>
          <a:bodyPr/>
          <a:lstStyle/>
          <a:p>
            <a:r>
              <a:rPr lang="en-US" b="1" dirty="0">
                <a:solidFill>
                  <a:schemeClr val="tx1"/>
                </a:solidFill>
              </a:rPr>
              <a:t>Create a Red hat Login</a:t>
            </a:r>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979517" y="1937193"/>
            <a:ext cx="10502241" cy="4279924"/>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0" indent="0">
              <a:spcAft>
                <a:spcPts val="0"/>
              </a:spcAft>
              <a:buNone/>
              <a:defRPr/>
            </a:pPr>
            <a:endParaRPr lang="en-US" sz="1200" dirty="0">
              <a:solidFill>
                <a:schemeClr val="tx1"/>
              </a:solidFill>
              <a:latin typeface="Bahnschrift SemiBold" panose="020B0502040204020203" pitchFamily="34" charset="0"/>
            </a:endParaRP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1. Open a Web Browser.</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2. Go to the Red Hat Website.</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3. Access the Registration Page.</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4. Fill in Your Information.</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5. Accept Terms and Conditions.</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6. Complete the CAPTCHA (if required).</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7. Verify Your Email (if required).</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8. Log In.</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9. Explore Red Hat Resources:</a:t>
            </a:r>
          </a:p>
          <a:p>
            <a:pPr>
              <a:spcAft>
                <a:spcPts val="0"/>
              </a:spcAft>
              <a:buFont typeface="Wingdings" panose="05000000000000000000" pitchFamily="2" charset="2"/>
              <a:buChar char="§"/>
              <a:defRPr/>
            </a:pPr>
            <a:r>
              <a:rPr lang="en-US" sz="1200" dirty="0">
                <a:solidFill>
                  <a:schemeClr val="tx1"/>
                </a:solidFill>
                <a:latin typeface="Bahnschrift SemiBold" panose="020B0502040204020203" pitchFamily="34" charset="0"/>
              </a:rPr>
              <a:t>After logging in, you can access various resources, downloads, support, and documentation related to Red Hat products and services.</a:t>
            </a:r>
          </a:p>
          <a:p>
            <a:pPr>
              <a:spcAft>
                <a:spcPts val="0"/>
              </a:spcAft>
              <a:buFont typeface="Wingdings" panose="05000000000000000000" pitchFamily="2" charset="2"/>
              <a:buChar char="§"/>
              <a:defRPr/>
            </a:pPr>
            <a:endParaRPr lang="en-US" sz="1200" dirty="0">
              <a:solidFill>
                <a:schemeClr val="tx1"/>
              </a:solidFill>
              <a:latin typeface="Bahnschrift SemiBold" panose="020B0502040204020203" pitchFamily="34" charset="0"/>
            </a:endParaRPr>
          </a:p>
          <a:p>
            <a:pPr>
              <a:spcAft>
                <a:spcPts val="0"/>
              </a:spcAft>
              <a:buFont typeface="Wingdings" panose="05000000000000000000" pitchFamily="2" charset="2"/>
              <a:buChar char="§"/>
              <a:defRPr/>
            </a:pPr>
            <a:endParaRPr lang="en-US" sz="1200" dirty="0">
              <a:solidFill>
                <a:schemeClr val="tx1"/>
              </a:solidFill>
              <a:latin typeface="Bahnschrift SemiBold" panose="020B0502040204020203" pitchFamily="34" charset="0"/>
            </a:endParaRPr>
          </a:p>
        </p:txBody>
      </p:sp>
    </p:spTree>
    <p:extLst>
      <p:ext uri="{BB962C8B-B14F-4D97-AF65-F5344CB8AC3E}">
        <p14:creationId xmlns:p14="http://schemas.microsoft.com/office/powerpoint/2010/main" val="425597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Effect transition="in" filter="fade">
                                      <p:cBhvr>
                                        <p:cTn id="7" dur="1000"/>
                                        <p:tgtEl>
                                          <p:spTgt spid="35">
                                            <p:txEl>
                                              <p:pRg st="1" end="1"/>
                                            </p:txEl>
                                          </p:spTgt>
                                        </p:tgtEl>
                                      </p:cBhvr>
                                    </p:animEffect>
                                    <p:anim calcmode="lin" valueType="num">
                                      <p:cBhvr>
                                        <p:cTn id="8" dur="1000" fill="hold"/>
                                        <p:tgtEl>
                                          <p:spTgt spid="3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
                                            <p:txEl>
                                              <p:pRg st="2" end="2"/>
                                            </p:txEl>
                                          </p:spTgt>
                                        </p:tgtEl>
                                        <p:attrNameLst>
                                          <p:attrName>style.visibility</p:attrName>
                                        </p:attrNameLst>
                                      </p:cBhvr>
                                      <p:to>
                                        <p:strVal val="visible"/>
                                      </p:to>
                                    </p:set>
                                    <p:animEffect transition="in" filter="fade">
                                      <p:cBhvr>
                                        <p:cTn id="12" dur="1000"/>
                                        <p:tgtEl>
                                          <p:spTgt spid="35">
                                            <p:txEl>
                                              <p:pRg st="2" end="2"/>
                                            </p:txEl>
                                          </p:spTgt>
                                        </p:tgtEl>
                                      </p:cBhvr>
                                    </p:animEffect>
                                    <p:anim calcmode="lin" valueType="num">
                                      <p:cBhvr>
                                        <p:cTn id="13" dur="1000" fill="hold"/>
                                        <p:tgtEl>
                                          <p:spTgt spid="3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5">
                                            <p:txEl>
                                              <p:pRg st="3" end="3"/>
                                            </p:txEl>
                                          </p:spTgt>
                                        </p:tgtEl>
                                        <p:attrNameLst>
                                          <p:attrName>style.visibility</p:attrName>
                                        </p:attrNameLst>
                                      </p:cBhvr>
                                      <p:to>
                                        <p:strVal val="visible"/>
                                      </p:to>
                                    </p:set>
                                    <p:animEffect transition="in" filter="fade">
                                      <p:cBhvr>
                                        <p:cTn id="17" dur="1000"/>
                                        <p:tgtEl>
                                          <p:spTgt spid="35">
                                            <p:txEl>
                                              <p:pRg st="3" end="3"/>
                                            </p:txEl>
                                          </p:spTgt>
                                        </p:tgtEl>
                                      </p:cBhvr>
                                    </p:animEffect>
                                    <p:anim calcmode="lin" valueType="num">
                                      <p:cBhvr>
                                        <p:cTn id="18" dur="1000" fill="hold"/>
                                        <p:tgtEl>
                                          <p:spTgt spid="3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5">
                                            <p:txEl>
                                              <p:pRg st="4" end="4"/>
                                            </p:txEl>
                                          </p:spTgt>
                                        </p:tgtEl>
                                        <p:attrNameLst>
                                          <p:attrName>style.visibility</p:attrName>
                                        </p:attrNameLst>
                                      </p:cBhvr>
                                      <p:to>
                                        <p:strVal val="visible"/>
                                      </p:to>
                                    </p:set>
                                    <p:animEffect transition="in" filter="fade">
                                      <p:cBhvr>
                                        <p:cTn id="22" dur="1000"/>
                                        <p:tgtEl>
                                          <p:spTgt spid="35">
                                            <p:txEl>
                                              <p:pRg st="4" end="4"/>
                                            </p:txEl>
                                          </p:spTgt>
                                        </p:tgtEl>
                                      </p:cBhvr>
                                    </p:animEffect>
                                    <p:anim calcmode="lin" valueType="num">
                                      <p:cBhvr>
                                        <p:cTn id="23" dur="1000" fill="hold"/>
                                        <p:tgtEl>
                                          <p:spTgt spid="3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5">
                                            <p:txEl>
                                              <p:pRg st="5" end="5"/>
                                            </p:txEl>
                                          </p:spTgt>
                                        </p:tgtEl>
                                        <p:attrNameLst>
                                          <p:attrName>style.visibility</p:attrName>
                                        </p:attrNameLst>
                                      </p:cBhvr>
                                      <p:to>
                                        <p:strVal val="visible"/>
                                      </p:to>
                                    </p:set>
                                    <p:animEffect transition="in" filter="fade">
                                      <p:cBhvr>
                                        <p:cTn id="27" dur="1000"/>
                                        <p:tgtEl>
                                          <p:spTgt spid="35">
                                            <p:txEl>
                                              <p:pRg st="5" end="5"/>
                                            </p:txEl>
                                          </p:spTgt>
                                        </p:tgtEl>
                                      </p:cBhvr>
                                    </p:animEffect>
                                    <p:anim calcmode="lin" valueType="num">
                                      <p:cBhvr>
                                        <p:cTn id="28" dur="1000" fill="hold"/>
                                        <p:tgtEl>
                                          <p:spTgt spid="3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5">
                                            <p:txEl>
                                              <p:pRg st="6" end="6"/>
                                            </p:txEl>
                                          </p:spTgt>
                                        </p:tgtEl>
                                        <p:attrNameLst>
                                          <p:attrName>style.visibility</p:attrName>
                                        </p:attrNameLst>
                                      </p:cBhvr>
                                      <p:to>
                                        <p:strVal val="visible"/>
                                      </p:to>
                                    </p:set>
                                    <p:animEffect transition="in" filter="fade">
                                      <p:cBhvr>
                                        <p:cTn id="32" dur="1000"/>
                                        <p:tgtEl>
                                          <p:spTgt spid="35">
                                            <p:txEl>
                                              <p:pRg st="6" end="6"/>
                                            </p:txEl>
                                          </p:spTgt>
                                        </p:tgtEl>
                                      </p:cBhvr>
                                    </p:animEffect>
                                    <p:anim calcmode="lin" valueType="num">
                                      <p:cBhvr>
                                        <p:cTn id="33" dur="1000" fill="hold"/>
                                        <p:tgtEl>
                                          <p:spTgt spid="3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5">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5">
                                            <p:txEl>
                                              <p:pRg st="7" end="7"/>
                                            </p:txEl>
                                          </p:spTgt>
                                        </p:tgtEl>
                                        <p:attrNameLst>
                                          <p:attrName>style.visibility</p:attrName>
                                        </p:attrNameLst>
                                      </p:cBhvr>
                                      <p:to>
                                        <p:strVal val="visible"/>
                                      </p:to>
                                    </p:set>
                                    <p:animEffect transition="in" filter="fade">
                                      <p:cBhvr>
                                        <p:cTn id="37" dur="1000"/>
                                        <p:tgtEl>
                                          <p:spTgt spid="35">
                                            <p:txEl>
                                              <p:pRg st="7" end="7"/>
                                            </p:txEl>
                                          </p:spTgt>
                                        </p:tgtEl>
                                      </p:cBhvr>
                                    </p:animEffect>
                                    <p:anim calcmode="lin" valueType="num">
                                      <p:cBhvr>
                                        <p:cTn id="38" dur="1000" fill="hold"/>
                                        <p:tgtEl>
                                          <p:spTgt spid="35">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5">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5">
                                            <p:txEl>
                                              <p:pRg st="8" end="8"/>
                                            </p:txEl>
                                          </p:spTgt>
                                        </p:tgtEl>
                                        <p:attrNameLst>
                                          <p:attrName>style.visibility</p:attrName>
                                        </p:attrNameLst>
                                      </p:cBhvr>
                                      <p:to>
                                        <p:strVal val="visible"/>
                                      </p:to>
                                    </p:set>
                                    <p:animEffect transition="in" filter="fade">
                                      <p:cBhvr>
                                        <p:cTn id="42" dur="1000"/>
                                        <p:tgtEl>
                                          <p:spTgt spid="35">
                                            <p:txEl>
                                              <p:pRg st="8" end="8"/>
                                            </p:txEl>
                                          </p:spTgt>
                                        </p:tgtEl>
                                      </p:cBhvr>
                                    </p:animEffect>
                                    <p:anim calcmode="lin" valueType="num">
                                      <p:cBhvr>
                                        <p:cTn id="43" dur="1000" fill="hold"/>
                                        <p:tgtEl>
                                          <p:spTgt spid="3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5">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5">
                                            <p:txEl>
                                              <p:pRg st="9" end="9"/>
                                            </p:txEl>
                                          </p:spTgt>
                                        </p:tgtEl>
                                        <p:attrNameLst>
                                          <p:attrName>style.visibility</p:attrName>
                                        </p:attrNameLst>
                                      </p:cBhvr>
                                      <p:to>
                                        <p:strVal val="visible"/>
                                      </p:to>
                                    </p:set>
                                    <p:animEffect transition="in" filter="fade">
                                      <p:cBhvr>
                                        <p:cTn id="47" dur="1000"/>
                                        <p:tgtEl>
                                          <p:spTgt spid="35">
                                            <p:txEl>
                                              <p:pRg st="9" end="9"/>
                                            </p:txEl>
                                          </p:spTgt>
                                        </p:tgtEl>
                                      </p:cBhvr>
                                    </p:animEffect>
                                    <p:anim calcmode="lin" valueType="num">
                                      <p:cBhvr>
                                        <p:cTn id="48" dur="1000" fill="hold"/>
                                        <p:tgtEl>
                                          <p:spTgt spid="35">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5">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5">
                                            <p:txEl>
                                              <p:pRg st="10" end="10"/>
                                            </p:txEl>
                                          </p:spTgt>
                                        </p:tgtEl>
                                        <p:attrNameLst>
                                          <p:attrName>style.visibility</p:attrName>
                                        </p:attrNameLst>
                                      </p:cBhvr>
                                      <p:to>
                                        <p:strVal val="visible"/>
                                      </p:to>
                                    </p:set>
                                    <p:animEffect transition="in" filter="fade">
                                      <p:cBhvr>
                                        <p:cTn id="52" dur="1000"/>
                                        <p:tgtEl>
                                          <p:spTgt spid="35">
                                            <p:txEl>
                                              <p:pRg st="10" end="10"/>
                                            </p:txEl>
                                          </p:spTgt>
                                        </p:tgtEl>
                                      </p:cBhvr>
                                    </p:animEffect>
                                    <p:anim calcmode="lin" valueType="num">
                                      <p:cBhvr>
                                        <p:cTn id="53" dur="1000" fill="hold"/>
                                        <p:tgtEl>
                                          <p:spTgt spid="35">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lstStyle/>
          <a:p>
            <a:r>
              <a:rPr lang="en-US" dirty="0"/>
              <a:t>Access the Command Line</a:t>
            </a:r>
          </a:p>
          <a:p>
            <a:endParaRPr lang="en-US" dirty="0"/>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a:bodyPr>
          <a:lstStyle/>
          <a:p>
            <a:r>
              <a:rPr lang="en-US" dirty="0"/>
              <a:t>Introduction to the Bash Shell</a:t>
            </a:r>
          </a:p>
          <a:p>
            <a:r>
              <a:rPr lang="en-US" dirty="0"/>
              <a:t>Log in to a Local System</a:t>
            </a:r>
          </a:p>
          <a:p>
            <a:r>
              <a:rPr lang="en-US" dirty="0"/>
              <a:t>Log in to a Remote System</a:t>
            </a:r>
          </a:p>
          <a:p>
            <a:r>
              <a:rPr lang="en-US" dirty="0"/>
              <a:t>Log out from a Remote System</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463479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Access the Command Line with the Desktop</a:t>
            </a:r>
          </a:p>
          <a:p>
            <a:endParaRPr lang="en-US" dirty="0"/>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dirty="0"/>
              <a:t>Introduction to the GNOME Desktop Environment</a:t>
            </a:r>
          </a:p>
          <a:p>
            <a:r>
              <a:rPr lang="en-US" dirty="0"/>
              <a:t>Parts of the GNOME Shell</a:t>
            </a:r>
          </a:p>
          <a:p>
            <a:r>
              <a:rPr lang="en-US" dirty="0"/>
              <a:t>Understand Workspaces</a:t>
            </a:r>
          </a:p>
          <a:p>
            <a:r>
              <a:rPr lang="en-US" dirty="0"/>
              <a:t>Start a Terminal</a:t>
            </a:r>
          </a:p>
          <a:p>
            <a:r>
              <a:rPr lang="en-US" dirty="0"/>
              <a:t>Lock the Screen and Log Out</a:t>
            </a:r>
          </a:p>
          <a:p>
            <a:r>
              <a:rPr lang="en-US" dirty="0"/>
              <a:t>Power off or Reboot the System</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267563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Execute Commands with the Bash Shell</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dirty="0"/>
              <a:t>Basic Command Syntax</a:t>
            </a:r>
          </a:p>
          <a:p>
            <a:r>
              <a:rPr lang="en-US" dirty="0"/>
              <a:t>Write Simple Commands</a:t>
            </a:r>
          </a:p>
          <a:p>
            <a:r>
              <a:rPr lang="en-US" dirty="0"/>
              <a:t>Tab Completion</a:t>
            </a:r>
          </a:p>
          <a:p>
            <a:r>
              <a:rPr lang="en-US" dirty="0"/>
              <a:t>Write Long Command on Multiple Lines</a:t>
            </a:r>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4135612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482965" y="6436977"/>
            <a:ext cx="1563517" cy="254207"/>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9</a:t>
            </a:fld>
            <a:endParaRPr lang="en-US" dirty="0"/>
          </a:p>
        </p:txBody>
      </p:sp>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737977" y="70225"/>
            <a:ext cx="6732237" cy="1017147"/>
          </a:xfrm>
        </p:spPr>
        <p:txBody>
          <a:bodyPr>
            <a:noAutofit/>
          </a:bodyPr>
          <a:lstStyle/>
          <a:p>
            <a:pPr algn="ctr"/>
            <a:r>
              <a:rPr lang="en-US" sz="3200" b="1"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mn-lt"/>
              </a:rPr>
              <a:t>Red Hat Enterprise Linux 9 RH124</a:t>
            </a:r>
            <a:endParaRPr lang="en-US" sz="3200"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979517" y="1233577"/>
            <a:ext cx="10579879" cy="5057195"/>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a:spcAft>
                <a:spcPts val="0"/>
              </a:spcAft>
              <a:buFont typeface="Wingdings" panose="05000000000000000000" pitchFamily="2" charset="2"/>
              <a:buChar char="§"/>
              <a:defRPr/>
            </a:pPr>
            <a:endParaRPr lang="en-US" sz="1200" dirty="0">
              <a:solidFill>
                <a:schemeClr val="tx1"/>
              </a:solidFill>
              <a:latin typeface="Bahnschrift SemiBold" panose="020B0502040204020203" pitchFamily="34" charset="0"/>
            </a:endParaRPr>
          </a:p>
        </p:txBody>
      </p:sp>
      <p:pic>
        <p:nvPicPr>
          <p:cNvPr id="9" name="Picture 8">
            <a:extLst>
              <a:ext uri="{FF2B5EF4-FFF2-40B4-BE49-F238E27FC236}">
                <a16:creationId xmlns:a16="http://schemas.microsoft.com/office/drawing/2014/main" id="{C488F5F6-C535-7F4D-20B9-068C9E70E380}"/>
              </a:ext>
            </a:extLst>
          </p:cNvPr>
          <p:cNvPicPr>
            <a:picLocks noChangeAspect="1"/>
          </p:cNvPicPr>
          <p:nvPr/>
        </p:nvPicPr>
        <p:blipFill>
          <a:blip r:embed="rId2"/>
          <a:stretch>
            <a:fillRect/>
          </a:stretch>
        </p:blipFill>
        <p:spPr>
          <a:xfrm>
            <a:off x="2017127" y="1446498"/>
            <a:ext cx="8504657" cy="464860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267972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482965" y="6436977"/>
            <a:ext cx="1563517" cy="254207"/>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10</a:t>
            </a:fld>
            <a:endParaRPr lang="en-US" dirty="0"/>
          </a:p>
        </p:txBody>
      </p:sp>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737977" y="70225"/>
            <a:ext cx="6732237" cy="1017147"/>
          </a:xfrm>
        </p:spPr>
        <p:txBody>
          <a:bodyPr>
            <a:noAutofit/>
          </a:bodyPr>
          <a:lstStyle/>
          <a:p>
            <a:pPr algn="ctr"/>
            <a:r>
              <a:rPr lang="en-US" sz="3200" b="1"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mn-lt"/>
              </a:rPr>
              <a:t>Red Hat Enterprise Linux 9 RH124</a:t>
            </a:r>
            <a:endParaRPr lang="en-US" sz="3200"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979517" y="1233577"/>
            <a:ext cx="10579879" cy="5057195"/>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a:spcAft>
                <a:spcPts val="0"/>
              </a:spcAft>
              <a:buFont typeface="Wingdings" panose="05000000000000000000" pitchFamily="2" charset="2"/>
              <a:buChar char="§"/>
              <a:defRPr/>
            </a:pPr>
            <a:endParaRPr lang="en-US" sz="1200" dirty="0">
              <a:solidFill>
                <a:schemeClr val="tx1"/>
              </a:solidFill>
              <a:latin typeface="Bahnschrift SemiBold" panose="020B0502040204020203" pitchFamily="34" charset="0"/>
            </a:endParaRPr>
          </a:p>
        </p:txBody>
      </p:sp>
      <p:pic>
        <p:nvPicPr>
          <p:cNvPr id="4" name="Picture 3">
            <a:extLst>
              <a:ext uri="{FF2B5EF4-FFF2-40B4-BE49-F238E27FC236}">
                <a16:creationId xmlns:a16="http://schemas.microsoft.com/office/drawing/2014/main" id="{9F17AA1B-7145-6BEE-6ABC-252446FA7126}"/>
              </a:ext>
            </a:extLst>
          </p:cNvPr>
          <p:cNvPicPr>
            <a:picLocks noChangeAspect="1"/>
          </p:cNvPicPr>
          <p:nvPr/>
        </p:nvPicPr>
        <p:blipFill>
          <a:blip r:embed="rId2"/>
          <a:stretch>
            <a:fillRect/>
          </a:stretch>
        </p:blipFill>
        <p:spPr>
          <a:xfrm>
            <a:off x="3465053" y="2804588"/>
            <a:ext cx="5608806" cy="1714649"/>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4988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Describe Linux File System Hierarchy Concepts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dirty="0"/>
              <a:t>The File-system Hierarchy</a:t>
            </a:r>
          </a:p>
          <a:p>
            <a:r>
              <a:rPr lang="en-US" dirty="0"/>
              <a:t>Specify Files by Name</a:t>
            </a:r>
          </a:p>
          <a:p>
            <a:r>
              <a:rPr lang="en-US" dirty="0"/>
              <a:t>Manage Files with Command-line Tools</a:t>
            </a:r>
          </a:p>
          <a:p>
            <a:r>
              <a:rPr lang="en-US" dirty="0"/>
              <a:t>Make Links Between Files</a:t>
            </a:r>
          </a:p>
          <a:p>
            <a:r>
              <a:rPr lang="en-US" dirty="0"/>
              <a:t>Match File Names with Shell Expansions</a:t>
            </a:r>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3388100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689251"/>
          </a:xfrm>
        </p:spPr>
        <p:txBody>
          <a:bodyPr/>
          <a:lstStyle/>
          <a:p>
            <a:r>
              <a:rPr lang="en-US" dirty="0"/>
              <a:t>The File-system Hierarchy</a:t>
            </a:r>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Shikhar Verma</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12</a:t>
            </a:fld>
            <a:endParaRPr lang="en-US" dirty="0"/>
          </a:p>
        </p:txBody>
      </p:sp>
      <p:pic>
        <p:nvPicPr>
          <p:cNvPr id="44" name="Picture Placeholder 43">
            <a:extLst>
              <a:ext uri="{FF2B5EF4-FFF2-40B4-BE49-F238E27FC236}">
                <a16:creationId xmlns:a16="http://schemas.microsoft.com/office/drawing/2014/main" id="{51F9D3CA-DA56-6299-F965-FFEC8FD34628}"/>
              </a:ext>
            </a:extLst>
          </p:cNvPr>
          <p:cNvPicPr>
            <a:picLocks noGrp="1" noChangeAspect="1"/>
          </p:cNvPicPr>
          <p:nvPr>
            <p:ph type="pic" sz="quarter" idx="11"/>
          </p:nvPr>
        </p:nvPicPr>
        <p:blipFill>
          <a:blip r:embed="rId4"/>
          <a:srcRect l="6734" r="6734"/>
          <a:stretch>
            <a:fillRect/>
          </a:stretch>
        </p:blipFill>
        <p:spPr/>
      </p:pic>
      <p:pic>
        <p:nvPicPr>
          <p:cNvPr id="52" name="Picture 51">
            <a:extLst>
              <a:ext uri="{FF2B5EF4-FFF2-40B4-BE49-F238E27FC236}">
                <a16:creationId xmlns:a16="http://schemas.microsoft.com/office/drawing/2014/main" id="{E56B7C0E-3127-760F-EE7A-0D993582D881}"/>
              </a:ext>
            </a:extLst>
          </p:cNvPr>
          <p:cNvPicPr>
            <a:picLocks noChangeAspect="1"/>
          </p:cNvPicPr>
          <p:nvPr/>
        </p:nvPicPr>
        <p:blipFill>
          <a:blip r:embed="rId5"/>
          <a:stretch>
            <a:fillRect/>
          </a:stretch>
        </p:blipFill>
        <p:spPr>
          <a:xfrm>
            <a:off x="739890" y="1816901"/>
            <a:ext cx="6721422" cy="2499577"/>
          </a:xfrm>
          <a:prstGeom prst="rect">
            <a:avLst/>
          </a:prstGeom>
        </p:spPr>
      </p:pic>
    </p:spTree>
    <p:extLst>
      <p:ext uri="{BB962C8B-B14F-4D97-AF65-F5344CB8AC3E}">
        <p14:creationId xmlns:p14="http://schemas.microsoft.com/office/powerpoint/2010/main" val="31132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689251"/>
          </a:xfrm>
        </p:spPr>
        <p:txBody>
          <a:bodyPr>
            <a:normAutofit/>
          </a:bodyPr>
          <a:lstStyle/>
          <a:p>
            <a:r>
              <a:rPr lang="en-US" dirty="0"/>
              <a:t>Specify Files by Name</a:t>
            </a:r>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Shikhar Verma</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13</a:t>
            </a:fld>
            <a:endParaRPr lang="en-US" dirty="0"/>
          </a:p>
        </p:txBody>
      </p:sp>
      <p:pic>
        <p:nvPicPr>
          <p:cNvPr id="44" name="Picture Placeholder 43">
            <a:extLst>
              <a:ext uri="{FF2B5EF4-FFF2-40B4-BE49-F238E27FC236}">
                <a16:creationId xmlns:a16="http://schemas.microsoft.com/office/drawing/2014/main" id="{51F9D3CA-DA56-6299-F965-FFEC8FD34628}"/>
              </a:ext>
            </a:extLst>
          </p:cNvPr>
          <p:cNvPicPr>
            <a:picLocks noGrp="1" noChangeAspect="1"/>
          </p:cNvPicPr>
          <p:nvPr>
            <p:ph type="pic" sz="quarter" idx="11"/>
          </p:nvPr>
        </p:nvPicPr>
        <p:blipFill>
          <a:blip r:embed="rId4"/>
          <a:srcRect l="6734" r="6734"/>
          <a:stretch>
            <a:fillRect/>
          </a:stretch>
        </p:blipFill>
        <p:spPr/>
      </p:pic>
      <p:sp>
        <p:nvSpPr>
          <p:cNvPr id="2" name="Text Placeholder 11">
            <a:extLst>
              <a:ext uri="{FF2B5EF4-FFF2-40B4-BE49-F238E27FC236}">
                <a16:creationId xmlns:a16="http://schemas.microsoft.com/office/drawing/2014/main" id="{37EDD402-851E-F41E-7930-5567BCF4BF90}"/>
              </a:ext>
            </a:extLst>
          </p:cNvPr>
          <p:cNvSpPr txBox="1">
            <a:spLocks/>
          </p:cNvSpPr>
          <p:nvPr/>
        </p:nvSpPr>
        <p:spPr>
          <a:xfrm>
            <a:off x="796322" y="1872832"/>
            <a:ext cx="5797518" cy="2532966"/>
          </a:xfrm>
          <a:prstGeom prst="rect">
            <a:avLst/>
          </a:prstGeom>
        </p:spPr>
        <p:txBody>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Absolute Paths and Relative Paths</a:t>
            </a:r>
          </a:p>
          <a:p>
            <a:endParaRPr lang="en-US" dirty="0"/>
          </a:p>
          <a:p>
            <a:pPr>
              <a:buFont typeface="Wingdings" panose="05000000000000000000" pitchFamily="2" charset="2"/>
              <a:buChar char="q"/>
            </a:pPr>
            <a:r>
              <a:rPr lang="en-US" sz="1400" dirty="0"/>
              <a:t> An </a:t>
            </a:r>
            <a:r>
              <a:rPr lang="en-US" sz="1400" b="1" dirty="0"/>
              <a:t>absolute</a:t>
            </a:r>
            <a:r>
              <a:rPr lang="en-US" sz="1400" dirty="0"/>
              <a:t> </a:t>
            </a:r>
            <a:r>
              <a:rPr lang="en-US" sz="1400" b="1" dirty="0"/>
              <a:t>path</a:t>
            </a:r>
            <a:r>
              <a:rPr lang="en-US" sz="1400" dirty="0"/>
              <a:t> is a complete path to a file or directory from the root directory. The root directory is the top-level directory of the file system and is represented by a forward slash (/). Absolute paths always start with the root directory and provide the full path to the file or directory.</a:t>
            </a:r>
          </a:p>
          <a:p>
            <a:pPr>
              <a:buFont typeface="Wingdings" panose="05000000000000000000" pitchFamily="2" charset="2"/>
              <a:buChar char="q"/>
            </a:pPr>
            <a:r>
              <a:rPr lang="en-US" sz="1400" dirty="0"/>
              <a:t> For example, the absolute path to the home directory of a user named “tom" would be "/home/tom".</a:t>
            </a:r>
          </a:p>
          <a:p>
            <a:endParaRPr lang="en-US" sz="1400" dirty="0"/>
          </a:p>
          <a:p>
            <a:endParaRPr lang="en-US" sz="1400" dirty="0"/>
          </a:p>
          <a:p>
            <a:endParaRPr lang="en-US" dirty="0"/>
          </a:p>
        </p:txBody>
      </p:sp>
    </p:spTree>
    <p:extLst>
      <p:ext uri="{BB962C8B-B14F-4D97-AF65-F5344CB8AC3E}">
        <p14:creationId xmlns:p14="http://schemas.microsoft.com/office/powerpoint/2010/main" val="133103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689251"/>
          </a:xfrm>
        </p:spPr>
        <p:txBody>
          <a:bodyPr>
            <a:normAutofit/>
          </a:bodyPr>
          <a:lstStyle/>
          <a:p>
            <a:r>
              <a:rPr lang="en-US" dirty="0"/>
              <a:t>Specify Files by Name</a:t>
            </a:r>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Shikhar Verma</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14</a:t>
            </a:fld>
            <a:endParaRPr lang="en-US" dirty="0"/>
          </a:p>
        </p:txBody>
      </p:sp>
      <p:pic>
        <p:nvPicPr>
          <p:cNvPr id="44" name="Picture Placeholder 43">
            <a:extLst>
              <a:ext uri="{FF2B5EF4-FFF2-40B4-BE49-F238E27FC236}">
                <a16:creationId xmlns:a16="http://schemas.microsoft.com/office/drawing/2014/main" id="{51F9D3CA-DA56-6299-F965-FFEC8FD34628}"/>
              </a:ext>
            </a:extLst>
          </p:cNvPr>
          <p:cNvPicPr>
            <a:picLocks noGrp="1" noChangeAspect="1"/>
          </p:cNvPicPr>
          <p:nvPr>
            <p:ph type="pic" sz="quarter" idx="11"/>
          </p:nvPr>
        </p:nvPicPr>
        <p:blipFill>
          <a:blip r:embed="rId4"/>
          <a:srcRect l="6734" r="6734"/>
          <a:stretch>
            <a:fillRect/>
          </a:stretch>
        </p:blipFill>
        <p:spPr/>
      </p:pic>
      <p:sp>
        <p:nvSpPr>
          <p:cNvPr id="2" name="Text Placeholder 11">
            <a:extLst>
              <a:ext uri="{FF2B5EF4-FFF2-40B4-BE49-F238E27FC236}">
                <a16:creationId xmlns:a16="http://schemas.microsoft.com/office/drawing/2014/main" id="{37EDD402-851E-F41E-7930-5567BCF4BF90}"/>
              </a:ext>
            </a:extLst>
          </p:cNvPr>
          <p:cNvSpPr txBox="1">
            <a:spLocks/>
          </p:cNvSpPr>
          <p:nvPr/>
        </p:nvSpPr>
        <p:spPr>
          <a:xfrm>
            <a:off x="796322" y="1907337"/>
            <a:ext cx="5797518" cy="2532966"/>
          </a:xfrm>
          <a:prstGeom prst="rect">
            <a:avLst/>
          </a:prstGeom>
        </p:spPr>
        <p:txBody>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Absolute Paths and Relative Paths</a:t>
            </a:r>
          </a:p>
          <a:p>
            <a:endParaRPr lang="en-US" b="1" dirty="0"/>
          </a:p>
          <a:p>
            <a:pPr>
              <a:buFont typeface="Wingdings" panose="05000000000000000000" pitchFamily="2" charset="2"/>
              <a:buChar char="q"/>
            </a:pPr>
            <a:r>
              <a:rPr lang="en-US" sz="1400" dirty="0"/>
              <a:t>On the other hand, a </a:t>
            </a:r>
            <a:r>
              <a:rPr lang="en-US" sz="1400" b="1" dirty="0"/>
              <a:t>relative path</a:t>
            </a:r>
            <a:r>
              <a:rPr lang="en-US" sz="1400" dirty="0"/>
              <a:t> is a path to a file or directory that is relative to the current directory. It specifies the location of the file or directory in relation to the current directory. Relative paths do not start with the root directory and are usually shorter than absolute paths.</a:t>
            </a:r>
          </a:p>
          <a:p>
            <a:pPr>
              <a:buFont typeface="Wingdings" panose="05000000000000000000" pitchFamily="2" charset="2"/>
              <a:buChar char="q"/>
            </a:pPr>
            <a:r>
              <a:rPr lang="en-US" sz="1400" dirty="0"/>
              <a:t>For example, if you are currently in the home directory of “tom" and want to access a file named "example.txt" in a subdirectory called "documents", the relative path would be "documents/example.txt".</a:t>
            </a:r>
          </a:p>
          <a:p>
            <a:endParaRPr lang="en-US" sz="1400" dirty="0"/>
          </a:p>
          <a:p>
            <a:endParaRPr lang="en-US" sz="1400" dirty="0"/>
          </a:p>
          <a:p>
            <a:endParaRPr lang="en-US" sz="1400" dirty="0"/>
          </a:p>
          <a:p>
            <a:endParaRPr lang="en-US" dirty="0"/>
          </a:p>
        </p:txBody>
      </p:sp>
    </p:spTree>
    <p:extLst>
      <p:ext uri="{BB962C8B-B14F-4D97-AF65-F5344CB8AC3E}">
        <p14:creationId xmlns:p14="http://schemas.microsoft.com/office/powerpoint/2010/main" val="219786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689251"/>
          </a:xfrm>
        </p:spPr>
        <p:txBody>
          <a:bodyPr>
            <a:normAutofit fontScale="90000"/>
          </a:bodyPr>
          <a:lstStyle/>
          <a:p>
            <a:r>
              <a:rPr lang="en-US" dirty="0"/>
              <a:t>Command-line File Management</a:t>
            </a:r>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Shikhar Verma</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15</a:t>
            </a:fld>
            <a:endParaRPr lang="en-US" dirty="0"/>
          </a:p>
        </p:txBody>
      </p:sp>
      <p:pic>
        <p:nvPicPr>
          <p:cNvPr id="44" name="Picture Placeholder 43">
            <a:extLst>
              <a:ext uri="{FF2B5EF4-FFF2-40B4-BE49-F238E27FC236}">
                <a16:creationId xmlns:a16="http://schemas.microsoft.com/office/drawing/2014/main" id="{51F9D3CA-DA56-6299-F965-FFEC8FD34628}"/>
              </a:ext>
            </a:extLst>
          </p:cNvPr>
          <p:cNvPicPr>
            <a:picLocks noGrp="1" noChangeAspect="1"/>
          </p:cNvPicPr>
          <p:nvPr>
            <p:ph type="pic" sz="quarter" idx="11"/>
          </p:nvPr>
        </p:nvPicPr>
        <p:blipFill>
          <a:blip r:embed="rId4"/>
          <a:srcRect l="6734" r="6734"/>
          <a:stretch>
            <a:fillRect/>
          </a:stretch>
        </p:blipFill>
        <p:spPr/>
      </p:pic>
      <p:sp>
        <p:nvSpPr>
          <p:cNvPr id="2" name="Text Placeholder 11">
            <a:extLst>
              <a:ext uri="{FF2B5EF4-FFF2-40B4-BE49-F238E27FC236}">
                <a16:creationId xmlns:a16="http://schemas.microsoft.com/office/drawing/2014/main" id="{37EDD402-851E-F41E-7930-5567BCF4BF90}"/>
              </a:ext>
            </a:extLst>
          </p:cNvPr>
          <p:cNvSpPr txBox="1">
            <a:spLocks/>
          </p:cNvSpPr>
          <p:nvPr/>
        </p:nvSpPr>
        <p:spPr>
          <a:xfrm>
            <a:off x="796322" y="1907337"/>
            <a:ext cx="8313172" cy="2532966"/>
          </a:xfrm>
          <a:prstGeom prst="rect">
            <a:avLst/>
          </a:prstGeom>
        </p:spPr>
        <p:txBody>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Create, copy, move, and remove files and directories</a:t>
            </a:r>
            <a:endParaRPr lang="en-US" sz="1400" dirty="0"/>
          </a:p>
          <a:p>
            <a:endParaRPr lang="en-US" sz="1400" dirty="0"/>
          </a:p>
          <a:p>
            <a:endParaRPr lang="en-US" sz="1400" dirty="0"/>
          </a:p>
          <a:p>
            <a:endParaRPr lang="en-US" dirty="0"/>
          </a:p>
        </p:txBody>
      </p:sp>
    </p:spTree>
    <p:extLst>
      <p:ext uri="{BB962C8B-B14F-4D97-AF65-F5344CB8AC3E}">
        <p14:creationId xmlns:p14="http://schemas.microsoft.com/office/powerpoint/2010/main" val="51494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16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279924"/>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a:buFont typeface="Wingdings" panose="05000000000000000000" pitchFamily="2" charset="2"/>
              <a:buChar char="q"/>
            </a:pPr>
            <a:endParaRPr lang="en-US" sz="1400" dirty="0"/>
          </a:p>
          <a:p>
            <a:pPr>
              <a:buClrTx/>
              <a:buFont typeface="Wingdings" panose="05000000000000000000" pitchFamily="2" charset="2"/>
              <a:buChar char="q"/>
            </a:pPr>
            <a:r>
              <a:rPr lang="en-US" sz="1400" dirty="0"/>
              <a:t>You can create multiple file names that point to the same file. These file names are called links.</a:t>
            </a:r>
          </a:p>
          <a:p>
            <a:pPr>
              <a:buClr>
                <a:schemeClr val="tx1"/>
              </a:buClr>
              <a:buFont typeface="Wingdings" panose="05000000000000000000" pitchFamily="2" charset="2"/>
              <a:buChar char="q"/>
            </a:pPr>
            <a:r>
              <a:rPr lang="en-US" sz="1400" dirty="0"/>
              <a:t>You can create two types of links: a hard link, or a symbolic link (sometimes called a soft link). Each way has its advantages and disadvantages.</a:t>
            </a:r>
          </a:p>
          <a:p>
            <a:pPr>
              <a:buClr>
                <a:schemeClr val="tx1"/>
              </a:buClr>
              <a:buFont typeface="Wingdings" panose="05000000000000000000" pitchFamily="2" charset="2"/>
              <a:buChar char="Ø"/>
            </a:pPr>
            <a:r>
              <a:rPr lang="en-US" sz="1600" b="1" dirty="0"/>
              <a:t>What is Soft Link And Hard Link In Linux?</a:t>
            </a:r>
          </a:p>
          <a:p>
            <a:pPr>
              <a:buClr>
                <a:schemeClr val="tx1"/>
              </a:buClr>
              <a:buFont typeface="Wingdings" panose="05000000000000000000" pitchFamily="2" charset="2"/>
              <a:buChar char="q"/>
            </a:pPr>
            <a:r>
              <a:rPr lang="en-US" sz="1400" dirty="0"/>
              <a:t>A link in UNIX is a pointer to a file.</a:t>
            </a:r>
          </a:p>
          <a:p>
            <a:pPr>
              <a:buClr>
                <a:schemeClr val="tx1"/>
              </a:buClr>
              <a:buFont typeface="Wingdings" panose="05000000000000000000" pitchFamily="2" charset="2"/>
              <a:buChar char="q"/>
            </a:pPr>
            <a:r>
              <a:rPr lang="en-US" sz="1400" dirty="0"/>
              <a:t>A symbolic or soft link is an actual link to the original file, whereas a hard link is a mirror copy of the original file. If you delete the original file, the soft link has no value, because it points to a non-existent file. But in the case of hard link, it is entirely opposite. If you delete the original file, the hard link can still has the data of the original file. Because hard link acts as a mirror copy of the original file.</a:t>
            </a:r>
          </a:p>
          <a:p>
            <a:pPr>
              <a:buClr>
                <a:schemeClr val="tx1"/>
              </a:buClr>
              <a:buFont typeface="Wingdings" panose="05000000000000000000" pitchFamily="2" charset="2"/>
              <a:buChar char="q"/>
            </a:pPr>
            <a:endParaRPr lang="en-US" sz="1400" dirty="0"/>
          </a:p>
          <a:p>
            <a:pPr>
              <a:spcAft>
                <a:spcPts val="0"/>
              </a:spcAft>
              <a:buFont typeface="Wingdings" panose="05000000000000000000" pitchFamily="2" charset="2"/>
              <a:buChar char="q"/>
              <a:defRPr/>
            </a:pPr>
            <a:endParaRPr lang="en-US" sz="1400" dirty="0">
              <a:solidFill>
                <a:schemeClr val="tx1"/>
              </a:solidFill>
              <a:latin typeface="Bahnschrift SemiBold" panose="020B0502040204020203" pitchFamily="34" charset="0"/>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Manage Links Between Files</a:t>
            </a:r>
          </a:p>
        </p:txBody>
      </p:sp>
    </p:spTree>
    <p:extLst>
      <p:ext uri="{BB962C8B-B14F-4D97-AF65-F5344CB8AC3E}">
        <p14:creationId xmlns:p14="http://schemas.microsoft.com/office/powerpoint/2010/main" val="415370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
                                            <p:txEl>
                                              <p:pRg st="5" end="5"/>
                                            </p:txEl>
                                          </p:spTgt>
                                        </p:tgtEl>
                                        <p:attrNameLst>
                                          <p:attrName>style.visibility</p:attrName>
                                        </p:attrNameLst>
                                      </p:cBhvr>
                                      <p:to>
                                        <p:strVal val="visible"/>
                                      </p:to>
                                    </p:set>
                                    <p:anim calcmode="lin" valueType="num">
                                      <p:cBhvr additive="base">
                                        <p:cTn id="2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17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279924"/>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a:spcAft>
                <a:spcPts val="0"/>
              </a:spcAft>
              <a:buClr>
                <a:schemeClr val="tx1"/>
              </a:buClr>
              <a:buFont typeface="Wingdings" panose="05000000000000000000" pitchFamily="2" charset="2"/>
              <a:buChar char="Ø"/>
              <a:defRPr/>
            </a:pPr>
            <a:r>
              <a:rPr lang="en-US" sz="1400" b="1" dirty="0">
                <a:solidFill>
                  <a:schemeClr val="tx1"/>
                </a:solidFill>
              </a:rPr>
              <a:t>In a nutshell, a soft link</a:t>
            </a:r>
          </a:p>
          <a:p>
            <a:pPr>
              <a:spcAft>
                <a:spcPts val="0"/>
              </a:spcAft>
              <a:buClr>
                <a:schemeClr val="tx1"/>
              </a:buClr>
              <a:buFont typeface="Wingdings" panose="05000000000000000000" pitchFamily="2" charset="2"/>
              <a:buChar char="q"/>
              <a:defRPr/>
            </a:pPr>
            <a:r>
              <a:rPr lang="en-US" sz="1400" dirty="0">
                <a:solidFill>
                  <a:schemeClr val="tx1"/>
                </a:solidFill>
              </a:rPr>
              <a:t>    can be created across different file systems,</a:t>
            </a:r>
          </a:p>
          <a:p>
            <a:pPr>
              <a:spcAft>
                <a:spcPts val="0"/>
              </a:spcAft>
              <a:buClr>
                <a:schemeClr val="tx1"/>
              </a:buClr>
              <a:buFont typeface="Wingdings" panose="05000000000000000000" pitchFamily="2" charset="2"/>
              <a:buChar char="q"/>
              <a:defRPr/>
            </a:pPr>
            <a:r>
              <a:rPr lang="en-US" sz="1400" dirty="0">
                <a:solidFill>
                  <a:schemeClr val="tx1"/>
                </a:solidFill>
              </a:rPr>
              <a:t>    allows you to link between directories,</a:t>
            </a:r>
          </a:p>
          <a:p>
            <a:pPr>
              <a:spcAft>
                <a:spcPts val="0"/>
              </a:spcAft>
              <a:buClr>
                <a:schemeClr val="tx1"/>
              </a:buClr>
              <a:buFont typeface="Wingdings" panose="05000000000000000000" pitchFamily="2" charset="2"/>
              <a:buChar char="q"/>
              <a:defRPr/>
            </a:pPr>
            <a:r>
              <a:rPr lang="en-US" sz="1400" dirty="0">
                <a:solidFill>
                  <a:schemeClr val="tx1"/>
                </a:solidFill>
              </a:rPr>
              <a:t>    has different </a:t>
            </a:r>
            <a:r>
              <a:rPr lang="en-US" sz="1400" dirty="0" err="1">
                <a:solidFill>
                  <a:schemeClr val="tx1"/>
                </a:solidFill>
              </a:rPr>
              <a:t>inodes</a:t>
            </a:r>
            <a:r>
              <a:rPr lang="en-US" sz="1400" dirty="0">
                <a:solidFill>
                  <a:schemeClr val="tx1"/>
                </a:solidFill>
              </a:rPr>
              <a:t> number and file permissions than original file,</a:t>
            </a:r>
          </a:p>
          <a:p>
            <a:pPr>
              <a:spcAft>
                <a:spcPts val="0"/>
              </a:spcAft>
              <a:buClr>
                <a:schemeClr val="tx1"/>
              </a:buClr>
              <a:buFont typeface="Wingdings" panose="05000000000000000000" pitchFamily="2" charset="2"/>
              <a:buChar char="q"/>
              <a:defRPr/>
            </a:pPr>
            <a:r>
              <a:rPr lang="en-US" sz="1400" dirty="0">
                <a:solidFill>
                  <a:schemeClr val="tx1"/>
                </a:solidFill>
              </a:rPr>
              <a:t>    permissions will not be updated.</a:t>
            </a:r>
          </a:p>
          <a:p>
            <a:pPr>
              <a:spcAft>
                <a:spcPts val="0"/>
              </a:spcAft>
              <a:buFont typeface="Wingdings" panose="05000000000000000000" pitchFamily="2" charset="2"/>
              <a:buChar char="q"/>
              <a:defRPr/>
            </a:pPr>
            <a:endParaRPr lang="en-US" sz="1400" dirty="0">
              <a:solidFill>
                <a:schemeClr val="tx1"/>
              </a:solidFill>
            </a:endParaRPr>
          </a:p>
          <a:p>
            <a:pPr>
              <a:spcAft>
                <a:spcPts val="0"/>
              </a:spcAft>
              <a:buClrTx/>
              <a:buFont typeface="Wingdings" panose="05000000000000000000" pitchFamily="2" charset="2"/>
              <a:buChar char="Ø"/>
              <a:defRPr/>
            </a:pPr>
            <a:r>
              <a:rPr lang="en-US" sz="1400" b="1" dirty="0">
                <a:solidFill>
                  <a:schemeClr val="tx1"/>
                </a:solidFill>
              </a:rPr>
              <a:t>A hard Link</a:t>
            </a:r>
          </a:p>
          <a:p>
            <a:pPr>
              <a:spcAft>
                <a:spcPts val="0"/>
              </a:spcAft>
              <a:buClrTx/>
              <a:buFont typeface="Wingdings" panose="05000000000000000000" pitchFamily="2" charset="2"/>
              <a:buChar char="q"/>
              <a:defRPr/>
            </a:pPr>
            <a:r>
              <a:rPr lang="en-US" sz="1400" dirty="0">
                <a:solidFill>
                  <a:schemeClr val="tx1"/>
                </a:solidFill>
              </a:rPr>
              <a:t>    can’t cross the file system boundaries,</a:t>
            </a:r>
          </a:p>
          <a:p>
            <a:pPr>
              <a:spcAft>
                <a:spcPts val="0"/>
              </a:spcAft>
              <a:buClrTx/>
              <a:buFont typeface="Wingdings" panose="05000000000000000000" pitchFamily="2" charset="2"/>
              <a:buChar char="q"/>
              <a:defRPr/>
            </a:pPr>
            <a:r>
              <a:rPr lang="en-US" sz="1400" dirty="0">
                <a:solidFill>
                  <a:schemeClr val="tx1"/>
                </a:solidFill>
              </a:rPr>
              <a:t>    can’t link directories,</a:t>
            </a:r>
          </a:p>
          <a:p>
            <a:pPr>
              <a:spcAft>
                <a:spcPts val="0"/>
              </a:spcAft>
              <a:buClrTx/>
              <a:buFont typeface="Wingdings" panose="05000000000000000000" pitchFamily="2" charset="2"/>
              <a:buChar char="q"/>
              <a:defRPr/>
            </a:pPr>
            <a:r>
              <a:rPr lang="en-US" sz="1400" dirty="0">
                <a:solidFill>
                  <a:schemeClr val="tx1"/>
                </a:solidFill>
              </a:rPr>
              <a:t>    has the same </a:t>
            </a:r>
            <a:r>
              <a:rPr lang="en-US" sz="1400" dirty="0" err="1">
                <a:solidFill>
                  <a:schemeClr val="tx1"/>
                </a:solidFill>
              </a:rPr>
              <a:t>inodes</a:t>
            </a:r>
            <a:r>
              <a:rPr lang="en-US" sz="1400" dirty="0">
                <a:solidFill>
                  <a:schemeClr val="tx1"/>
                </a:solidFill>
              </a:rPr>
              <a:t> number and permissions of original file,</a:t>
            </a:r>
          </a:p>
          <a:p>
            <a:pPr>
              <a:spcAft>
                <a:spcPts val="0"/>
              </a:spcAft>
              <a:buClrTx/>
              <a:buFont typeface="Wingdings" panose="05000000000000000000" pitchFamily="2" charset="2"/>
              <a:buChar char="q"/>
              <a:defRPr/>
            </a:pPr>
            <a:r>
              <a:rPr lang="en-US" sz="1400" dirty="0">
                <a:solidFill>
                  <a:schemeClr val="tx1"/>
                </a:solidFill>
              </a:rPr>
              <a:t>    permissions will be updated if we change the permissions of source file,</a:t>
            </a: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Manage Links Between Files</a:t>
            </a:r>
          </a:p>
        </p:txBody>
      </p:sp>
    </p:spTree>
    <p:extLst>
      <p:ext uri="{BB962C8B-B14F-4D97-AF65-F5344CB8AC3E}">
        <p14:creationId xmlns:p14="http://schemas.microsoft.com/office/powerpoint/2010/main" val="331535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1" end="1"/>
                                            </p:txEl>
                                          </p:spTgt>
                                        </p:tgtEl>
                                        <p:attrNameLst>
                                          <p:attrName>style.visibility</p:attrName>
                                        </p:attrNameLst>
                                      </p:cBhvr>
                                      <p:to>
                                        <p:strVal val="visible"/>
                                      </p:to>
                                    </p:set>
                                    <p:anim calcmode="lin" valueType="num">
                                      <p:cBhvr additive="base">
                                        <p:cTn id="11"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2" end="2"/>
                                            </p:txEl>
                                          </p:spTgt>
                                        </p:tgtEl>
                                        <p:attrNameLst>
                                          <p:attrName>style.visibility</p:attrName>
                                        </p:attrNameLst>
                                      </p:cBhvr>
                                      <p:to>
                                        <p:strVal val="visible"/>
                                      </p:to>
                                    </p:set>
                                    <p:anim calcmode="lin" valueType="num">
                                      <p:cBhvr additive="base">
                                        <p:cTn id="15"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5">
                                            <p:txEl>
                                              <p:pRg st="4" end="4"/>
                                            </p:txEl>
                                          </p:spTgt>
                                        </p:tgtEl>
                                        <p:attrNameLst>
                                          <p:attrName>style.visibility</p:attrName>
                                        </p:attrNameLst>
                                      </p:cBhvr>
                                      <p:to>
                                        <p:strVal val="visible"/>
                                      </p:to>
                                    </p:set>
                                    <p:anim calcmode="lin" valueType="num">
                                      <p:cBhvr additive="base">
                                        <p:cTn id="23"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5">
                                            <p:txEl>
                                              <p:pRg st="6" end="6"/>
                                            </p:txEl>
                                          </p:spTgt>
                                        </p:tgtEl>
                                        <p:attrNameLst>
                                          <p:attrName>style.visibility</p:attrName>
                                        </p:attrNameLst>
                                      </p:cBhvr>
                                      <p:to>
                                        <p:strVal val="visible"/>
                                      </p:to>
                                    </p:set>
                                    <p:anim calcmode="lin" valueType="num">
                                      <p:cBhvr additive="base">
                                        <p:cTn id="29"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
                                            <p:txEl>
                                              <p:pRg st="7" end="7"/>
                                            </p:txEl>
                                          </p:spTgt>
                                        </p:tgtEl>
                                        <p:attrNameLst>
                                          <p:attrName>style.visibility</p:attrName>
                                        </p:attrNameLst>
                                      </p:cBhvr>
                                      <p:to>
                                        <p:strVal val="visible"/>
                                      </p:to>
                                    </p:set>
                                    <p:anim calcmode="lin" valueType="num">
                                      <p:cBhvr additive="base">
                                        <p:cTn id="33"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
                                            <p:txEl>
                                              <p:pRg st="8" end="8"/>
                                            </p:txEl>
                                          </p:spTgt>
                                        </p:tgtEl>
                                        <p:attrNameLst>
                                          <p:attrName>style.visibility</p:attrName>
                                        </p:attrNameLst>
                                      </p:cBhvr>
                                      <p:to>
                                        <p:strVal val="visible"/>
                                      </p:to>
                                    </p:set>
                                    <p:anim calcmode="lin" valueType="num">
                                      <p:cBhvr additive="base">
                                        <p:cTn id="37"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5">
                                            <p:txEl>
                                              <p:pRg st="9" end="9"/>
                                            </p:txEl>
                                          </p:spTgt>
                                        </p:tgtEl>
                                        <p:attrNameLst>
                                          <p:attrName>style.visibility</p:attrName>
                                        </p:attrNameLst>
                                      </p:cBhvr>
                                      <p:to>
                                        <p:strVal val="visible"/>
                                      </p:to>
                                    </p:set>
                                    <p:anim calcmode="lin" valueType="num">
                                      <p:cBhvr additive="base">
                                        <p:cTn id="41"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5">
                                            <p:txEl>
                                              <p:pRg st="10" end="10"/>
                                            </p:txEl>
                                          </p:spTgt>
                                        </p:tgtEl>
                                        <p:attrNameLst>
                                          <p:attrName>style.visibility</p:attrName>
                                        </p:attrNameLst>
                                      </p:cBhvr>
                                      <p:to>
                                        <p:strVal val="visible"/>
                                      </p:to>
                                    </p:set>
                                    <p:anim calcmode="lin" valueType="num">
                                      <p:cBhvr additive="base">
                                        <p:cTn id="45"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8442569" cy="689251"/>
          </a:xfrm>
        </p:spPr>
        <p:txBody>
          <a:bodyPr>
            <a:normAutofit/>
          </a:bodyPr>
          <a:lstStyle/>
          <a:p>
            <a:r>
              <a:rPr lang="en-US" sz="3000" b="1" dirty="0"/>
              <a:t>Match File Name with Shell Expansions</a:t>
            </a:r>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Shikhar Verma</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18</a:t>
            </a:fld>
            <a:endParaRPr lang="en-US" dirty="0"/>
          </a:p>
        </p:txBody>
      </p:sp>
      <p:pic>
        <p:nvPicPr>
          <p:cNvPr id="44" name="Picture Placeholder 43">
            <a:extLst>
              <a:ext uri="{FF2B5EF4-FFF2-40B4-BE49-F238E27FC236}">
                <a16:creationId xmlns:a16="http://schemas.microsoft.com/office/drawing/2014/main" id="{51F9D3CA-DA56-6299-F965-FFEC8FD34628}"/>
              </a:ext>
            </a:extLst>
          </p:cNvPr>
          <p:cNvPicPr>
            <a:picLocks noGrp="1" noChangeAspect="1"/>
          </p:cNvPicPr>
          <p:nvPr>
            <p:ph type="pic" sz="quarter" idx="11"/>
          </p:nvPr>
        </p:nvPicPr>
        <p:blipFill>
          <a:blip r:embed="rId4"/>
          <a:srcRect l="6734" r="6734"/>
          <a:stretch>
            <a:fillRect/>
          </a:stretch>
        </p:blipFill>
        <p:spPr/>
      </p:pic>
      <p:sp>
        <p:nvSpPr>
          <p:cNvPr id="2" name="Text Placeholder 11">
            <a:extLst>
              <a:ext uri="{FF2B5EF4-FFF2-40B4-BE49-F238E27FC236}">
                <a16:creationId xmlns:a16="http://schemas.microsoft.com/office/drawing/2014/main" id="{37EDD402-851E-F41E-7930-5567BCF4BF90}"/>
              </a:ext>
            </a:extLst>
          </p:cNvPr>
          <p:cNvSpPr txBox="1">
            <a:spLocks/>
          </p:cNvSpPr>
          <p:nvPr/>
        </p:nvSpPr>
        <p:spPr>
          <a:xfrm>
            <a:off x="796322" y="1907337"/>
            <a:ext cx="8313172" cy="2532966"/>
          </a:xfrm>
          <a:prstGeom prst="rect">
            <a:avLst/>
          </a:prstGeom>
        </p:spPr>
        <p:txBody>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Tx/>
              <a:buFont typeface="Wingdings" panose="05000000000000000000" pitchFamily="2" charset="2"/>
              <a:buChar char="q"/>
            </a:pPr>
            <a:r>
              <a:rPr lang="en-US" sz="1400" dirty="0"/>
              <a:t>The Bash shell has multiple ways of expanding a command line, including</a:t>
            </a:r>
          </a:p>
          <a:p>
            <a:r>
              <a:rPr lang="en-US" sz="1400" dirty="0"/>
              <a:t>Pattern matching, home directory expansion, string expansion, and </a:t>
            </a:r>
          </a:p>
          <a:p>
            <a:r>
              <a:rPr lang="en-US" sz="1400" dirty="0"/>
              <a:t>variable substitution.</a:t>
            </a:r>
          </a:p>
        </p:txBody>
      </p:sp>
    </p:spTree>
    <p:extLst>
      <p:ext uri="{BB962C8B-B14F-4D97-AF65-F5344CB8AC3E}">
        <p14:creationId xmlns:p14="http://schemas.microsoft.com/office/powerpoint/2010/main" val="193651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Getting Help in Red Hat Enterprise Linux</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dirty="0"/>
              <a:t>Introduction to the Linux Manual Pages</a:t>
            </a:r>
          </a:p>
          <a:p>
            <a:r>
              <a:rPr lang="en-US" dirty="0"/>
              <a:t>Navigate and Search man Pages</a:t>
            </a:r>
          </a:p>
          <a:p>
            <a:r>
              <a:rPr lang="en-US" dirty="0"/>
              <a:t>Search for man pages by Keyword</a:t>
            </a:r>
          </a:p>
          <a:p>
            <a:r>
              <a:rPr lang="en-US" dirty="0"/>
              <a:t>Lab: Get Help in Red Hat Enterprise Linux</a:t>
            </a:r>
          </a:p>
          <a:p>
            <a:pPr marL="0" indent="0">
              <a:buNone/>
            </a:pPr>
            <a:endParaRPr lang="en-US" dirty="0"/>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4272829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20</a:t>
            </a:fld>
            <a:endParaRPr lang="en-US"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Getting Help in Red Hat Enterprise Linux</a:t>
            </a:r>
          </a:p>
        </p:txBody>
      </p:sp>
      <p:pic>
        <p:nvPicPr>
          <p:cNvPr id="6" name="Picture 5">
            <a:extLst>
              <a:ext uri="{FF2B5EF4-FFF2-40B4-BE49-F238E27FC236}">
                <a16:creationId xmlns:a16="http://schemas.microsoft.com/office/drawing/2014/main" id="{04D79FF5-E0CC-3AD0-5CFB-23D15F31119D}"/>
              </a:ext>
            </a:extLst>
          </p:cNvPr>
          <p:cNvPicPr>
            <a:picLocks noChangeAspect="1"/>
          </p:cNvPicPr>
          <p:nvPr/>
        </p:nvPicPr>
        <p:blipFill>
          <a:blip r:embed="rId2"/>
          <a:stretch>
            <a:fillRect/>
          </a:stretch>
        </p:blipFill>
        <p:spPr>
          <a:xfrm>
            <a:off x="2156411" y="1638415"/>
            <a:ext cx="6119390" cy="3977985"/>
          </a:xfrm>
          <a:prstGeom prst="rect">
            <a:avLst/>
          </a:prstGeom>
        </p:spPr>
      </p:pic>
    </p:spTree>
    <p:extLst>
      <p:ext uri="{BB962C8B-B14F-4D97-AF65-F5344CB8AC3E}">
        <p14:creationId xmlns:p14="http://schemas.microsoft.com/office/powerpoint/2010/main" val="2300330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sz="2300" dirty="0"/>
              <a:t>Create, View, and Edit Text Files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dirty="0"/>
              <a:t>Standard Input, Standard Output, and Standard Error</a:t>
            </a:r>
          </a:p>
          <a:p>
            <a:r>
              <a:rPr lang="en-US" dirty="0"/>
              <a:t>Redirect Output to a File or Program</a:t>
            </a:r>
          </a:p>
          <a:p>
            <a:r>
              <a:rPr lang="en-US" dirty="0"/>
              <a:t>Examples for Output Redirection</a:t>
            </a:r>
          </a:p>
          <a:p>
            <a:r>
              <a:rPr lang="en-US" dirty="0"/>
              <a:t>Construct Pipelines</a:t>
            </a:r>
          </a:p>
          <a:p>
            <a:r>
              <a:rPr lang="en-US" dirty="0"/>
              <a:t>Pipelines Examples</a:t>
            </a:r>
          </a:p>
          <a:p>
            <a:pPr marL="0" indent="0">
              <a:buNone/>
            </a:pPr>
            <a:endParaRPr lang="en-US" dirty="0"/>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3954197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22</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279924"/>
          </a:xfrm>
          <a:prstGeom prst="rect">
            <a:avLst/>
          </a:prstGeom>
          <a:solidFill>
            <a:schemeClr val="bg2"/>
          </a:solidFill>
          <a:ln>
            <a:solidFill>
              <a:schemeClr val="tx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Input Output Redirection in Linux</a:t>
            </a:r>
          </a:p>
          <a:p>
            <a:pPr marL="74295">
              <a:spcAft>
                <a:spcPts val="0"/>
              </a:spcAft>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Every process in Linux is provided with three open files( usually called file descriptor). These files are the standard input, output and error files. </a:t>
            </a:r>
          </a:p>
          <a:p>
            <a:pPr>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Standard Input, often abbreviated stdin, is the input data or a program. It is by default any text entered from the keyboard.</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Standard Output, command line programs write to standard output, sometimes abbreviated </a:t>
            </a:r>
            <a:r>
              <a:rPr lang="en-US" sz="1400" dirty="0" err="1">
                <a:solidFill>
                  <a:schemeClr val="tx1">
                    <a:lumMod val="75000"/>
                    <a:lumOff val="25000"/>
                  </a:schemeClr>
                </a:solidFill>
              </a:rPr>
              <a:t>stdout</a:t>
            </a:r>
            <a:r>
              <a:rPr lang="en-US" sz="1400" dirty="0">
                <a:solidFill>
                  <a:schemeClr val="tx1">
                    <a:lumMod val="75000"/>
                    <a:lumOff val="25000"/>
                  </a:schemeClr>
                </a:solidFill>
              </a:rPr>
              <a:t>. Its default destination is generally the display screen, but it can be redirected</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Standard Error, command line programs send error messages to the user via standard error, abbreviated stderr.</a:t>
            </a: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Create, View, and Edit Text Files</a:t>
            </a:r>
          </a:p>
        </p:txBody>
      </p:sp>
    </p:spTree>
    <p:extLst>
      <p:ext uri="{BB962C8B-B14F-4D97-AF65-F5344CB8AC3E}">
        <p14:creationId xmlns:p14="http://schemas.microsoft.com/office/powerpoint/2010/main" val="73946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8" end="8"/>
                                            </p:txEl>
                                          </p:spTgt>
                                        </p:tgtEl>
                                        <p:attrNameLst>
                                          <p:attrName>style.visibility</p:attrName>
                                        </p:attrNameLst>
                                      </p:cBhvr>
                                      <p:to>
                                        <p:strVal val="visible"/>
                                      </p:to>
                                    </p:set>
                                    <p:anim calcmode="lin" valueType="num">
                                      <p:cBhvr additive="base">
                                        <p:cTn id="31"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23</a:t>
            </a:fld>
            <a:endParaRPr lang="en-US" dirty="0"/>
          </a:p>
        </p:txBody>
      </p:sp>
      <p:pic>
        <p:nvPicPr>
          <p:cNvPr id="4" name="Picture 3">
            <a:extLst>
              <a:ext uri="{FF2B5EF4-FFF2-40B4-BE49-F238E27FC236}">
                <a16:creationId xmlns:a16="http://schemas.microsoft.com/office/drawing/2014/main" id="{CB83520B-6D6C-51AD-A505-80F3F3EE8B2A}"/>
              </a:ext>
            </a:extLst>
          </p:cNvPr>
          <p:cNvPicPr>
            <a:picLocks noChangeAspect="1"/>
          </p:cNvPicPr>
          <p:nvPr/>
        </p:nvPicPr>
        <p:blipFill>
          <a:blip r:embed="rId2"/>
          <a:stretch>
            <a:fillRect/>
          </a:stretch>
        </p:blipFill>
        <p:spPr>
          <a:xfrm>
            <a:off x="3148642" y="477484"/>
            <a:ext cx="6027691" cy="590303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268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279924"/>
          </a:xfrm>
          <a:prstGeom prst="rect">
            <a:avLst/>
          </a:prstGeom>
          <a:solidFill>
            <a:schemeClr val="bg2"/>
          </a:solidFill>
          <a:ln>
            <a:solidFill>
              <a:schemeClr val="tx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Construct Pipelines</a:t>
            </a:r>
          </a:p>
          <a:p>
            <a:pPr marL="74295">
              <a:spcAft>
                <a:spcPts val="0"/>
              </a:spcAft>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A pipeline is a sequence of one or more commands that are separated by the vertical bar character(|). A pipeline connects the standard output of the first command to the standard input of the next command. </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Examples:</a:t>
            </a:r>
          </a:p>
          <a:p>
            <a:pPr marL="360045" indent="-285750">
              <a:spcAft>
                <a:spcPts val="0"/>
              </a:spcAft>
              <a:buClrTx/>
              <a:buFont typeface="Arial" panose="020B0604020202020204" pitchFamily="34" charset="0"/>
              <a:buChar char="•"/>
              <a:defRPr/>
            </a:pPr>
            <a:r>
              <a:rPr lang="en-US" sz="1400" dirty="0">
                <a:solidFill>
                  <a:schemeClr val="tx1">
                    <a:lumMod val="75000"/>
                    <a:lumOff val="25000"/>
                  </a:schemeClr>
                </a:solidFill>
              </a:rPr>
              <a:t>[</a:t>
            </a:r>
            <a:r>
              <a:rPr lang="en-US" sz="1400" dirty="0" err="1">
                <a:solidFill>
                  <a:schemeClr val="tx1">
                    <a:lumMod val="75000"/>
                    <a:lumOff val="25000"/>
                  </a:schemeClr>
                </a:solidFill>
              </a:rPr>
              <a:t>user@host</a:t>
            </a:r>
            <a:r>
              <a:rPr lang="en-US" sz="1400" dirty="0">
                <a:solidFill>
                  <a:schemeClr val="tx1">
                    <a:lumMod val="75000"/>
                    <a:lumOff val="25000"/>
                  </a:schemeClr>
                </a:solidFill>
              </a:rPr>
              <a:t> ~]$ ls | </a:t>
            </a:r>
            <a:r>
              <a:rPr lang="en-US" sz="1400" dirty="0" err="1">
                <a:solidFill>
                  <a:schemeClr val="tx1">
                    <a:lumMod val="75000"/>
                    <a:lumOff val="25000"/>
                  </a:schemeClr>
                </a:solidFill>
              </a:rPr>
              <a:t>wc</a:t>
            </a:r>
            <a:r>
              <a:rPr lang="en-US" sz="1400" dirty="0">
                <a:solidFill>
                  <a:schemeClr val="tx1">
                    <a:lumMod val="75000"/>
                    <a:lumOff val="25000"/>
                  </a:schemeClr>
                </a:solidFill>
              </a:rPr>
              <a:t> -l</a:t>
            </a:r>
          </a:p>
          <a:p>
            <a:pPr marL="360045" indent="-285750">
              <a:spcAft>
                <a:spcPts val="0"/>
              </a:spcAft>
              <a:buClrTx/>
              <a:buFont typeface="Arial" panose="020B0604020202020204" pitchFamily="34" charset="0"/>
              <a:buChar char="•"/>
              <a:defRPr/>
            </a:pPr>
            <a:r>
              <a:rPr lang="en-US" sz="1400" dirty="0">
                <a:solidFill>
                  <a:schemeClr val="tx1">
                    <a:lumMod val="75000"/>
                    <a:lumOff val="25000"/>
                  </a:schemeClr>
                </a:solidFill>
              </a:rPr>
              <a:t>[</a:t>
            </a:r>
            <a:r>
              <a:rPr lang="en-US" sz="1400" dirty="0" err="1">
                <a:solidFill>
                  <a:schemeClr val="tx1">
                    <a:lumMod val="75000"/>
                    <a:lumOff val="25000"/>
                  </a:schemeClr>
                </a:solidFill>
              </a:rPr>
              <a:t>user@host</a:t>
            </a:r>
            <a:r>
              <a:rPr lang="en-US" sz="1400" dirty="0">
                <a:solidFill>
                  <a:schemeClr val="tx1">
                    <a:lumMod val="75000"/>
                    <a:lumOff val="25000"/>
                  </a:schemeClr>
                </a:solidFill>
              </a:rPr>
              <a:t> ~]$ ls -l /</a:t>
            </a:r>
            <a:r>
              <a:rPr lang="en-US" sz="1400" dirty="0" err="1">
                <a:solidFill>
                  <a:schemeClr val="tx1">
                    <a:lumMod val="75000"/>
                    <a:lumOff val="25000"/>
                  </a:schemeClr>
                </a:solidFill>
              </a:rPr>
              <a:t>usr</a:t>
            </a:r>
            <a:r>
              <a:rPr lang="en-US" sz="1400" dirty="0">
                <a:solidFill>
                  <a:schemeClr val="tx1">
                    <a:lumMod val="75000"/>
                    <a:lumOff val="25000"/>
                  </a:schemeClr>
                </a:solidFill>
              </a:rPr>
              <a:t>/bin | less</a:t>
            </a:r>
          </a:p>
          <a:p>
            <a:pPr>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Create, View, and Edit Text Files</a:t>
            </a:r>
          </a:p>
        </p:txBody>
      </p:sp>
      <p:pic>
        <p:nvPicPr>
          <p:cNvPr id="4" name="Picture 3">
            <a:extLst>
              <a:ext uri="{FF2B5EF4-FFF2-40B4-BE49-F238E27FC236}">
                <a16:creationId xmlns:a16="http://schemas.microsoft.com/office/drawing/2014/main" id="{ACD1515A-EE0B-E106-E027-8121BFF57AF8}"/>
              </a:ext>
            </a:extLst>
          </p:cNvPr>
          <p:cNvPicPr>
            <a:picLocks noChangeAspect="1"/>
          </p:cNvPicPr>
          <p:nvPr/>
        </p:nvPicPr>
        <p:blipFill>
          <a:blip r:embed="rId2"/>
          <a:stretch>
            <a:fillRect/>
          </a:stretch>
        </p:blipFill>
        <p:spPr>
          <a:xfrm>
            <a:off x="3497355" y="3084285"/>
            <a:ext cx="5197290" cy="96782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6966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7" end="7"/>
                                            </p:txEl>
                                          </p:spTgt>
                                        </p:tgtEl>
                                        <p:attrNameLst>
                                          <p:attrName>style.visibility</p:attrName>
                                        </p:attrNameLst>
                                      </p:cBhvr>
                                      <p:to>
                                        <p:strVal val="visible"/>
                                      </p:to>
                                    </p:set>
                                    <p:anim calcmode="lin" valueType="num">
                                      <p:cBhvr additive="base">
                                        <p:cTn id="19"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8" end="8"/>
                                            </p:txEl>
                                          </p:spTgt>
                                        </p:tgtEl>
                                        <p:attrNameLst>
                                          <p:attrName>style.visibility</p:attrName>
                                        </p:attrNameLst>
                                      </p:cBhvr>
                                      <p:to>
                                        <p:strVal val="visible"/>
                                      </p:to>
                                    </p:set>
                                    <p:anim calcmode="lin" valueType="num">
                                      <p:cBhvr additive="base">
                                        <p:cTn id="25"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 calcmode="lin" valueType="num">
                                      <p:cBhvr additive="base">
                                        <p:cTn id="31"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734822"/>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Edit Files with Vim</a:t>
            </a:r>
          </a:p>
          <a:p>
            <a:pPr marL="74295">
              <a:spcAft>
                <a:spcPts val="0"/>
              </a:spcAft>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Vim</a:t>
            </a:r>
            <a:r>
              <a:rPr lang="en-US" sz="1400" dirty="0">
                <a:solidFill>
                  <a:schemeClr val="tx1">
                    <a:lumMod val="75000"/>
                    <a:lumOff val="25000"/>
                  </a:schemeClr>
                </a:solidFill>
              </a:rPr>
              <a:t> is an improved version of the vi editor, which is distributed with Linux and UNIX systems.</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Vim</a:t>
            </a:r>
            <a:r>
              <a:rPr lang="en-US" sz="1400" dirty="0">
                <a:solidFill>
                  <a:schemeClr val="tx1">
                    <a:lumMod val="75000"/>
                    <a:lumOff val="25000"/>
                  </a:schemeClr>
                </a:solidFill>
              </a:rPr>
              <a:t> is highly configurable and efficient for practiced users, including split-screen editing, color formatting, and highlighting for editing text.</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Vim Operating Modes</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It has several modes of operation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Command Mode  </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Insert Mode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Extended Command Mode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Visual Mode</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Create, View, and Edit Text Files</a:t>
            </a:r>
          </a:p>
        </p:txBody>
      </p:sp>
    </p:spTree>
    <p:extLst>
      <p:ext uri="{BB962C8B-B14F-4D97-AF65-F5344CB8AC3E}">
        <p14:creationId xmlns:p14="http://schemas.microsoft.com/office/powerpoint/2010/main" val="54498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
                                            <p:txEl>
                                              <p:pRg st="3" end="3"/>
                                            </p:txEl>
                                          </p:spTgt>
                                        </p:tgtEl>
                                        <p:attrNameLst>
                                          <p:attrName>style.visibility</p:attrName>
                                        </p:attrNameLst>
                                      </p:cBhvr>
                                      <p:to>
                                        <p:strVal val="visible"/>
                                      </p:to>
                                    </p:set>
                                    <p:anim calcmode="lin" valueType="num">
                                      <p:cBhvr additive="base">
                                        <p:cTn id="17"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5">
                                            <p:txEl>
                                              <p:pRg st="5" end="5"/>
                                            </p:txEl>
                                          </p:spTgt>
                                        </p:tgtEl>
                                        <p:attrNameLst>
                                          <p:attrName>style.visibility</p:attrName>
                                        </p:attrNameLst>
                                      </p:cBhvr>
                                      <p:to>
                                        <p:strVal val="visible"/>
                                      </p:to>
                                    </p:set>
                                    <p:anim calcmode="lin" valueType="num">
                                      <p:cBhvr additive="base">
                                        <p:cTn id="23"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5">
                                            <p:txEl>
                                              <p:pRg st="7" end="7"/>
                                            </p:txEl>
                                          </p:spTgt>
                                        </p:tgtEl>
                                        <p:attrNameLst>
                                          <p:attrName>style.visibility</p:attrName>
                                        </p:attrNameLst>
                                      </p:cBhvr>
                                      <p:to>
                                        <p:strVal val="visible"/>
                                      </p:to>
                                    </p:set>
                                    <p:anim calcmode="lin" valueType="num">
                                      <p:cBhvr additive="base">
                                        <p:cTn id="27"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5">
                                            <p:txEl>
                                              <p:pRg st="8" end="8"/>
                                            </p:txEl>
                                          </p:spTgt>
                                        </p:tgtEl>
                                        <p:attrNameLst>
                                          <p:attrName>style.visibility</p:attrName>
                                        </p:attrNameLst>
                                      </p:cBhvr>
                                      <p:to>
                                        <p:strVal val="visible"/>
                                      </p:to>
                                    </p:set>
                                    <p:anim calcmode="lin" valueType="num">
                                      <p:cBhvr additive="base">
                                        <p:cTn id="31"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5">
                                            <p:txEl>
                                              <p:pRg st="9" end="9"/>
                                            </p:txEl>
                                          </p:spTgt>
                                        </p:tgtEl>
                                        <p:attrNameLst>
                                          <p:attrName>style.visibility</p:attrName>
                                        </p:attrNameLst>
                                      </p:cBhvr>
                                      <p:to>
                                        <p:strVal val="visible"/>
                                      </p:to>
                                    </p:set>
                                    <p:anim calcmode="lin" valueType="num">
                                      <p:cBhvr additive="base">
                                        <p:cTn id="35"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5">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5">
                                            <p:txEl>
                                              <p:pRg st="10" end="10"/>
                                            </p:txEl>
                                          </p:spTgt>
                                        </p:tgtEl>
                                        <p:attrNameLst>
                                          <p:attrName>style.visibility</p:attrName>
                                        </p:attrNameLst>
                                      </p:cBhvr>
                                      <p:to>
                                        <p:strVal val="visible"/>
                                      </p:to>
                                    </p:set>
                                    <p:anim calcmode="lin" valueType="num">
                                      <p:cBhvr additive="base">
                                        <p:cTn id="39"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5">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5">
                                            <p:txEl>
                                              <p:pRg st="11" end="11"/>
                                            </p:txEl>
                                          </p:spTgt>
                                        </p:tgtEl>
                                        <p:attrNameLst>
                                          <p:attrName>style.visibility</p:attrName>
                                        </p:attrNameLst>
                                      </p:cBhvr>
                                      <p:to>
                                        <p:strVal val="visible"/>
                                      </p:to>
                                    </p:set>
                                    <p:anim calcmode="lin" valueType="num">
                                      <p:cBhvr additive="base">
                                        <p:cTn id="43" dur="500" fill="hold"/>
                                        <p:tgtEl>
                                          <p:spTgt spid="35">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734822"/>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Change the Shell Environment </a:t>
            </a:r>
          </a:p>
          <a:p>
            <a:pPr marL="74295">
              <a:spcAft>
                <a:spcPts val="0"/>
              </a:spcAft>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Set shell variables to run commands, and edit Bash startup scripts to set shell and environment variables to modify the behavior of the shell and programs that are run from the shell.</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Shall Variable Usage</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Assign Values to Variables</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Retrieve Values with Variable Expansion</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Configure Bash with Shell Variables</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Configure Programs with Environment Variables</a:t>
            </a:r>
          </a:p>
          <a:p>
            <a:pPr marL="360045" indent="-285750">
              <a:spcAft>
                <a:spcPts val="0"/>
              </a:spcAft>
              <a:buClrTx/>
              <a:buFont typeface="Wingdings" panose="05000000000000000000" pitchFamily="2" charset="2"/>
              <a:buChar char="Ø"/>
              <a:defRPr/>
            </a:pPr>
            <a:r>
              <a:rPr lang="en-US" sz="1400" b="1" dirty="0">
                <a:solidFill>
                  <a:schemeClr val="tx1">
                    <a:lumMod val="75000"/>
                    <a:lumOff val="25000"/>
                  </a:schemeClr>
                </a:solidFill>
              </a:rPr>
              <a:t>Set the Default Text Editor</a:t>
            </a:r>
          </a:p>
          <a:p>
            <a:pPr marL="360045" indent="-285750">
              <a:spcAft>
                <a:spcPts val="0"/>
              </a:spcAft>
              <a:buClrTx/>
              <a:buFont typeface="Wingdings" panose="05000000000000000000" pitchFamily="2" charset="2"/>
              <a:buChar char="Ø"/>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Create, View, and Edit Text Files</a:t>
            </a:r>
          </a:p>
        </p:txBody>
      </p:sp>
    </p:spTree>
    <p:extLst>
      <p:ext uri="{BB962C8B-B14F-4D97-AF65-F5344CB8AC3E}">
        <p14:creationId xmlns:p14="http://schemas.microsoft.com/office/powerpoint/2010/main" val="31310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6" end="6"/>
                                            </p:txEl>
                                          </p:spTgt>
                                        </p:tgtEl>
                                        <p:attrNameLst>
                                          <p:attrName>style.visibility</p:attrName>
                                        </p:attrNameLst>
                                      </p:cBhvr>
                                      <p:to>
                                        <p:strVal val="visible"/>
                                      </p:to>
                                    </p:set>
                                    <p:anim calcmode="lin" valueType="num">
                                      <p:cBhvr additive="base">
                                        <p:cTn id="31"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5">
                                            <p:txEl>
                                              <p:pRg st="7" end="7"/>
                                            </p:txEl>
                                          </p:spTgt>
                                        </p:tgtEl>
                                        <p:attrNameLst>
                                          <p:attrName>style.visibility</p:attrName>
                                        </p:attrNameLst>
                                      </p:cBhvr>
                                      <p:to>
                                        <p:strVal val="visible"/>
                                      </p:to>
                                    </p:set>
                                    <p:anim calcmode="lin" valueType="num">
                                      <p:cBhvr additive="base">
                                        <p:cTn id="37"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5">
                                            <p:txEl>
                                              <p:pRg st="8" end="8"/>
                                            </p:txEl>
                                          </p:spTgt>
                                        </p:tgtEl>
                                        <p:attrNameLst>
                                          <p:attrName>style.visibility</p:attrName>
                                        </p:attrNameLst>
                                      </p:cBhvr>
                                      <p:to>
                                        <p:strVal val="visible"/>
                                      </p:to>
                                    </p:set>
                                    <p:anim calcmode="lin" valueType="num">
                                      <p:cBhvr additive="base">
                                        <p:cTn id="43"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5">
                                            <p:txEl>
                                              <p:pRg st="9" end="9"/>
                                            </p:txEl>
                                          </p:spTgt>
                                        </p:tgtEl>
                                        <p:attrNameLst>
                                          <p:attrName>style.visibility</p:attrName>
                                        </p:attrNameLst>
                                      </p:cBhvr>
                                      <p:to>
                                        <p:strVal val="visible"/>
                                      </p:to>
                                    </p:set>
                                    <p:anim calcmode="lin" valueType="num">
                                      <p:cBhvr additive="base">
                                        <p:cTn id="49"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27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428235"/>
            <a:ext cx="10502241" cy="4734822"/>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Less command in Linux</a:t>
            </a:r>
          </a:p>
          <a:p>
            <a:pPr marL="74295">
              <a:spcAft>
                <a:spcPts val="0"/>
              </a:spcAft>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The ‘less’ command works by reading the file one screen at a time, which makes it faster and more efficient for large files compared to commands like ‘cat’, which read the entire file into memory before displaying it.</a:t>
            </a: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It includes several additional features that make it a powerful tool for viewing and navigating files in Linux.</a:t>
            </a: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Let’s take a look at an example of how the ‘less’ command interacts with the Linux file system:</a:t>
            </a:r>
          </a:p>
          <a:p>
            <a:pPr marL="74295" indent="0">
              <a:spcAft>
                <a:spcPts val="0"/>
              </a:spcAft>
              <a:buClrTx/>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dirty="0">
                <a:solidFill>
                  <a:schemeClr val="tx1">
                    <a:lumMod val="75000"/>
                    <a:lumOff val="25000"/>
                  </a:schemeClr>
                </a:solidFill>
              </a:rPr>
              <a:t>less /var/log/syslog</a:t>
            </a:r>
          </a:p>
          <a:p>
            <a:pPr marL="74295" indent="0">
              <a:spcAft>
                <a:spcPts val="0"/>
              </a:spcAft>
              <a:buClrTx/>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In this example, we’re using the ‘less’ command to view the system log file located in the /var/log directory. </a:t>
            </a:r>
          </a:p>
          <a:p>
            <a:pPr marL="360045" indent="-285750">
              <a:spcAft>
                <a:spcPts val="0"/>
              </a:spcAft>
              <a:buClrTx/>
              <a:buFont typeface="Wingdings" panose="05000000000000000000" pitchFamily="2" charset="2"/>
              <a:buChar char="Ø"/>
              <a:defRPr/>
            </a:pPr>
            <a:r>
              <a:rPr lang="en-US" sz="1400" dirty="0">
                <a:solidFill>
                  <a:schemeClr val="tx1">
                    <a:lumMod val="75000"/>
                    <a:lumOff val="25000"/>
                  </a:schemeClr>
                </a:solidFill>
              </a:rPr>
              <a:t>The ‘less’ command reads the file one screen at a time, allowing you to navigate through it without loading the entire file into memory.</a:t>
            </a: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Create, View, and Edit Text Files</a:t>
            </a:r>
          </a:p>
        </p:txBody>
      </p:sp>
    </p:spTree>
    <p:extLst>
      <p:ext uri="{BB962C8B-B14F-4D97-AF65-F5344CB8AC3E}">
        <p14:creationId xmlns:p14="http://schemas.microsoft.com/office/powerpoint/2010/main" val="247867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8" end="8"/>
                                            </p:txEl>
                                          </p:spTgt>
                                        </p:tgtEl>
                                        <p:attrNameLst>
                                          <p:attrName>style.visibility</p:attrName>
                                        </p:attrNameLst>
                                      </p:cBhvr>
                                      <p:to>
                                        <p:strVal val="visible"/>
                                      </p:to>
                                    </p:set>
                                    <p:anim calcmode="lin" valueType="num">
                                      <p:cBhvr additive="base">
                                        <p:cTn id="31"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5">
                                            <p:txEl>
                                              <p:pRg st="9" end="9"/>
                                            </p:txEl>
                                          </p:spTgt>
                                        </p:tgtEl>
                                        <p:attrNameLst>
                                          <p:attrName>style.visibility</p:attrName>
                                        </p:attrNameLst>
                                      </p:cBhvr>
                                      <p:to>
                                        <p:strVal val="visible"/>
                                      </p:to>
                                    </p:set>
                                    <p:anim calcmode="lin" valueType="num">
                                      <p:cBhvr additive="base">
                                        <p:cTn id="37"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sz="2300" dirty="0"/>
              <a:t>Change the Shell Environment</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212482" cy="2569866"/>
          </a:xfrm>
        </p:spPr>
        <p:txBody>
          <a:bodyPr>
            <a:normAutofit/>
          </a:bodyPr>
          <a:lstStyle/>
          <a:p>
            <a:r>
              <a:rPr lang="en-US"/>
              <a:t>Shell </a:t>
            </a:r>
            <a:r>
              <a:rPr lang="en-US" dirty="0"/>
              <a:t>Variable Usage</a:t>
            </a:r>
          </a:p>
          <a:p>
            <a:r>
              <a:rPr lang="en-US" dirty="0"/>
              <a:t>Assign Values to Variables</a:t>
            </a:r>
          </a:p>
          <a:p>
            <a:r>
              <a:rPr lang="en-US" dirty="0"/>
              <a:t>Retrieve Values with Variable Expansion</a:t>
            </a:r>
          </a:p>
          <a:p>
            <a:r>
              <a:rPr lang="en-US" dirty="0"/>
              <a:t>Configure Bash with Shell Variables</a:t>
            </a:r>
          </a:p>
          <a:p>
            <a:r>
              <a:rPr lang="en-US" dirty="0"/>
              <a:t>Configure Programs with Environment Variables</a:t>
            </a:r>
          </a:p>
          <a:p>
            <a:r>
              <a:rPr lang="en-US" dirty="0"/>
              <a:t>Set the Default Text Editor</a:t>
            </a:r>
          </a:p>
          <a:p>
            <a:pPr marL="0" indent="0">
              <a:buNone/>
            </a:pPr>
            <a:endParaRPr lang="en-US" dirty="0"/>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2313458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sz="2300" dirty="0"/>
              <a:t>Manage Local Users and Groups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311946" cy="2957292"/>
          </a:xfrm>
        </p:spPr>
        <p:txBody>
          <a:bodyPr>
            <a:normAutofit/>
          </a:bodyPr>
          <a:lstStyle/>
          <a:p>
            <a:r>
              <a:rPr lang="en-US" dirty="0"/>
              <a:t>What is a User &amp; Group?</a:t>
            </a:r>
          </a:p>
          <a:p>
            <a:r>
              <a:rPr lang="en-US" dirty="0"/>
              <a:t>Primary Groups &amp; Secondary Groups</a:t>
            </a:r>
          </a:p>
          <a:p>
            <a:r>
              <a:rPr lang="en-US" dirty="0"/>
              <a:t>Superuser </a:t>
            </a:r>
          </a:p>
          <a:p>
            <a:r>
              <a:rPr lang="en-US" dirty="0"/>
              <a:t>Configure </a:t>
            </a:r>
            <a:r>
              <a:rPr lang="en-US" dirty="0" err="1"/>
              <a:t>sudo</a:t>
            </a:r>
            <a:endParaRPr lang="en-US" dirty="0"/>
          </a:p>
          <a:p>
            <a:r>
              <a:rPr lang="en-US" dirty="0"/>
              <a:t>Manage Local User Accounts</a:t>
            </a:r>
          </a:p>
          <a:p>
            <a:r>
              <a:rPr lang="en-US" dirty="0"/>
              <a:t>Manage Users Passwords</a:t>
            </a:r>
          </a:p>
          <a:p>
            <a:pPr marL="0" indent="0">
              <a:buNone/>
            </a:pPr>
            <a:endParaRPr lang="en-US" dirty="0"/>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2192472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529087" y="1335477"/>
            <a:ext cx="11388566" cy="5011947"/>
          </a:xfrm>
          <a:solidFill>
            <a:schemeClr val="tx1"/>
          </a:solidFill>
        </p:spPr>
        <p:txBody>
          <a:bodyPr>
            <a:normAutofit fontScale="92500" lnSpcReduction="10000"/>
          </a:bodyPr>
          <a:lstStyle/>
          <a:p>
            <a:endParaRPr lang="en-US" dirty="0"/>
          </a:p>
          <a:p>
            <a:r>
              <a:rPr lang="en-US" sz="1700" b="1" dirty="0">
                <a:solidFill>
                  <a:schemeClr val="accent1">
                    <a:lumMod val="60000"/>
                    <a:lumOff val="40000"/>
                  </a:schemeClr>
                </a:solidFill>
              </a:rPr>
              <a:t>What is a User?</a:t>
            </a:r>
          </a:p>
          <a:p>
            <a:pPr>
              <a:buFont typeface="Wingdings" panose="05000000000000000000" pitchFamily="2" charset="2"/>
              <a:buChar char="q"/>
            </a:pPr>
            <a:r>
              <a:rPr lang="en-US" dirty="0"/>
              <a:t>A user account is used to provide security boundaries between different people and programs that can run commands.</a:t>
            </a:r>
          </a:p>
          <a:p>
            <a:pPr>
              <a:buFont typeface="Wingdings" panose="05000000000000000000" pitchFamily="2" charset="2"/>
              <a:buChar char="q"/>
            </a:pPr>
            <a:r>
              <a:rPr lang="en-US" dirty="0"/>
              <a:t>Since Linux is a multi-user operating system (in that it allows multiple users on different computers or terminals to access a single system), you will need to know how to perform effective user management: how to add, edit, suspend, or delete user accounts, along with granting them the necessary permissions to do their assigned tasks.</a:t>
            </a:r>
          </a:p>
          <a:p>
            <a:pPr marL="0" indent="0">
              <a:buNone/>
            </a:pPr>
            <a:endParaRPr lang="en-US" dirty="0"/>
          </a:p>
          <a:p>
            <a:r>
              <a:rPr lang="en-US" sz="1600" b="1" dirty="0">
                <a:solidFill>
                  <a:schemeClr val="accent1">
                    <a:lumMod val="60000"/>
                    <a:lumOff val="40000"/>
                  </a:schemeClr>
                </a:solidFill>
              </a:rPr>
              <a:t>There are three main types of user account: the superuser, system users, and regular users.</a:t>
            </a:r>
          </a:p>
          <a:p>
            <a:endParaRPr lang="en-US" dirty="0"/>
          </a:p>
          <a:p>
            <a:r>
              <a:rPr lang="en-US" dirty="0"/>
              <a:t>The </a:t>
            </a:r>
            <a:r>
              <a:rPr lang="en-US" b="1" dirty="0"/>
              <a:t>superuser</a:t>
            </a:r>
            <a:r>
              <a:rPr lang="en-US" dirty="0"/>
              <a:t> account is for administration of the system. The name of the superuser is root and the account has UID 0. The superuser has full access to the system.</a:t>
            </a:r>
          </a:p>
          <a:p>
            <a:r>
              <a:rPr lang="en-US" dirty="0"/>
              <a:t>The </a:t>
            </a:r>
            <a:r>
              <a:rPr lang="en-US" b="1" dirty="0"/>
              <a:t>system</a:t>
            </a:r>
            <a:r>
              <a:rPr lang="en-US" dirty="0"/>
              <a:t> </a:t>
            </a:r>
            <a:r>
              <a:rPr lang="en-US" b="1" dirty="0"/>
              <a:t>user</a:t>
            </a:r>
            <a:r>
              <a:rPr lang="en-US" dirty="0"/>
              <a:t> accounts are used by processes that provide supporting services. These processes, or daemons, usually do not need to run as the superuser. Users do not interactively log in with a system user account.</a:t>
            </a:r>
          </a:p>
          <a:p>
            <a:r>
              <a:rPr lang="en-US" dirty="0"/>
              <a:t>Most users have </a:t>
            </a:r>
            <a:r>
              <a:rPr lang="en-US" b="1" dirty="0"/>
              <a:t>regular user </a:t>
            </a:r>
            <a:r>
              <a:rPr lang="en-US" dirty="0"/>
              <a:t>accounts for their day-to-day work. Like system users, regular users have limited access to the system.</a:t>
            </a:r>
          </a:p>
          <a:p>
            <a:endParaRPr lang="en-US" dirty="0"/>
          </a:p>
        </p:txBody>
      </p:sp>
      <p:sp>
        <p:nvSpPr>
          <p:cNvPr id="6" name="Title 5">
            <a:extLst>
              <a:ext uri="{FF2B5EF4-FFF2-40B4-BE49-F238E27FC236}">
                <a16:creationId xmlns:a16="http://schemas.microsoft.com/office/drawing/2014/main" id="{6F94F160-830D-277B-2522-A2C53F16C200}"/>
              </a:ext>
            </a:extLst>
          </p:cNvPr>
          <p:cNvSpPr>
            <a:spLocks noGrp="1"/>
          </p:cNvSpPr>
          <p:nvPr>
            <p:ph type="ctrTitle"/>
          </p:nvPr>
        </p:nvSpPr>
        <p:spPr>
          <a:xfrm>
            <a:off x="897147" y="336430"/>
            <a:ext cx="10765766" cy="1268083"/>
          </a:xfrm>
        </p:spPr>
        <p:txBody>
          <a:bodyPr/>
          <a:lstStyle/>
          <a:p>
            <a:pPr algn="ctr"/>
            <a:r>
              <a:rPr lang="en-US" sz="3600" dirty="0"/>
              <a:t>Manage Local Users and Groups</a:t>
            </a:r>
            <a:br>
              <a:rPr lang="en-US" sz="3600" dirty="0"/>
            </a:br>
            <a:endParaRPr lang="en-IN" dirty="0"/>
          </a:p>
        </p:txBody>
      </p:sp>
    </p:spTree>
    <p:extLst>
      <p:ext uri="{BB962C8B-B14F-4D97-AF65-F5344CB8AC3E}">
        <p14:creationId xmlns:p14="http://schemas.microsoft.com/office/powerpoint/2010/main" val="299505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 calcmode="lin" valueType="num">
                                      <p:cBhvr additive="base">
                                        <p:cTn id="7"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
                                            <p:txEl>
                                              <p:pRg st="3" end="3"/>
                                            </p:txEl>
                                          </p:spTgt>
                                        </p:tgtEl>
                                        <p:attrNameLst>
                                          <p:attrName>style.visibility</p:attrName>
                                        </p:attrNameLst>
                                      </p:cBhvr>
                                      <p:to>
                                        <p:strVal val="visible"/>
                                      </p:to>
                                    </p:set>
                                    <p:anim calcmode="lin" valueType="num">
                                      <p:cBhvr additive="base">
                                        <p:cTn id="1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xEl>
                                              <p:pRg st="5" end="5"/>
                                            </p:txEl>
                                          </p:spTgt>
                                        </p:tgtEl>
                                        <p:attrNameLst>
                                          <p:attrName>style.visibility</p:attrName>
                                        </p:attrNameLst>
                                      </p:cBhvr>
                                      <p:to>
                                        <p:strVal val="visible"/>
                                      </p:to>
                                    </p:set>
                                    <p:anim calcmode="lin" valueType="num">
                                      <p:cBhvr additive="base">
                                        <p:cTn id="23"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xEl>
                                              <p:pRg st="7" end="7"/>
                                            </p:txEl>
                                          </p:spTgt>
                                        </p:tgtEl>
                                        <p:attrNameLst>
                                          <p:attrName>style.visibility</p:attrName>
                                        </p:attrNameLst>
                                      </p:cBhvr>
                                      <p:to>
                                        <p:strVal val="visible"/>
                                      </p:to>
                                    </p:set>
                                    <p:anim calcmode="lin" valueType="num">
                                      <p:cBhvr additive="base">
                                        <p:cTn id="29" dur="500" fill="hold"/>
                                        <p:tgtEl>
                                          <p:spTgt spid="1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xEl>
                                              <p:pRg st="8" end="8"/>
                                            </p:txEl>
                                          </p:spTgt>
                                        </p:tgtEl>
                                        <p:attrNameLst>
                                          <p:attrName>style.visibility</p:attrName>
                                        </p:attrNameLst>
                                      </p:cBhvr>
                                      <p:to>
                                        <p:strVal val="visible"/>
                                      </p:to>
                                    </p:set>
                                    <p:anim calcmode="lin" valueType="num">
                                      <p:cBhvr additive="base">
                                        <p:cTn id="35" dur="500" fill="hold"/>
                                        <p:tgtEl>
                                          <p:spTgt spid="1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5">
                                            <p:txEl>
                                              <p:pRg st="9" end="9"/>
                                            </p:txEl>
                                          </p:spTgt>
                                        </p:tgtEl>
                                        <p:attrNameLst>
                                          <p:attrName>style.visibility</p:attrName>
                                        </p:attrNameLst>
                                      </p:cBhvr>
                                      <p:to>
                                        <p:strVal val="visible"/>
                                      </p:to>
                                    </p:set>
                                    <p:anim calcmode="lin" valueType="num">
                                      <p:cBhvr additive="base">
                                        <p:cTn id="41" dur="500" fill="hold"/>
                                        <p:tgtEl>
                                          <p:spTgt spid="15">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529087" y="1335477"/>
            <a:ext cx="11388566" cy="5011947"/>
          </a:xfrm>
          <a:solidFill>
            <a:schemeClr val="tx1"/>
          </a:solidFill>
        </p:spPr>
        <p:txBody>
          <a:bodyPr>
            <a:normAutofit/>
          </a:bodyPr>
          <a:lstStyle/>
          <a:p>
            <a:endParaRPr lang="en-US" dirty="0"/>
          </a:p>
          <a:p>
            <a:r>
              <a:rPr lang="en-US" sz="1700" b="1" dirty="0">
                <a:solidFill>
                  <a:schemeClr val="accent1">
                    <a:lumMod val="60000"/>
                    <a:lumOff val="40000"/>
                  </a:schemeClr>
                </a:solidFill>
              </a:rPr>
              <a:t>What is a Group?</a:t>
            </a:r>
          </a:p>
          <a:p>
            <a:pPr>
              <a:buFont typeface="Wingdings" panose="05000000000000000000" pitchFamily="2" charset="2"/>
              <a:buChar char="q"/>
            </a:pPr>
            <a:r>
              <a:rPr lang="en-US" dirty="0"/>
              <a:t>A group is a collection of users that need to share access to files and other system resources. Groups can be used to grant access to files to a set of users instead of just a single user.</a:t>
            </a:r>
          </a:p>
          <a:p>
            <a:pPr>
              <a:buFont typeface="Wingdings" panose="05000000000000000000" pitchFamily="2" charset="2"/>
              <a:buChar char="q"/>
            </a:pPr>
            <a:r>
              <a:rPr lang="en-US" dirty="0"/>
              <a:t>Like users, groups have group names to make them easier to work with. Internally, the system distinguishes groups by the unique identification number assigned to them, the group ID or GID.</a:t>
            </a:r>
          </a:p>
          <a:p>
            <a:r>
              <a:rPr lang="en-US" sz="1600" b="1" dirty="0">
                <a:solidFill>
                  <a:schemeClr val="accent1">
                    <a:lumMod val="60000"/>
                    <a:lumOff val="40000"/>
                  </a:schemeClr>
                </a:solidFill>
              </a:rPr>
              <a:t>Primary Groups and Secondary Groups</a:t>
            </a:r>
            <a:endParaRPr lang="en-US" dirty="0"/>
          </a:p>
          <a:p>
            <a:r>
              <a:rPr lang="en-US" b="1" dirty="0"/>
              <a:t>Primary Group</a:t>
            </a:r>
            <a:r>
              <a:rPr lang="en-US" dirty="0"/>
              <a:t>: This is the group applied to you when you log in; in most user cases it has the same name as your login name. The primary group is used by default when creating new files (or directories), modifying files, or executing commands.</a:t>
            </a:r>
          </a:p>
          <a:p>
            <a:r>
              <a:rPr lang="en-US" b="1" dirty="0"/>
              <a:t>Secondary Groups</a:t>
            </a:r>
            <a:r>
              <a:rPr lang="en-US" dirty="0"/>
              <a:t> : Users may also have secondary groups. Membership </a:t>
            </a:r>
            <a:r>
              <a:rPr lang="en-US"/>
              <a:t>in secondary` </a:t>
            </a:r>
            <a:r>
              <a:rPr lang="en-US" dirty="0"/>
              <a:t>groups is determined by the /</a:t>
            </a:r>
            <a:r>
              <a:rPr lang="en-US" dirty="0" err="1"/>
              <a:t>etc</a:t>
            </a:r>
            <a:r>
              <a:rPr lang="en-US" dirty="0"/>
              <a:t>/group file. Users are granted access to files based on whether any of their groups have access. It doesn't matter if the group or groups that have access are primary or supplementary for the user.</a:t>
            </a:r>
          </a:p>
          <a:p>
            <a:endParaRPr lang="en-US" dirty="0"/>
          </a:p>
        </p:txBody>
      </p:sp>
      <p:sp>
        <p:nvSpPr>
          <p:cNvPr id="6" name="Title 5">
            <a:extLst>
              <a:ext uri="{FF2B5EF4-FFF2-40B4-BE49-F238E27FC236}">
                <a16:creationId xmlns:a16="http://schemas.microsoft.com/office/drawing/2014/main" id="{6F94F160-830D-277B-2522-A2C53F16C200}"/>
              </a:ext>
            </a:extLst>
          </p:cNvPr>
          <p:cNvSpPr>
            <a:spLocks noGrp="1"/>
          </p:cNvSpPr>
          <p:nvPr>
            <p:ph type="ctrTitle"/>
          </p:nvPr>
        </p:nvSpPr>
        <p:spPr>
          <a:xfrm>
            <a:off x="897147" y="336430"/>
            <a:ext cx="10765766" cy="1268083"/>
          </a:xfrm>
        </p:spPr>
        <p:txBody>
          <a:bodyPr/>
          <a:lstStyle/>
          <a:p>
            <a:pPr algn="ctr"/>
            <a:r>
              <a:rPr lang="en-US" sz="3600" dirty="0"/>
              <a:t>Manage Local Users and Groups</a:t>
            </a:r>
            <a:br>
              <a:rPr lang="en-US" sz="3600" dirty="0"/>
            </a:br>
            <a:endParaRPr lang="en-IN" dirty="0"/>
          </a:p>
        </p:txBody>
      </p:sp>
    </p:spTree>
    <p:extLst>
      <p:ext uri="{BB962C8B-B14F-4D97-AF65-F5344CB8AC3E}">
        <p14:creationId xmlns:p14="http://schemas.microsoft.com/office/powerpoint/2010/main" val="75261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 calcmode="lin" valueType="num">
                                      <p:cBhvr additive="base">
                                        <p:cTn id="7"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
                                            <p:txEl>
                                              <p:pRg st="3" end="3"/>
                                            </p:txEl>
                                          </p:spTgt>
                                        </p:tgtEl>
                                        <p:attrNameLst>
                                          <p:attrName>style.visibility</p:attrName>
                                        </p:attrNameLst>
                                      </p:cBhvr>
                                      <p:to>
                                        <p:strVal val="visible"/>
                                      </p:to>
                                    </p:set>
                                    <p:anim calcmode="lin" valueType="num">
                                      <p:cBhvr additive="base">
                                        <p:cTn id="1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xEl>
                                              <p:pRg st="4" end="4"/>
                                            </p:txEl>
                                          </p:spTgt>
                                        </p:tgtEl>
                                        <p:attrNameLst>
                                          <p:attrName>style.visibility</p:attrName>
                                        </p:attrNameLst>
                                      </p:cBhvr>
                                      <p:to>
                                        <p:strVal val="visible"/>
                                      </p:to>
                                    </p:set>
                                    <p:anim calcmode="lin" valueType="num">
                                      <p:cBhvr additive="base">
                                        <p:cTn id="23"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xEl>
                                              <p:pRg st="5" end="5"/>
                                            </p:txEl>
                                          </p:spTgt>
                                        </p:tgtEl>
                                        <p:attrNameLst>
                                          <p:attrName>style.visibility</p:attrName>
                                        </p:attrNameLst>
                                      </p:cBhvr>
                                      <p:to>
                                        <p:strVal val="visible"/>
                                      </p:to>
                                    </p:set>
                                    <p:anim calcmode="lin" valueType="num">
                                      <p:cBhvr additive="base">
                                        <p:cTn id="29"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anim calcmode="lin" valueType="num">
                                      <p:cBhvr additive="base">
                                        <p:cTn id="33"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529087" y="1335477"/>
            <a:ext cx="11388566" cy="5011947"/>
          </a:xfrm>
          <a:solidFill>
            <a:schemeClr val="tx1"/>
          </a:solidFill>
        </p:spPr>
        <p:txBody>
          <a:bodyPr>
            <a:normAutofit/>
          </a:bodyPr>
          <a:lstStyle/>
          <a:p>
            <a:r>
              <a:rPr lang="en-US" sz="1700" b="1" dirty="0">
                <a:solidFill>
                  <a:schemeClr val="accent1">
                    <a:lumMod val="60000"/>
                    <a:lumOff val="40000"/>
                  </a:schemeClr>
                </a:solidFill>
              </a:rPr>
              <a:t>The Superuser</a:t>
            </a:r>
          </a:p>
          <a:p>
            <a:pPr>
              <a:buFont typeface="Wingdings" panose="05000000000000000000" pitchFamily="2" charset="2"/>
              <a:buChar char="q"/>
            </a:pPr>
            <a:r>
              <a:rPr lang="en-US" dirty="0"/>
              <a:t>Most operating systems have a superuser that has all power over the system. In Red Hat Enterprise Linux, it is the </a:t>
            </a:r>
            <a:r>
              <a:rPr lang="en-US" b="1" dirty="0"/>
              <a:t>root</a:t>
            </a:r>
            <a:r>
              <a:rPr lang="en-US" dirty="0"/>
              <a:t> user.</a:t>
            </a:r>
          </a:p>
          <a:p>
            <a:pPr>
              <a:buFont typeface="Wingdings" panose="05000000000000000000" pitchFamily="2" charset="2"/>
              <a:buChar char="q"/>
            </a:pPr>
            <a:r>
              <a:rPr lang="en-US" dirty="0"/>
              <a:t>The root user has unlimited power to damage the system: remove files and directories, remove user accounts and so on.</a:t>
            </a:r>
          </a:p>
          <a:p>
            <a:pPr>
              <a:buFont typeface="Wingdings" panose="05000000000000000000" pitchFamily="2" charset="2"/>
              <a:buChar char="q"/>
            </a:pPr>
            <a:r>
              <a:rPr lang="en-US" dirty="0"/>
              <a:t>Red Hat encourages system administrators to log in always as a normal user and escalate privileges to root only when needed.</a:t>
            </a:r>
          </a:p>
          <a:p>
            <a:r>
              <a:rPr lang="en-US" sz="1600" b="1" dirty="0">
                <a:solidFill>
                  <a:schemeClr val="accent1">
                    <a:lumMod val="60000"/>
                    <a:lumOff val="40000"/>
                  </a:schemeClr>
                </a:solidFill>
              </a:rPr>
              <a:t>Switch User Accounts</a:t>
            </a:r>
          </a:p>
          <a:p>
            <a:pPr>
              <a:buFont typeface="Wingdings" panose="05000000000000000000" pitchFamily="2" charset="2"/>
              <a:buChar char="q"/>
            </a:pPr>
            <a:r>
              <a:rPr lang="en-US" dirty="0"/>
              <a:t>With the </a:t>
            </a:r>
            <a:r>
              <a:rPr lang="en-US" dirty="0" err="1"/>
              <a:t>su</a:t>
            </a:r>
            <a:r>
              <a:rPr lang="en-US" dirty="0"/>
              <a:t> command, users can switch to a different user account.</a:t>
            </a:r>
          </a:p>
          <a:p>
            <a:pPr>
              <a:buFont typeface="Wingdings" panose="05000000000000000000" pitchFamily="2" charset="2"/>
              <a:buChar char="q"/>
            </a:pPr>
            <a:r>
              <a:rPr lang="en-IN" dirty="0"/>
              <a:t>[user01@host ~]$ </a:t>
            </a:r>
            <a:r>
              <a:rPr lang="en-IN" b="1" dirty="0" err="1"/>
              <a:t>su</a:t>
            </a:r>
            <a:r>
              <a:rPr lang="en-IN" b="1" dirty="0"/>
              <a:t> - </a:t>
            </a:r>
            <a:r>
              <a:rPr lang="en-IN" b="1" i="1" dirty="0"/>
              <a:t>user02</a:t>
            </a:r>
            <a:br>
              <a:rPr lang="en-IN" b="1" i="1" dirty="0"/>
            </a:br>
            <a:r>
              <a:rPr lang="en-IN" dirty="0"/>
              <a:t>Password: </a:t>
            </a:r>
            <a:r>
              <a:rPr lang="en-IN" b="1" i="1" dirty="0"/>
              <a:t>user02_password</a:t>
            </a:r>
            <a:br>
              <a:rPr lang="en-IN" b="1" i="1" dirty="0"/>
            </a:br>
            <a:r>
              <a:rPr lang="en-IN" dirty="0"/>
              <a:t>[user02@host ~]$</a:t>
            </a:r>
            <a:br>
              <a:rPr lang="en-IN" dirty="0"/>
            </a:br>
            <a:br>
              <a:rPr lang="en-IN" dirty="0"/>
            </a:br>
            <a:r>
              <a:rPr lang="en-IN" dirty="0"/>
              <a:t>[user01@host ~]$ </a:t>
            </a:r>
            <a:r>
              <a:rPr lang="en-IN" b="1" dirty="0" err="1"/>
              <a:t>su</a:t>
            </a:r>
            <a:r>
              <a:rPr lang="en-IN" b="1" dirty="0"/>
              <a:t> –</a:t>
            </a:r>
            <a:br>
              <a:rPr lang="en-IN" b="1" dirty="0"/>
            </a:br>
            <a:r>
              <a:rPr lang="en-IN" dirty="0"/>
              <a:t>Password: </a:t>
            </a:r>
            <a:r>
              <a:rPr lang="en-IN" b="1" i="1" dirty="0" err="1"/>
              <a:t>root_password</a:t>
            </a:r>
            <a:br>
              <a:rPr lang="en-IN" b="1" i="1" dirty="0"/>
            </a:br>
            <a:r>
              <a:rPr lang="en-IN" dirty="0"/>
              <a:t>[</a:t>
            </a:r>
            <a:r>
              <a:rPr lang="en-IN" dirty="0" err="1"/>
              <a:t>root@host</a:t>
            </a:r>
            <a:r>
              <a:rPr lang="en-IN" dirty="0"/>
              <a:t> ~]#</a:t>
            </a:r>
            <a:endParaRPr lang="en-US" dirty="0"/>
          </a:p>
        </p:txBody>
      </p:sp>
      <p:sp>
        <p:nvSpPr>
          <p:cNvPr id="6" name="Title 5">
            <a:extLst>
              <a:ext uri="{FF2B5EF4-FFF2-40B4-BE49-F238E27FC236}">
                <a16:creationId xmlns:a16="http://schemas.microsoft.com/office/drawing/2014/main" id="{6F94F160-830D-277B-2522-A2C53F16C200}"/>
              </a:ext>
            </a:extLst>
          </p:cNvPr>
          <p:cNvSpPr>
            <a:spLocks noGrp="1"/>
          </p:cNvSpPr>
          <p:nvPr>
            <p:ph type="ctrTitle"/>
          </p:nvPr>
        </p:nvSpPr>
        <p:spPr>
          <a:xfrm>
            <a:off x="897147" y="336430"/>
            <a:ext cx="10765766" cy="1268083"/>
          </a:xfrm>
        </p:spPr>
        <p:txBody>
          <a:bodyPr/>
          <a:lstStyle/>
          <a:p>
            <a:pPr algn="ctr"/>
            <a:r>
              <a:rPr lang="en-US" sz="3600" dirty="0"/>
              <a:t>Manage Local Users and Groups</a:t>
            </a:r>
            <a:br>
              <a:rPr lang="en-US" sz="3600" dirty="0"/>
            </a:br>
            <a:endParaRPr lang="en-IN" dirty="0"/>
          </a:p>
        </p:txBody>
      </p:sp>
    </p:spTree>
    <p:extLst>
      <p:ext uri="{BB962C8B-B14F-4D97-AF65-F5344CB8AC3E}">
        <p14:creationId xmlns:p14="http://schemas.microsoft.com/office/powerpoint/2010/main" val="337669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anim calcmode="lin" valueType="num">
                                      <p:cBhvr additive="base">
                                        <p:cTn id="13"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anim calcmode="lin" valueType="num">
                                      <p:cBhvr additive="base">
                                        <p:cTn id="1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anim calcmode="lin" valueType="num">
                                      <p:cBhvr additive="base">
                                        <p:cTn id="25"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anim calcmode="lin" valueType="num">
                                      <p:cBhvr additive="base">
                                        <p:cTn id="3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xEl>
                                              <p:pRg st="5" end="5"/>
                                            </p:txEl>
                                          </p:spTgt>
                                        </p:tgtEl>
                                        <p:attrNameLst>
                                          <p:attrName>style.visibility</p:attrName>
                                        </p:attrNameLst>
                                      </p:cBhvr>
                                      <p:to>
                                        <p:strVal val="visible"/>
                                      </p:to>
                                    </p:set>
                                    <p:anim calcmode="lin" valueType="num">
                                      <p:cBhvr additive="base">
                                        <p:cTn id="37"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xEl>
                                              <p:pRg st="6" end="6"/>
                                            </p:txEl>
                                          </p:spTgt>
                                        </p:tgtEl>
                                        <p:attrNameLst>
                                          <p:attrName>style.visibility</p:attrName>
                                        </p:attrNameLst>
                                      </p:cBhvr>
                                      <p:to>
                                        <p:strVal val="visible"/>
                                      </p:to>
                                    </p:set>
                                    <p:anim calcmode="lin" valueType="num">
                                      <p:cBhvr additive="base">
                                        <p:cTn id="43"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sz="2300" dirty="0"/>
              <a:t>Control Access to Files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5311946" cy="2957292"/>
          </a:xfrm>
        </p:spPr>
        <p:txBody>
          <a:bodyPr>
            <a:normAutofit/>
          </a:bodyPr>
          <a:lstStyle/>
          <a:p>
            <a:r>
              <a:rPr lang="en-US" dirty="0"/>
              <a:t>Linux File-system Permissions</a:t>
            </a:r>
          </a:p>
          <a:p>
            <a:r>
              <a:rPr lang="en-US" dirty="0"/>
              <a:t>View File and Directory Permissions and Ownership</a:t>
            </a:r>
          </a:p>
          <a:p>
            <a:r>
              <a:rPr lang="en-US" dirty="0"/>
              <a:t>Examples of Permissions Effects </a:t>
            </a:r>
          </a:p>
          <a:p>
            <a:r>
              <a:rPr lang="en-US" dirty="0"/>
              <a:t>Manage File System Permissions from the Command Line</a:t>
            </a:r>
          </a:p>
          <a:p>
            <a:r>
              <a:rPr lang="en-US" dirty="0"/>
              <a:t>Manage Default Permissions and File Access</a:t>
            </a:r>
          </a:p>
          <a:p>
            <a:pPr marL="0" indent="0">
              <a:buNone/>
            </a:pPr>
            <a:endParaRPr lang="en-US" dirty="0"/>
          </a:p>
          <a:p>
            <a:endParaRPr lang="en-US"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1105901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34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100287" y="1180622"/>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Linux File-system Permissions</a:t>
            </a:r>
          </a:p>
          <a:p>
            <a:pPr marL="360045" indent="-285750">
              <a:spcAft>
                <a:spcPts val="0"/>
              </a:spcAft>
              <a:buClrTx/>
              <a:buFont typeface="Wingdings" panose="05000000000000000000" pitchFamily="2" charset="2"/>
              <a:buChar char="q"/>
              <a:defRPr/>
            </a:pPr>
            <a:r>
              <a:rPr lang="en-US" sz="1400" dirty="0">
                <a:solidFill>
                  <a:schemeClr val="tx1">
                    <a:lumMod val="75000"/>
                    <a:lumOff val="25000"/>
                  </a:schemeClr>
                </a:solidFill>
              </a:rPr>
              <a:t>In </a:t>
            </a:r>
            <a:r>
              <a:rPr lang="en-US" sz="1400" b="1" dirty="0">
                <a:solidFill>
                  <a:schemeClr val="tx1">
                    <a:lumMod val="75000"/>
                    <a:lumOff val="25000"/>
                  </a:schemeClr>
                </a:solidFill>
              </a:rPr>
              <a:t>Linux</a:t>
            </a:r>
            <a:r>
              <a:rPr lang="en-US" sz="1400" dirty="0">
                <a:solidFill>
                  <a:schemeClr val="tx1">
                    <a:lumMod val="75000"/>
                    <a:lumOff val="25000"/>
                  </a:schemeClr>
                </a:solidFill>
              </a:rPr>
              <a:t>, file and directories access is controlled by permissions. These access permissions are granted to 3 user categories: </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owner, </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group, and </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others.</a:t>
            </a:r>
          </a:p>
          <a:p>
            <a:pPr marL="74295" indent="0">
              <a:spcAft>
                <a:spcPts val="0"/>
              </a:spcAft>
              <a:buClrTx/>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dirty="0">
                <a:solidFill>
                  <a:schemeClr val="tx1">
                    <a:lumMod val="75000"/>
                    <a:lumOff val="25000"/>
                  </a:schemeClr>
                </a:solidFill>
              </a:rPr>
              <a:t>Permissions in Linux are </a:t>
            </a:r>
            <a:r>
              <a:rPr lang="en-US" sz="1400" b="1" dirty="0">
                <a:solidFill>
                  <a:schemeClr val="tx1">
                    <a:lumMod val="75000"/>
                    <a:lumOff val="25000"/>
                  </a:schemeClr>
                </a:solidFill>
              </a:rPr>
              <a:t>read, write and execute</a:t>
            </a:r>
            <a:r>
              <a:rPr lang="en-US" sz="1400" dirty="0">
                <a:solidFill>
                  <a:schemeClr val="tx1">
                    <a:lumMod val="75000"/>
                    <a:lumOff val="25000"/>
                  </a:schemeClr>
                </a:solidFill>
              </a:rPr>
              <a:t>. Let's define each permission:</a:t>
            </a: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Read</a:t>
            </a:r>
            <a:r>
              <a:rPr lang="en-US" sz="1400" dirty="0">
                <a:solidFill>
                  <a:schemeClr val="tx1">
                    <a:lumMod val="75000"/>
                    <a:lumOff val="25000"/>
                  </a:schemeClr>
                </a:solidFill>
              </a:rPr>
              <a:t>: The read permission for a file means the user can open and view the content. For a directory (folder) the user can list the contents of the directory.</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Write</a:t>
            </a:r>
            <a:r>
              <a:rPr lang="en-US" sz="1400" dirty="0">
                <a:solidFill>
                  <a:schemeClr val="tx1">
                    <a:lumMod val="75000"/>
                    <a:lumOff val="25000"/>
                  </a:schemeClr>
                </a:solidFill>
              </a:rPr>
              <a:t>: This allows the user to modify or delete files. For directories, it enables users to add or remove files and subdirectories.</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Execute</a:t>
            </a:r>
            <a:r>
              <a:rPr lang="en-US" sz="1400" dirty="0">
                <a:solidFill>
                  <a:schemeClr val="tx1">
                    <a:lumMod val="75000"/>
                    <a:lumOff val="25000"/>
                  </a:schemeClr>
                </a:solidFill>
              </a:rPr>
              <a:t>: This enables user to run executable files. For example for programs and shell scripts.</a:t>
            </a:r>
          </a:p>
          <a:p>
            <a:pPr marL="74295">
              <a:spcAft>
                <a:spcPts val="0"/>
              </a:spcAft>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Control Access to Files</a:t>
            </a:r>
          </a:p>
        </p:txBody>
      </p:sp>
    </p:spTree>
    <p:extLst>
      <p:ext uri="{BB962C8B-B14F-4D97-AF65-F5344CB8AC3E}">
        <p14:creationId xmlns:p14="http://schemas.microsoft.com/office/powerpoint/2010/main" val="87007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anim calcmode="lin" valueType="num">
                                      <p:cBhvr additive="base">
                                        <p:cTn id="11"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 calcmode="lin" valueType="num">
                                      <p:cBhvr additive="base">
                                        <p:cTn id="15"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7" end="7"/>
                                            </p:txEl>
                                          </p:spTgt>
                                        </p:tgtEl>
                                        <p:attrNameLst>
                                          <p:attrName>style.visibility</p:attrName>
                                        </p:attrNameLst>
                                      </p:cBhvr>
                                      <p:to>
                                        <p:strVal val="visible"/>
                                      </p:to>
                                    </p:set>
                                    <p:anim calcmode="lin" valueType="num">
                                      <p:cBhvr additive="base">
                                        <p:cTn id="31"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5">
                                            <p:txEl>
                                              <p:pRg st="8" end="8"/>
                                            </p:txEl>
                                          </p:spTgt>
                                        </p:tgtEl>
                                        <p:attrNameLst>
                                          <p:attrName>style.visibility</p:attrName>
                                        </p:attrNameLst>
                                      </p:cBhvr>
                                      <p:to>
                                        <p:strVal val="visible"/>
                                      </p:to>
                                    </p:set>
                                    <p:anim calcmode="lin" valueType="num">
                                      <p:cBhvr additive="base">
                                        <p:cTn id="35"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5">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5">
                                            <p:txEl>
                                              <p:pRg st="9" end="9"/>
                                            </p:txEl>
                                          </p:spTgt>
                                        </p:tgtEl>
                                        <p:attrNameLst>
                                          <p:attrName>style.visibility</p:attrName>
                                        </p:attrNameLst>
                                      </p:cBhvr>
                                      <p:to>
                                        <p:strVal val="visible"/>
                                      </p:to>
                                    </p:set>
                                    <p:anim calcmode="lin" valueType="num">
                                      <p:cBhvr additive="base">
                                        <p:cTn id="39"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35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100287" y="1180622"/>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Linux File-system Permissions</a:t>
            </a:r>
          </a:p>
          <a:p>
            <a:pPr marL="360045" indent="-285750">
              <a:spcAft>
                <a:spcPts val="0"/>
              </a:spcAft>
              <a:buClrTx/>
              <a:buFont typeface="Wingdings" panose="05000000000000000000" pitchFamily="2" charset="2"/>
              <a:buChar char="q"/>
              <a:defRPr/>
            </a:pPr>
            <a:r>
              <a:rPr lang="en-US" sz="1400" b="1" dirty="0">
                <a:solidFill>
                  <a:schemeClr val="tx1">
                    <a:lumMod val="75000"/>
                    <a:lumOff val="25000"/>
                  </a:schemeClr>
                </a:solidFill>
              </a:rPr>
              <a:t>Symbolic Notations:</a:t>
            </a:r>
            <a:br>
              <a:rPr lang="en-US" sz="1400" b="1" dirty="0">
                <a:solidFill>
                  <a:schemeClr val="tx1">
                    <a:lumMod val="75000"/>
                    <a:lumOff val="25000"/>
                  </a:schemeClr>
                </a:solidFill>
              </a:rPr>
            </a:br>
            <a:br>
              <a:rPr lang="en-US" sz="1400" dirty="0">
                <a:solidFill>
                  <a:schemeClr val="tx1">
                    <a:lumMod val="75000"/>
                    <a:lumOff val="25000"/>
                  </a:schemeClr>
                </a:solidFill>
              </a:rPr>
            </a:br>
            <a:r>
              <a:rPr lang="en-US" sz="1400" dirty="0">
                <a:solidFill>
                  <a:schemeClr val="tx1">
                    <a:lumMod val="75000"/>
                    <a:lumOff val="25000"/>
                  </a:schemeClr>
                </a:solidFill>
              </a:rPr>
              <a:t>The symbolic notations (relative mode) are represented by characters. The following represent the characters and its permissions: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 - read permission.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w - write permission.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x - execute permission.</a:t>
            </a:r>
            <a:br>
              <a:rPr lang="en-US" sz="1400" dirty="0">
                <a:solidFill>
                  <a:schemeClr val="tx1">
                    <a:lumMod val="75000"/>
                    <a:lumOff val="25000"/>
                  </a:schemeClr>
                </a:solidFill>
              </a:rPr>
            </a:br>
            <a:r>
              <a:rPr lang="en-US" sz="1400" dirty="0">
                <a:solidFill>
                  <a:schemeClr val="tx1">
                    <a:lumMod val="75000"/>
                    <a:lumOff val="25000"/>
                  </a:schemeClr>
                </a:solidFill>
              </a:rPr>
              <a:t>- (hyphen) - when permission is not granted.</a:t>
            </a:r>
          </a:p>
          <a:p>
            <a:pPr marL="360045" indent="-285750">
              <a:spcAft>
                <a:spcPts val="0"/>
              </a:spcAft>
              <a:buClrTx/>
              <a:buFont typeface="Wingdings" panose="05000000000000000000" pitchFamily="2" charset="2"/>
              <a:buChar char="q"/>
              <a:defRPr/>
            </a:pPr>
            <a:r>
              <a:rPr lang="en-US" sz="1400" b="1" dirty="0">
                <a:solidFill>
                  <a:schemeClr val="tx1">
                    <a:lumMod val="75000"/>
                    <a:lumOff val="25000"/>
                  </a:schemeClr>
                </a:solidFill>
              </a:rPr>
              <a:t>Numerical notations</a:t>
            </a:r>
            <a:br>
              <a:rPr lang="en-US" sz="1400" b="1" dirty="0">
                <a:solidFill>
                  <a:schemeClr val="tx1">
                    <a:lumMod val="75000"/>
                    <a:lumOff val="25000"/>
                  </a:schemeClr>
                </a:solidFill>
              </a:rPr>
            </a:br>
            <a:br>
              <a:rPr lang="en-US" sz="1400" dirty="0">
                <a:solidFill>
                  <a:schemeClr val="tx1">
                    <a:lumMod val="75000"/>
                    <a:lumOff val="25000"/>
                  </a:schemeClr>
                </a:solidFill>
              </a:rPr>
            </a:br>
            <a:r>
              <a:rPr lang="en-US" sz="1400" dirty="0" err="1">
                <a:solidFill>
                  <a:schemeClr val="tx1">
                    <a:lumMod val="75000"/>
                    <a:lumOff val="25000"/>
                  </a:schemeClr>
                </a:solidFill>
              </a:rPr>
              <a:t>Chmod</a:t>
            </a:r>
            <a:r>
              <a:rPr lang="en-US" sz="1400" dirty="0">
                <a:solidFill>
                  <a:schemeClr val="tx1">
                    <a:lumMod val="75000"/>
                    <a:lumOff val="25000"/>
                  </a:schemeClr>
                </a:solidFill>
              </a:rPr>
              <a:t> numerical mode is also known as an absolute mode. This is represented by 3-digit octal numbers.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4 - read permission.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2 - write permission.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1 - execute permission.</a:t>
            </a:r>
            <a:br>
              <a:rPr lang="en-US" sz="1400" dirty="0">
                <a:solidFill>
                  <a:schemeClr val="tx1">
                    <a:lumMod val="75000"/>
                    <a:lumOff val="25000"/>
                  </a:schemeClr>
                </a:solidFill>
              </a:rPr>
            </a:br>
            <a:r>
              <a:rPr lang="en-US" sz="1400" dirty="0">
                <a:solidFill>
                  <a:schemeClr val="tx1">
                    <a:lumMod val="75000"/>
                    <a:lumOff val="25000"/>
                  </a:schemeClr>
                </a:solidFill>
              </a:rPr>
              <a:t>This permission is set individually or sum of the numbers for the user category.</a:t>
            </a:r>
          </a:p>
          <a:p>
            <a:pPr marL="74295" indent="0">
              <a:spcAft>
                <a:spcPts val="0"/>
              </a:spcAft>
              <a:buClrTx/>
              <a:buNone/>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Control Access to Files</a:t>
            </a:r>
          </a:p>
        </p:txBody>
      </p:sp>
    </p:spTree>
    <p:extLst>
      <p:ext uri="{BB962C8B-B14F-4D97-AF65-F5344CB8AC3E}">
        <p14:creationId xmlns:p14="http://schemas.microsoft.com/office/powerpoint/2010/main" val="495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anim calcmode="lin" valueType="num">
                                      <p:cBhvr additive="base">
                                        <p:cTn id="11"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 calcmode="lin" valueType="num">
                                      <p:cBhvr additive="base">
                                        <p:cTn id="15"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
                                            <p:txEl>
                                              <p:pRg st="6" end="6"/>
                                            </p:txEl>
                                          </p:spTgt>
                                        </p:tgtEl>
                                        <p:attrNameLst>
                                          <p:attrName>style.visibility</p:attrName>
                                        </p:attrNameLst>
                                      </p:cBhvr>
                                      <p:to>
                                        <p:strVal val="visible"/>
                                      </p:to>
                                    </p:set>
                                    <p:anim calcmode="lin" valueType="num">
                                      <p:cBhvr additive="base">
                                        <p:cTn id="29"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
                                            <p:txEl>
                                              <p:pRg st="7" end="7"/>
                                            </p:txEl>
                                          </p:spTgt>
                                        </p:tgtEl>
                                        <p:attrNameLst>
                                          <p:attrName>style.visibility</p:attrName>
                                        </p:attrNameLst>
                                      </p:cBhvr>
                                      <p:to>
                                        <p:strVal val="visible"/>
                                      </p:to>
                                    </p:set>
                                    <p:anim calcmode="lin" valueType="num">
                                      <p:cBhvr additive="base">
                                        <p:cTn id="33"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
                                            <p:txEl>
                                              <p:pRg st="8" end="8"/>
                                            </p:txEl>
                                          </p:spTgt>
                                        </p:tgtEl>
                                        <p:attrNameLst>
                                          <p:attrName>style.visibility</p:attrName>
                                        </p:attrNameLst>
                                      </p:cBhvr>
                                      <p:to>
                                        <p:strVal val="visible"/>
                                      </p:to>
                                    </p:set>
                                    <p:anim calcmode="lin" valueType="num">
                                      <p:cBhvr additive="base">
                                        <p:cTn id="37"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36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Linux File-system Permissions</a:t>
            </a:r>
          </a:p>
          <a:p>
            <a:pPr marL="74295">
              <a:spcAft>
                <a:spcPts val="0"/>
              </a:spcAft>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Control Access to Files</a:t>
            </a:r>
          </a:p>
        </p:txBody>
      </p:sp>
      <p:pic>
        <p:nvPicPr>
          <p:cNvPr id="12" name="Picture 11">
            <a:extLst>
              <a:ext uri="{FF2B5EF4-FFF2-40B4-BE49-F238E27FC236}">
                <a16:creationId xmlns:a16="http://schemas.microsoft.com/office/drawing/2014/main" id="{A83E1D22-B9B6-E67B-0932-BC306224CF3F}"/>
              </a:ext>
            </a:extLst>
          </p:cNvPr>
          <p:cNvPicPr>
            <a:picLocks noChangeAspect="1"/>
          </p:cNvPicPr>
          <p:nvPr/>
        </p:nvPicPr>
        <p:blipFill>
          <a:blip r:embed="rId2"/>
          <a:stretch>
            <a:fillRect/>
          </a:stretch>
        </p:blipFill>
        <p:spPr>
          <a:xfrm>
            <a:off x="3562709" y="1552693"/>
            <a:ext cx="5844950" cy="4424351"/>
          </a:xfrm>
          <a:prstGeom prst="rect">
            <a:avLst/>
          </a:prstGeom>
        </p:spPr>
      </p:pic>
    </p:spTree>
    <p:extLst>
      <p:ext uri="{BB962C8B-B14F-4D97-AF65-F5344CB8AC3E}">
        <p14:creationId xmlns:p14="http://schemas.microsoft.com/office/powerpoint/2010/main" val="70614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37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Default File Permissions</a:t>
            </a:r>
          </a:p>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On creation, a file is assigned initial permissions. Two things affect these initial permissions. The first is whether you are creating a regular file or a directory. The second is the current </a:t>
            </a:r>
            <a:r>
              <a:rPr lang="en-US" sz="1400" dirty="0" err="1">
                <a:solidFill>
                  <a:schemeClr val="tx1">
                    <a:lumMod val="75000"/>
                    <a:lumOff val="25000"/>
                  </a:schemeClr>
                </a:solidFill>
              </a:rPr>
              <a:t>umask</a:t>
            </a:r>
            <a:r>
              <a:rPr lang="en-US" sz="1400" dirty="0">
                <a:solidFill>
                  <a:schemeClr val="tx1">
                    <a:lumMod val="75000"/>
                    <a:lumOff val="25000"/>
                  </a:schemeClr>
                </a:solidFill>
              </a:rPr>
              <a:t>, which stands for user file-creation mask.</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If you create a directory, then its initial octal permissions are </a:t>
            </a:r>
            <a:r>
              <a:rPr lang="en-US" sz="1400" b="1" dirty="0">
                <a:solidFill>
                  <a:schemeClr val="tx1">
                    <a:lumMod val="75000"/>
                    <a:lumOff val="25000"/>
                  </a:schemeClr>
                </a:solidFill>
              </a:rPr>
              <a:t>0755 (</a:t>
            </a:r>
            <a:r>
              <a:rPr lang="en-US" sz="1400" b="1" dirty="0" err="1">
                <a:solidFill>
                  <a:schemeClr val="tx1">
                    <a:lumMod val="75000"/>
                    <a:lumOff val="25000"/>
                  </a:schemeClr>
                </a:solidFill>
              </a:rPr>
              <a:t>drwxr</a:t>
            </a:r>
            <a:r>
              <a:rPr lang="en-US" sz="1400" b="1" dirty="0">
                <a:solidFill>
                  <a:schemeClr val="tx1">
                    <a:lumMod val="75000"/>
                    <a:lumOff val="25000"/>
                  </a:schemeClr>
                </a:solidFill>
              </a:rPr>
              <a:t>-</a:t>
            </a:r>
            <a:r>
              <a:rPr lang="en-US" sz="1400" b="1" dirty="0" err="1">
                <a:solidFill>
                  <a:schemeClr val="tx1">
                    <a:lumMod val="75000"/>
                    <a:lumOff val="25000"/>
                  </a:schemeClr>
                </a:solidFill>
              </a:rPr>
              <a:t>xr</a:t>
            </a:r>
            <a:r>
              <a:rPr lang="en-US" sz="1400" b="1" dirty="0">
                <a:solidFill>
                  <a:schemeClr val="tx1">
                    <a:lumMod val="75000"/>
                    <a:lumOff val="25000"/>
                  </a:schemeClr>
                </a:solidFill>
              </a:rPr>
              <a:t>-x)</a:t>
            </a:r>
            <a:r>
              <a:rPr lang="en-US" sz="1400" dirty="0">
                <a:solidFill>
                  <a:schemeClr val="tx1">
                    <a:lumMod val="75000"/>
                    <a:lumOff val="25000"/>
                  </a:schemeClr>
                </a:solidFill>
              </a:rPr>
              <a:t>. If you create a regular file, then its initial octal permissions are </a:t>
            </a:r>
            <a:r>
              <a:rPr lang="en-US" sz="1400" b="1" dirty="0">
                <a:solidFill>
                  <a:schemeClr val="tx1">
                    <a:lumMod val="75000"/>
                    <a:lumOff val="25000"/>
                  </a:schemeClr>
                </a:solidFill>
              </a:rPr>
              <a:t>0644 (-</a:t>
            </a:r>
            <a:r>
              <a:rPr lang="en-US" sz="1400" b="1" dirty="0" err="1">
                <a:solidFill>
                  <a:schemeClr val="tx1">
                    <a:lumMod val="75000"/>
                    <a:lumOff val="25000"/>
                  </a:schemeClr>
                </a:solidFill>
              </a:rPr>
              <a:t>rw</a:t>
            </a:r>
            <a:r>
              <a:rPr lang="en-US" sz="1400" b="1" dirty="0">
                <a:solidFill>
                  <a:schemeClr val="tx1">
                    <a:lumMod val="75000"/>
                    <a:lumOff val="25000"/>
                  </a:schemeClr>
                </a:solidFill>
              </a:rPr>
              <a:t>-r—r--)</a:t>
            </a:r>
            <a:r>
              <a:rPr lang="en-US" sz="1400" dirty="0">
                <a:solidFill>
                  <a:schemeClr val="tx1">
                    <a:lumMod val="75000"/>
                    <a:lumOff val="25000"/>
                  </a:schemeClr>
                </a:solidFill>
              </a:rPr>
              <a:t>.</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t>
            </a:r>
            <a:r>
              <a:rPr lang="en-US" sz="1400" dirty="0" err="1">
                <a:solidFill>
                  <a:schemeClr val="tx1">
                    <a:lumMod val="75000"/>
                    <a:lumOff val="25000"/>
                  </a:schemeClr>
                </a:solidFill>
              </a:rPr>
              <a:t>umask</a:t>
            </a:r>
            <a:r>
              <a:rPr lang="en-US" sz="1400" dirty="0">
                <a:solidFill>
                  <a:schemeClr val="tx1">
                    <a:lumMod val="75000"/>
                    <a:lumOff val="25000"/>
                  </a:schemeClr>
                </a:solidFill>
              </a:rPr>
              <a:t> command without arguments displays the current value of the shell's </a:t>
            </a:r>
            <a:r>
              <a:rPr lang="en-US" sz="1400" dirty="0" err="1">
                <a:solidFill>
                  <a:schemeClr val="tx1">
                    <a:lumMod val="75000"/>
                    <a:lumOff val="25000"/>
                  </a:schemeClr>
                </a:solidFill>
              </a:rPr>
              <a:t>umask</a:t>
            </a:r>
            <a:r>
              <a:rPr lang="en-US" sz="1400" dirty="0">
                <a:solidFill>
                  <a:schemeClr val="tx1">
                    <a:lumMod val="75000"/>
                    <a:lumOff val="25000"/>
                  </a:schemeClr>
                </a:solidFill>
              </a:rPr>
              <a:t>:</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t>
            </a:r>
            <a:r>
              <a:rPr lang="en-US" sz="1400" dirty="0" err="1">
                <a:solidFill>
                  <a:schemeClr val="tx1">
                    <a:lumMod val="75000"/>
                    <a:lumOff val="25000"/>
                  </a:schemeClr>
                </a:solidFill>
              </a:rPr>
              <a:t>user@host</a:t>
            </a:r>
            <a:r>
              <a:rPr lang="en-US" sz="1400" dirty="0">
                <a:solidFill>
                  <a:schemeClr val="tx1">
                    <a:lumMod val="75000"/>
                    <a:lumOff val="25000"/>
                  </a:schemeClr>
                </a:solidFill>
              </a:rPr>
              <a:t> ~]$ </a:t>
            </a:r>
            <a:r>
              <a:rPr lang="en-US" sz="1400" b="1" dirty="0" err="1">
                <a:solidFill>
                  <a:schemeClr val="tx1">
                    <a:lumMod val="75000"/>
                    <a:lumOff val="25000"/>
                  </a:schemeClr>
                </a:solidFill>
              </a:rPr>
              <a:t>umask</a:t>
            </a:r>
            <a:br>
              <a:rPr lang="en-US" sz="1400" dirty="0">
                <a:solidFill>
                  <a:schemeClr val="tx1">
                    <a:lumMod val="75000"/>
                    <a:lumOff val="25000"/>
                  </a:schemeClr>
                </a:solidFill>
              </a:rPr>
            </a:br>
            <a:r>
              <a:rPr lang="en-US" sz="1400" dirty="0">
                <a:solidFill>
                  <a:schemeClr val="tx1">
                    <a:lumMod val="75000"/>
                    <a:lumOff val="25000"/>
                  </a:schemeClr>
                </a:solidFill>
              </a:rPr>
              <a:t>0022</a:t>
            </a: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Making a directory/File: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When we make a new directory, the permissions will be calculated as  i.e. 777 – 022 = 755</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When we make a new file, the permissions will be calculated as – i.e. 666 – 022 = 644</a:t>
            </a: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a:spcAft>
                <a:spcPts val="0"/>
              </a:spcAft>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Control Access to Files</a:t>
            </a:r>
          </a:p>
        </p:txBody>
      </p:sp>
    </p:spTree>
    <p:extLst>
      <p:ext uri="{BB962C8B-B14F-4D97-AF65-F5344CB8AC3E}">
        <p14:creationId xmlns:p14="http://schemas.microsoft.com/office/powerpoint/2010/main" val="392115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5" end="5"/>
                                            </p:txEl>
                                          </p:spTgt>
                                        </p:tgtEl>
                                        <p:attrNameLst>
                                          <p:attrName>style.visibility</p:attrName>
                                        </p:attrNameLst>
                                      </p:cBhvr>
                                      <p:to>
                                        <p:strVal val="visible"/>
                                      </p:to>
                                    </p:set>
                                    <p:anim calcmode="lin" valueType="num">
                                      <p:cBhvr additive="base">
                                        <p:cTn id="31"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5">
                                            <p:txEl>
                                              <p:pRg st="6" end="6"/>
                                            </p:txEl>
                                          </p:spTgt>
                                        </p:tgtEl>
                                        <p:attrNameLst>
                                          <p:attrName>style.visibility</p:attrName>
                                        </p:attrNameLst>
                                      </p:cBhvr>
                                      <p:to>
                                        <p:strVal val="visible"/>
                                      </p:to>
                                    </p:set>
                                    <p:anim calcmode="lin" valueType="num">
                                      <p:cBhvr additive="base">
                                        <p:cTn id="37"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5">
                                            <p:txEl>
                                              <p:pRg st="7" end="7"/>
                                            </p:txEl>
                                          </p:spTgt>
                                        </p:tgtEl>
                                        <p:attrNameLst>
                                          <p:attrName>style.visibility</p:attrName>
                                        </p:attrNameLst>
                                      </p:cBhvr>
                                      <p:to>
                                        <p:strVal val="visible"/>
                                      </p:to>
                                    </p:set>
                                    <p:anim calcmode="lin" valueType="num">
                                      <p:cBhvr additive="base">
                                        <p:cTn id="43"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5">
                                            <p:txEl>
                                              <p:pRg st="8" end="8"/>
                                            </p:txEl>
                                          </p:spTgt>
                                        </p:tgtEl>
                                        <p:attrNameLst>
                                          <p:attrName>style.visibility</p:attrName>
                                        </p:attrNameLst>
                                      </p:cBhvr>
                                      <p:to>
                                        <p:strVal val="visible"/>
                                      </p:to>
                                    </p:set>
                                    <p:anim calcmode="lin" valueType="num">
                                      <p:cBhvr additive="base">
                                        <p:cTn id="49"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38</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Default File Permissions</a:t>
            </a:r>
          </a:p>
          <a:p>
            <a:pPr marL="74295">
              <a:spcAft>
                <a:spcPts val="0"/>
              </a:spcAft>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lumMod val="75000"/>
                  <a:lumOff val="25000"/>
                </a:schemeClr>
              </a:solidFill>
            </a:endParaRP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3600" dirty="0"/>
              <a:t>Control Access to Files</a:t>
            </a:r>
          </a:p>
        </p:txBody>
      </p:sp>
      <p:pic>
        <p:nvPicPr>
          <p:cNvPr id="4" name="Picture 3">
            <a:extLst>
              <a:ext uri="{FF2B5EF4-FFF2-40B4-BE49-F238E27FC236}">
                <a16:creationId xmlns:a16="http://schemas.microsoft.com/office/drawing/2014/main" id="{20184FB3-38A9-DDA8-DF49-32B9B59B140B}"/>
              </a:ext>
            </a:extLst>
          </p:cNvPr>
          <p:cNvPicPr>
            <a:picLocks noChangeAspect="1"/>
          </p:cNvPicPr>
          <p:nvPr/>
        </p:nvPicPr>
        <p:blipFill>
          <a:blip r:embed="rId2"/>
          <a:stretch>
            <a:fillRect/>
          </a:stretch>
        </p:blipFill>
        <p:spPr>
          <a:xfrm>
            <a:off x="3841718" y="1578904"/>
            <a:ext cx="6233445" cy="4437830"/>
          </a:xfrm>
          <a:prstGeom prst="rect">
            <a:avLst/>
          </a:prstGeom>
        </p:spPr>
      </p:pic>
    </p:spTree>
    <p:extLst>
      <p:ext uri="{BB962C8B-B14F-4D97-AF65-F5344CB8AC3E}">
        <p14:creationId xmlns:p14="http://schemas.microsoft.com/office/powerpoint/2010/main" val="19048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Monitor and Manage Linux Processes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a:bodyPr>
          <a:lstStyle/>
          <a:p>
            <a:pPr>
              <a:buFont typeface="Wingdings" panose="05000000000000000000" pitchFamily="2" charset="2"/>
              <a:buChar char="q"/>
            </a:pPr>
            <a:r>
              <a:rPr lang="en-US" dirty="0"/>
              <a:t>Process States and Lifecycle</a:t>
            </a:r>
          </a:p>
          <a:p>
            <a:pPr>
              <a:buFont typeface="Wingdings" panose="05000000000000000000" pitchFamily="2" charset="2"/>
              <a:buChar char="§"/>
            </a:pPr>
            <a:r>
              <a:rPr lang="en-US" dirty="0"/>
              <a:t>Definition of a Process</a:t>
            </a:r>
          </a:p>
          <a:p>
            <a:pPr>
              <a:buFont typeface="Wingdings" panose="05000000000000000000" pitchFamily="2" charset="2"/>
              <a:buChar char="§"/>
            </a:pPr>
            <a:r>
              <a:rPr lang="en-US" dirty="0"/>
              <a:t>Describe Process States</a:t>
            </a:r>
          </a:p>
          <a:p>
            <a:pPr>
              <a:buFont typeface="Wingdings" panose="05000000000000000000" pitchFamily="2" charset="2"/>
              <a:buChar char="§"/>
            </a:pPr>
            <a:r>
              <a:rPr lang="en-US" dirty="0"/>
              <a:t>Importance of Process States</a:t>
            </a:r>
          </a:p>
          <a:p>
            <a:pPr>
              <a:buFont typeface="Wingdings" panose="05000000000000000000" pitchFamily="2" charset="2"/>
              <a:buChar char="§"/>
            </a:pPr>
            <a:r>
              <a:rPr lang="en-US" dirty="0"/>
              <a:t>Listing Processes</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2563072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40</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Definition of a Process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 process is a running instance of a launched, executable program. From the moment that a</a:t>
            </a:r>
            <a:br>
              <a:rPr lang="en-US" sz="1400" dirty="0">
                <a:solidFill>
                  <a:schemeClr val="tx1">
                    <a:lumMod val="75000"/>
                    <a:lumOff val="25000"/>
                  </a:schemeClr>
                </a:solidFill>
              </a:rPr>
            </a:br>
            <a:r>
              <a:rPr lang="en-US" sz="1400" dirty="0">
                <a:solidFill>
                  <a:schemeClr val="tx1">
                    <a:lumMod val="75000"/>
                    <a:lumOff val="25000"/>
                  </a:schemeClr>
                </a:solidFill>
              </a:rPr>
              <a:t>process is created, it consists of the following items:</a:t>
            </a:r>
            <a:br>
              <a:rPr lang="en-US" sz="1400" dirty="0">
                <a:solidFill>
                  <a:schemeClr val="tx1">
                    <a:lumMod val="75000"/>
                    <a:lumOff val="25000"/>
                  </a:schemeClr>
                </a:solidFill>
              </a:rPr>
            </a:br>
            <a:br>
              <a:rPr lang="en-US" sz="1400" dirty="0">
                <a:solidFill>
                  <a:schemeClr val="tx1">
                    <a:lumMod val="75000"/>
                    <a:lumOff val="25000"/>
                  </a:schemeClr>
                </a:solidFill>
              </a:rPr>
            </a:br>
            <a:r>
              <a:rPr lang="en-US" sz="1400" dirty="0">
                <a:solidFill>
                  <a:schemeClr val="tx1">
                    <a:lumMod val="75000"/>
                    <a:lumOff val="25000"/>
                  </a:schemeClr>
                </a:solidFill>
              </a:rPr>
              <a:t>* An address space of allocated memory.</a:t>
            </a:r>
            <a:br>
              <a:rPr lang="en-US" sz="1400" dirty="0">
                <a:solidFill>
                  <a:schemeClr val="tx1">
                    <a:lumMod val="75000"/>
                    <a:lumOff val="25000"/>
                  </a:schemeClr>
                </a:solidFill>
              </a:rPr>
            </a:br>
            <a:r>
              <a:rPr lang="en-US" sz="1400" dirty="0">
                <a:solidFill>
                  <a:schemeClr val="tx1">
                    <a:lumMod val="75000"/>
                    <a:lumOff val="25000"/>
                  </a:schemeClr>
                </a:solidFill>
              </a:rPr>
              <a:t>* Security properties including ownership credentials and privileges.</a:t>
            </a:r>
            <a:br>
              <a:rPr lang="en-US" sz="1400" dirty="0">
                <a:solidFill>
                  <a:schemeClr val="tx1">
                    <a:lumMod val="75000"/>
                    <a:lumOff val="25000"/>
                  </a:schemeClr>
                </a:solidFill>
              </a:rPr>
            </a:br>
            <a:r>
              <a:rPr lang="en-US" sz="1400" dirty="0">
                <a:solidFill>
                  <a:schemeClr val="tx1">
                    <a:lumMod val="75000"/>
                    <a:lumOff val="25000"/>
                  </a:schemeClr>
                </a:solidFill>
              </a:rPr>
              <a:t>* One or more execution threads of program code.</a:t>
            </a:r>
            <a:br>
              <a:rPr lang="en-US" sz="1400" dirty="0">
                <a:solidFill>
                  <a:schemeClr val="tx1">
                    <a:lumMod val="75000"/>
                    <a:lumOff val="25000"/>
                  </a:schemeClr>
                </a:solidFill>
              </a:rPr>
            </a:br>
            <a:r>
              <a:rPr lang="en-US" sz="1400" dirty="0">
                <a:solidFill>
                  <a:schemeClr val="tx1">
                    <a:lumMod val="75000"/>
                    <a:lumOff val="25000"/>
                  </a:schemeClr>
                </a:solidFill>
              </a:rPr>
              <a:t>* A process state.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environment of a process is a list of information that includes the following items:</a:t>
            </a:r>
            <a:br>
              <a:rPr lang="en-US" sz="1400" dirty="0">
                <a:solidFill>
                  <a:schemeClr val="tx1">
                    <a:lumMod val="75000"/>
                    <a:lumOff val="25000"/>
                  </a:schemeClr>
                </a:solidFill>
              </a:rPr>
            </a:br>
            <a:br>
              <a:rPr lang="en-US" sz="1400" dirty="0">
                <a:solidFill>
                  <a:schemeClr val="tx1">
                    <a:lumMod val="75000"/>
                    <a:lumOff val="25000"/>
                  </a:schemeClr>
                </a:solidFill>
              </a:rPr>
            </a:br>
            <a:r>
              <a:rPr lang="en-US" sz="1400" dirty="0">
                <a:solidFill>
                  <a:schemeClr val="tx1">
                    <a:lumMod val="75000"/>
                    <a:lumOff val="25000"/>
                  </a:schemeClr>
                </a:solidFill>
              </a:rPr>
              <a:t>* Local and global variables.</a:t>
            </a:r>
            <a:br>
              <a:rPr lang="en-US" sz="1400" dirty="0">
                <a:solidFill>
                  <a:schemeClr val="tx1">
                    <a:lumMod val="75000"/>
                    <a:lumOff val="25000"/>
                  </a:schemeClr>
                </a:solidFill>
              </a:rPr>
            </a:br>
            <a:r>
              <a:rPr lang="en-US" sz="1400" dirty="0">
                <a:solidFill>
                  <a:schemeClr val="tx1">
                    <a:lumMod val="75000"/>
                    <a:lumOff val="25000"/>
                  </a:schemeClr>
                </a:solidFill>
              </a:rPr>
              <a:t>* A current scheduling context.</a:t>
            </a:r>
            <a:br>
              <a:rPr lang="en-US" sz="1400" dirty="0">
                <a:solidFill>
                  <a:schemeClr val="tx1">
                    <a:lumMod val="75000"/>
                    <a:lumOff val="25000"/>
                  </a:schemeClr>
                </a:solidFill>
              </a:rPr>
            </a:br>
            <a:r>
              <a:rPr lang="en-US" sz="1400" dirty="0">
                <a:solidFill>
                  <a:schemeClr val="tx1">
                    <a:lumMod val="75000"/>
                    <a:lumOff val="25000"/>
                  </a:schemeClr>
                </a:solidFill>
              </a:rPr>
              <a:t>* Allocated system resources, such as file descriptors and network ports.</a:t>
            </a:r>
          </a:p>
          <a:p>
            <a:pPr>
              <a:spcAft>
                <a:spcPts val="0"/>
              </a:spcAft>
              <a:buFont typeface="Wingdings" panose="05000000000000000000" pitchFamily="2" charset="2"/>
              <a:buChar char="q"/>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spTree>
    <p:extLst>
      <p:ext uri="{BB962C8B-B14F-4D97-AF65-F5344CB8AC3E}">
        <p14:creationId xmlns:p14="http://schemas.microsoft.com/office/powerpoint/2010/main" val="422768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41</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Definition of a Process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An existing parent process duplicates its own address space, which is known as a process fork, to create a child process structure.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Every new process is assigned a unique process ID (PID) for tracking and security purposes. The PID and the parent's process ID (PPID) are elements of the new process environment.</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Any process can create a child process.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All processes are descendants of the first system process, </a:t>
            </a:r>
            <a:r>
              <a:rPr lang="en-US" sz="1400" dirty="0" err="1">
                <a:solidFill>
                  <a:schemeClr val="tx1">
                    <a:lumMod val="75000"/>
                    <a:lumOff val="25000"/>
                  </a:schemeClr>
                </a:solidFill>
              </a:rPr>
              <a:t>systemd</a:t>
            </a:r>
            <a:r>
              <a:rPr lang="en-US" sz="1400" dirty="0">
                <a:solidFill>
                  <a:schemeClr val="tx1">
                    <a:lumMod val="75000"/>
                    <a:lumOff val="25000"/>
                  </a:schemeClr>
                </a:solidFill>
              </a:rPr>
              <a:t>, on a Red Hat system.</a:t>
            </a:r>
            <a:br>
              <a:rPr lang="en-US" sz="1400" dirty="0">
                <a:solidFill>
                  <a:schemeClr val="tx1">
                    <a:lumMod val="75000"/>
                    <a:lumOff val="25000"/>
                  </a:schemeClr>
                </a:solidFill>
              </a:rPr>
            </a:b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4" name="Picture 3">
            <a:extLst>
              <a:ext uri="{FF2B5EF4-FFF2-40B4-BE49-F238E27FC236}">
                <a16:creationId xmlns:a16="http://schemas.microsoft.com/office/drawing/2014/main" id="{7C41F709-31E0-63FA-6680-A96675E0F3C9}"/>
              </a:ext>
            </a:extLst>
          </p:cNvPr>
          <p:cNvPicPr>
            <a:picLocks noChangeAspect="1"/>
          </p:cNvPicPr>
          <p:nvPr/>
        </p:nvPicPr>
        <p:blipFill>
          <a:blip r:embed="rId2"/>
          <a:stretch>
            <a:fillRect/>
          </a:stretch>
        </p:blipFill>
        <p:spPr>
          <a:xfrm>
            <a:off x="3074408" y="4011861"/>
            <a:ext cx="6043184" cy="1577477"/>
          </a:xfrm>
          <a:prstGeom prst="rect">
            <a:avLst/>
          </a:prstGeom>
        </p:spPr>
      </p:pic>
    </p:spTree>
    <p:extLst>
      <p:ext uri="{BB962C8B-B14F-4D97-AF65-F5344CB8AC3E}">
        <p14:creationId xmlns:p14="http://schemas.microsoft.com/office/powerpoint/2010/main" val="301295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5" end="5"/>
                                            </p:txEl>
                                          </p:spTgt>
                                        </p:tgtEl>
                                        <p:attrNameLst>
                                          <p:attrName>style.visibility</p:attrName>
                                        </p:attrNameLst>
                                      </p:cBhvr>
                                      <p:to>
                                        <p:strVal val="visible"/>
                                      </p:to>
                                    </p:set>
                                    <p:anim calcmode="lin" valueType="num">
                                      <p:cBhvr additive="base">
                                        <p:cTn id="31"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42</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Definition of a Process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Through the fork routine, a child process inherits security identities, previous and current file descriptors, port and resource privileges, environment variables, and program code. A child process can then execute its own program code.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Normally, a parent process sleeps while the child process runs, setting a wait request to be signaled when the child completes. After the child process exits, it closes or discards its resources and environment, and leaves a zombie resource, which is an entry in the process table.</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4" name="Picture 3">
            <a:extLst>
              <a:ext uri="{FF2B5EF4-FFF2-40B4-BE49-F238E27FC236}">
                <a16:creationId xmlns:a16="http://schemas.microsoft.com/office/drawing/2014/main" id="{7C41F709-31E0-63FA-6680-A96675E0F3C9}"/>
              </a:ext>
            </a:extLst>
          </p:cNvPr>
          <p:cNvPicPr>
            <a:picLocks noChangeAspect="1"/>
          </p:cNvPicPr>
          <p:nvPr/>
        </p:nvPicPr>
        <p:blipFill>
          <a:blip r:embed="rId2"/>
          <a:stretch>
            <a:fillRect/>
          </a:stretch>
        </p:blipFill>
        <p:spPr>
          <a:xfrm>
            <a:off x="3074408" y="3761695"/>
            <a:ext cx="6043184" cy="1577477"/>
          </a:xfrm>
          <a:prstGeom prst="rect">
            <a:avLst/>
          </a:prstGeom>
        </p:spPr>
      </p:pic>
    </p:spTree>
    <p:extLst>
      <p:ext uri="{BB962C8B-B14F-4D97-AF65-F5344CB8AC3E}">
        <p14:creationId xmlns:p14="http://schemas.microsoft.com/office/powerpoint/2010/main" val="212416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Monitor and Manage Linux Processes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a:bodyPr>
          <a:lstStyle/>
          <a:p>
            <a:pPr>
              <a:buFont typeface="Wingdings" panose="05000000000000000000" pitchFamily="2" charset="2"/>
              <a:buChar char="q"/>
            </a:pPr>
            <a:r>
              <a:rPr lang="en-US" sz="2000" dirty="0"/>
              <a:t>Practice Lab Session</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1660353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Control Jobs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dirty="0">
                <a:solidFill>
                  <a:schemeClr val="tx1">
                    <a:lumMod val="75000"/>
                    <a:lumOff val="25000"/>
                  </a:schemeClr>
                </a:solidFill>
              </a:rPr>
              <a:t>When you start a process (run a command), there are two ways you can run it −</a:t>
            </a: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Foreground Processes</a:t>
            </a: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Background Processes</a:t>
            </a: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spTree>
    <p:extLst>
      <p:ext uri="{BB962C8B-B14F-4D97-AF65-F5344CB8AC3E}">
        <p14:creationId xmlns:p14="http://schemas.microsoft.com/office/powerpoint/2010/main" val="260595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3" end="3"/>
                                            </p:txEl>
                                          </p:spTgt>
                                        </p:tgtEl>
                                        <p:attrNameLst>
                                          <p:attrName>style.visibility</p:attrName>
                                        </p:attrNameLst>
                                      </p:cBhvr>
                                      <p:to>
                                        <p:strVal val="visible"/>
                                      </p:to>
                                    </p:set>
                                    <p:anim calcmode="lin" valueType="num">
                                      <p:cBhvr additive="base">
                                        <p:cTn id="11"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4" end="4"/>
                                            </p:txEl>
                                          </p:spTgt>
                                        </p:tgtEl>
                                        <p:attrNameLst>
                                          <p:attrName>style.visibility</p:attrName>
                                        </p:attrNameLst>
                                      </p:cBhvr>
                                      <p:to>
                                        <p:strVal val="visible"/>
                                      </p:to>
                                    </p:set>
                                    <p:anim calcmode="lin" valueType="num">
                                      <p:cBhvr additive="base">
                                        <p:cTn id="1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Control Jobs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Foreground Processes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By default, every process that you start runs in the foreground. It gets its input from the keyboard and sends its output to the screen.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You can see this happen with the ls command. If you wish to list all the files in your current directory, you can use the following command:</a:t>
            </a:r>
            <a:br>
              <a:rPr lang="en-US" sz="1400" dirty="0">
                <a:solidFill>
                  <a:schemeClr val="tx1">
                    <a:lumMod val="75000"/>
                    <a:lumOff val="25000"/>
                  </a:schemeClr>
                </a:solidFill>
              </a:rPr>
            </a:b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3" name="Picture 2">
            <a:extLst>
              <a:ext uri="{FF2B5EF4-FFF2-40B4-BE49-F238E27FC236}">
                <a16:creationId xmlns:a16="http://schemas.microsoft.com/office/drawing/2014/main" id="{C6E268F2-0C67-E1A3-D914-96CA70423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170" y="4343554"/>
            <a:ext cx="831373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658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Control Jobs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Foreground Processes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process runs in the foreground, the output is directed to my screen, and if the ls command wants any input (which it does not), it waits for it from the keyboard.</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While a program is running in the foreground and is time-consuming, no other commands can be run (start any other processes) because the prompt would not be available until the program finishes processing and comes out.</a:t>
            </a:r>
          </a:p>
          <a:p>
            <a:pPr marL="74295" indent="0">
              <a:spcAft>
                <a:spcPts val="0"/>
              </a:spcAft>
              <a:buClrTx/>
              <a:buNone/>
              <a:defRPr/>
            </a:pPr>
            <a:br>
              <a:rPr lang="en-US" sz="1400" dirty="0">
                <a:solidFill>
                  <a:schemeClr val="tx1">
                    <a:lumMod val="75000"/>
                    <a:lumOff val="25000"/>
                  </a:schemeClr>
                </a:solidFill>
              </a:rPr>
            </a:b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spTree>
    <p:extLst>
      <p:ext uri="{BB962C8B-B14F-4D97-AF65-F5344CB8AC3E}">
        <p14:creationId xmlns:p14="http://schemas.microsoft.com/office/powerpoint/2010/main" val="208063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Control Jobs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b="1" dirty="0">
                <a:solidFill>
                  <a:schemeClr val="tx1">
                    <a:lumMod val="75000"/>
                    <a:lumOff val="25000"/>
                  </a:schemeClr>
                </a:solidFill>
              </a:rPr>
              <a:t>Background Processes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 background process runs without being connected to your keyboard.</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advantage of running a process in the background is that you can run other commands; you do not have to wait until it completes to start another!</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simplest way to start a background process is to add an ampersand (&amp;) at the end of the command.</a:t>
            </a:r>
          </a:p>
          <a:p>
            <a:pPr marL="74295" indent="0">
              <a:spcAft>
                <a:spcPts val="0"/>
              </a:spcAft>
              <a:buClrTx/>
              <a:buNone/>
              <a:defRPr/>
            </a:pPr>
            <a:br>
              <a:rPr lang="en-US" sz="1400" dirty="0">
                <a:solidFill>
                  <a:schemeClr val="tx1">
                    <a:lumMod val="75000"/>
                    <a:lumOff val="25000"/>
                  </a:schemeClr>
                </a:solidFill>
              </a:rPr>
            </a:b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4" name="Picture 1">
            <a:extLst>
              <a:ext uri="{FF2B5EF4-FFF2-40B4-BE49-F238E27FC236}">
                <a16:creationId xmlns:a16="http://schemas.microsoft.com/office/drawing/2014/main" id="{E6DCC111-95B5-59BB-767A-721385294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107367"/>
            <a:ext cx="79248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503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48</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0" indent="0">
              <a:spcAft>
                <a:spcPts val="0"/>
              </a:spcAft>
              <a:buClrTx/>
              <a:buNone/>
              <a:defRPr/>
            </a:pPr>
            <a:endParaRPr lang="en-US" sz="1400" b="1" dirty="0">
              <a:solidFill>
                <a:schemeClr val="tx1"/>
              </a:solidFill>
            </a:endParaRPr>
          </a:p>
          <a:p>
            <a:pPr>
              <a:spcAft>
                <a:spcPts val="0"/>
              </a:spcAft>
              <a:buClrTx/>
              <a:buFont typeface="Wingdings" panose="05000000000000000000" pitchFamily="2" charset="2"/>
              <a:buChar char="q"/>
              <a:defRPr/>
            </a:pPr>
            <a:r>
              <a:rPr lang="en-US" sz="1600" b="1" dirty="0">
                <a:solidFill>
                  <a:schemeClr val="tx1"/>
                </a:solidFill>
              </a:rPr>
              <a:t>Describe Process State</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4" name="Picture 3">
            <a:extLst>
              <a:ext uri="{FF2B5EF4-FFF2-40B4-BE49-F238E27FC236}">
                <a16:creationId xmlns:a16="http://schemas.microsoft.com/office/drawing/2014/main" id="{9BF58EBA-B98C-3D9D-0656-9E00E509FEAE}"/>
              </a:ext>
            </a:extLst>
          </p:cNvPr>
          <p:cNvPicPr>
            <a:picLocks noChangeAspect="1"/>
          </p:cNvPicPr>
          <p:nvPr/>
        </p:nvPicPr>
        <p:blipFill>
          <a:blip r:embed="rId2"/>
          <a:stretch>
            <a:fillRect/>
          </a:stretch>
        </p:blipFill>
        <p:spPr>
          <a:xfrm>
            <a:off x="2788633" y="1825809"/>
            <a:ext cx="6614733" cy="3581710"/>
          </a:xfrm>
          <a:prstGeom prst="rect">
            <a:avLst/>
          </a:prstGeom>
        </p:spPr>
      </p:pic>
    </p:spTree>
    <p:extLst>
      <p:ext uri="{BB962C8B-B14F-4D97-AF65-F5344CB8AC3E}">
        <p14:creationId xmlns:p14="http://schemas.microsoft.com/office/powerpoint/2010/main" val="3274794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49</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Process Control with Signals</a:t>
            </a:r>
            <a:br>
              <a:rPr lang="en-US" sz="16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 signal is a software interrupt that is delivered to a process. </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Signals report events to an executing program. Events that generate a signal can be an error, an external event (an I/O request or an expired timer), or by the explicit use of a signal-sending command or keyboard sequence.</a:t>
            </a:r>
          </a:p>
          <a:p>
            <a:pPr marL="74295" indent="0">
              <a:spcAft>
                <a:spcPts val="0"/>
              </a:spcAft>
              <a:buClrTx/>
              <a:buNone/>
              <a:defRPr/>
            </a:pPr>
            <a:br>
              <a:rPr lang="en-US" sz="1400" dirty="0">
                <a:solidFill>
                  <a:schemeClr val="tx1">
                    <a:lumMod val="75000"/>
                    <a:lumOff val="25000"/>
                  </a:schemeClr>
                </a:solidFill>
              </a:rPr>
            </a:br>
            <a:br>
              <a:rPr lang="en-US" sz="14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5" name="Picture 4">
            <a:extLst>
              <a:ext uri="{FF2B5EF4-FFF2-40B4-BE49-F238E27FC236}">
                <a16:creationId xmlns:a16="http://schemas.microsoft.com/office/drawing/2014/main" id="{986A8977-B89F-3C98-3FA3-D2BEBEFD0CEB}"/>
              </a:ext>
            </a:extLst>
          </p:cNvPr>
          <p:cNvPicPr>
            <a:picLocks noChangeAspect="1"/>
          </p:cNvPicPr>
          <p:nvPr/>
        </p:nvPicPr>
        <p:blipFill>
          <a:blip r:embed="rId2"/>
          <a:stretch>
            <a:fillRect/>
          </a:stretch>
        </p:blipFill>
        <p:spPr>
          <a:xfrm>
            <a:off x="4415042" y="3143958"/>
            <a:ext cx="3915774" cy="3329377"/>
          </a:xfrm>
          <a:prstGeom prst="rect">
            <a:avLst/>
          </a:prstGeom>
        </p:spPr>
      </p:pic>
    </p:spTree>
    <p:extLst>
      <p:ext uri="{BB962C8B-B14F-4D97-AF65-F5344CB8AC3E}">
        <p14:creationId xmlns:p14="http://schemas.microsoft.com/office/powerpoint/2010/main" val="52102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50</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0" indent="0">
              <a:spcAft>
                <a:spcPts val="0"/>
              </a:spcAft>
              <a:buClrTx/>
              <a:buNone/>
              <a:defRPr/>
            </a:pPr>
            <a:r>
              <a:rPr lang="en-US" sz="1400" b="1" dirty="0">
                <a:solidFill>
                  <a:schemeClr val="tx1"/>
                </a:solidFill>
              </a:rPr>
              <a:t> </a:t>
            </a:r>
          </a:p>
          <a:p>
            <a:pPr>
              <a:spcAft>
                <a:spcPts val="0"/>
              </a:spcAft>
              <a:buClrTx/>
              <a:buFont typeface="Wingdings" panose="05000000000000000000" pitchFamily="2" charset="2"/>
              <a:buChar char="q"/>
              <a:defRPr/>
            </a:pPr>
            <a:r>
              <a:rPr lang="en-US" sz="1600" b="1" dirty="0">
                <a:solidFill>
                  <a:schemeClr val="tx1"/>
                </a:solidFill>
              </a:rPr>
              <a:t>Describe Process State</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210390" y="293507"/>
            <a:ext cx="6732237" cy="68925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t>Monitor and Manage Linux Processes</a:t>
            </a:r>
          </a:p>
        </p:txBody>
      </p:sp>
      <p:pic>
        <p:nvPicPr>
          <p:cNvPr id="5" name="Picture 4">
            <a:extLst>
              <a:ext uri="{FF2B5EF4-FFF2-40B4-BE49-F238E27FC236}">
                <a16:creationId xmlns:a16="http://schemas.microsoft.com/office/drawing/2014/main" id="{FE4845D5-2533-AFCB-10DA-21B003661A10}"/>
              </a:ext>
            </a:extLst>
          </p:cNvPr>
          <p:cNvPicPr>
            <a:picLocks noChangeAspect="1"/>
          </p:cNvPicPr>
          <p:nvPr/>
        </p:nvPicPr>
        <p:blipFill>
          <a:blip r:embed="rId2"/>
          <a:stretch>
            <a:fillRect/>
          </a:stretch>
        </p:blipFill>
        <p:spPr>
          <a:xfrm>
            <a:off x="1446023" y="1951549"/>
            <a:ext cx="9472481" cy="3330229"/>
          </a:xfrm>
          <a:prstGeom prst="rect">
            <a:avLst/>
          </a:prstGeom>
        </p:spPr>
      </p:pic>
    </p:spTree>
    <p:extLst>
      <p:ext uri="{BB962C8B-B14F-4D97-AF65-F5344CB8AC3E}">
        <p14:creationId xmlns:p14="http://schemas.microsoft.com/office/powerpoint/2010/main" val="10742033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Controlling Services and Daemons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a:bodyPr>
          <a:lstStyle/>
          <a:p>
            <a:pPr>
              <a:buFont typeface="Wingdings" panose="05000000000000000000" pitchFamily="2" charset="2"/>
              <a:buChar char="q"/>
            </a:pPr>
            <a:endParaRPr lang="en-US" sz="2800"/>
          </a:p>
          <a:p>
            <a:pPr>
              <a:buFont typeface="Wingdings" panose="05000000000000000000" pitchFamily="2" charset="2"/>
              <a:buChar char="q"/>
            </a:pPr>
            <a:r>
              <a:rPr lang="en-US" sz="2800"/>
              <a:t>Practice </a:t>
            </a:r>
            <a:r>
              <a:rPr lang="en-US" sz="2800" dirty="0"/>
              <a:t>Lab Session</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1463256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lnSpcReduction="10000"/>
          </a:bodyPr>
          <a:lstStyle/>
          <a:p>
            <a:r>
              <a:rPr lang="en-US" dirty="0"/>
              <a:t>Controlling Services and Daemons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7"/>
            <a:ext cx="4263575" cy="2569866"/>
          </a:xfrm>
        </p:spPr>
        <p:txBody>
          <a:bodyPr>
            <a:normAutofit/>
          </a:bodyPr>
          <a:lstStyle/>
          <a:p>
            <a:pPr>
              <a:buFont typeface="Wingdings" panose="05000000000000000000" pitchFamily="2" charset="2"/>
              <a:buChar char="q"/>
            </a:pPr>
            <a:endParaRPr lang="en-US" sz="2800" dirty="0"/>
          </a:p>
          <a:p>
            <a:pPr>
              <a:buFont typeface="Wingdings" panose="05000000000000000000" pitchFamily="2" charset="2"/>
              <a:buChar char="q"/>
            </a:pPr>
            <a:r>
              <a:rPr lang="en-US" sz="2000" dirty="0"/>
              <a:t>RHEL9 new features</a:t>
            </a:r>
            <a:endParaRPr lang="en-US" sz="2800"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3354036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53</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chemeClr val="tx1">
                    <a:lumMod val="75000"/>
                    <a:lumOff val="25000"/>
                  </a:schemeClr>
                </a:solidFill>
              </a:rPr>
              <a:t>Understanding Red Hat Enterprise Linux 9</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Exciting news for fans of RED HAT! Red Hat Enterprise Linux 9 (RHEL 9) is now accessible to customers. You can download RHEL 9 for free by subscribing to the Red Hat Developer program.</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It was released on the market on May 17, 2022. The new version comes with enhanced features, improved security, and updated packages to enhance the developer's experience. Red Hat Enterprise Linux 9 offers extended RHEL 8 module packaging features.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Red Hat Enterprise Linux 9 is powered by the Linux 5.14 kernel. It includes new and improved features such as enhanced web console performance metrics, Smart Card Authentication via the web console, new security profiles, Integrity Measurement Architecture (IMA) digital hashes and signatures, SSSD login, OpenSSL 3 integration, and the disabling of SSH root password login to enhance security.</a:t>
            </a: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700" b="1" dirty="0"/>
              <a:t>What’s New in RHEL 9</a:t>
            </a:r>
          </a:p>
        </p:txBody>
      </p:sp>
    </p:spTree>
    <p:extLst>
      <p:ext uri="{BB962C8B-B14F-4D97-AF65-F5344CB8AC3E}">
        <p14:creationId xmlns:p14="http://schemas.microsoft.com/office/powerpoint/2010/main" val="213782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i="0" dirty="0">
                <a:solidFill>
                  <a:srgbClr val="333333"/>
                </a:solidFill>
                <a:effectLst/>
                <a:latin typeface="Open Sans" panose="020B0606030504020204" pitchFamily="34" charset="0"/>
              </a:rPr>
              <a:t>RHEL 9 Release with new features</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Improved performance metrics for web console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Kernel live patching</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Streamlined image building</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Enhanced security</a:t>
            </a:r>
          </a:p>
          <a:p>
            <a:pPr marL="652653" lvl="1" indent="-285750">
              <a:spcAft>
                <a:spcPts val="0"/>
              </a:spcAft>
              <a:buFont typeface="Courier New" panose="02070309020205020404" pitchFamily="49" charset="0"/>
              <a:buChar char="o"/>
              <a:defRPr/>
            </a:pPr>
            <a:r>
              <a:rPr lang="en-US" sz="1200" b="0" i="0" dirty="0">
                <a:solidFill>
                  <a:srgbClr val="212529"/>
                </a:solidFill>
                <a:effectLst/>
              </a:rPr>
              <a:t>The web console now supports smart card authentication. </a:t>
            </a:r>
          </a:p>
          <a:p>
            <a:pPr marL="652653" lvl="1" indent="-285750">
              <a:spcAft>
                <a:spcPts val="0"/>
              </a:spcAft>
              <a:buFont typeface="Courier New" panose="02070309020205020404" pitchFamily="49" charset="0"/>
              <a:buChar char="o"/>
              <a:defRPr/>
            </a:pPr>
            <a:r>
              <a:rPr lang="en-US" sz="1200" b="0" i="0" dirty="0">
                <a:solidFill>
                  <a:srgbClr val="212529"/>
                </a:solidFill>
                <a:effectLst/>
              </a:rPr>
              <a:t>There are new </a:t>
            </a:r>
            <a:r>
              <a:rPr lang="en-US" sz="1200" b="0" i="0" dirty="0" err="1">
                <a:solidFill>
                  <a:srgbClr val="212529"/>
                </a:solidFill>
                <a:effectLst/>
              </a:rPr>
              <a:t>SELinux</a:t>
            </a:r>
            <a:r>
              <a:rPr lang="en-US" sz="1200" b="0" i="0" dirty="0">
                <a:solidFill>
                  <a:srgbClr val="212529"/>
                </a:solidFill>
                <a:effectLst/>
              </a:rPr>
              <a:t> security profiles available. </a:t>
            </a:r>
          </a:p>
          <a:p>
            <a:pPr marL="652653" lvl="1" indent="-285750">
              <a:spcAft>
                <a:spcPts val="0"/>
              </a:spcAft>
              <a:buFont typeface="Courier New" panose="02070309020205020404" pitchFamily="49" charset="0"/>
              <a:buChar char="o"/>
              <a:defRPr/>
            </a:pPr>
            <a:r>
              <a:rPr lang="en-US" sz="1200" b="0" i="0" dirty="0">
                <a:solidFill>
                  <a:srgbClr val="212529"/>
                </a:solidFill>
                <a:effectLst/>
              </a:rPr>
              <a:t>SSSD Logging has been enhanced with more details and improved search capabilities. </a:t>
            </a:r>
          </a:p>
          <a:p>
            <a:pPr marL="652653" lvl="1" indent="-285750">
              <a:spcAft>
                <a:spcPts val="0"/>
              </a:spcAft>
              <a:buFont typeface="Courier New" panose="02070309020205020404" pitchFamily="49" charset="0"/>
              <a:buChar char="o"/>
              <a:defRPr/>
            </a:pPr>
            <a:r>
              <a:rPr lang="en-US" sz="1200" b="0" i="0" dirty="0">
                <a:solidFill>
                  <a:srgbClr val="212529"/>
                </a:solidFill>
                <a:effectLst/>
              </a:rPr>
              <a:t>OpenSSL 3 is now integrated. </a:t>
            </a:r>
          </a:p>
          <a:p>
            <a:pPr marL="652653" lvl="1" indent="-285750">
              <a:spcAft>
                <a:spcPts val="0"/>
              </a:spcAft>
              <a:buFont typeface="Courier New" panose="02070309020205020404" pitchFamily="49" charset="0"/>
              <a:buChar char="o"/>
              <a:defRPr/>
            </a:pPr>
            <a:r>
              <a:rPr lang="en-US" sz="1200" b="0" i="0" dirty="0">
                <a:solidFill>
                  <a:srgbClr val="212529"/>
                </a:solidFill>
                <a:effectLst/>
              </a:rPr>
              <a:t>The Integrity Measurement Architecture enables dynamic verification of the OS integrity. </a:t>
            </a:r>
          </a:p>
          <a:p>
            <a:pPr marL="652653" lvl="1" indent="-285750">
              <a:spcAft>
                <a:spcPts val="0"/>
              </a:spcAft>
              <a:buFont typeface="Courier New" panose="02070309020205020404" pitchFamily="49" charset="0"/>
              <a:buChar char="o"/>
              <a:defRPr/>
            </a:pPr>
            <a:r>
              <a:rPr lang="en-US" sz="1200" b="0" i="0" dirty="0">
                <a:solidFill>
                  <a:srgbClr val="212529"/>
                </a:solidFill>
                <a:effectLst/>
              </a:rPr>
              <a:t>By default, the SSH root password is disabled.</a:t>
            </a:r>
            <a:endParaRPr lang="en-US" sz="12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Enhanced container development</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Application updates</a:t>
            </a: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700" b="1" dirty="0"/>
              <a:t>What’s New in RHEL 9</a:t>
            </a:r>
          </a:p>
        </p:txBody>
      </p:sp>
    </p:spTree>
    <p:extLst>
      <p:ext uri="{BB962C8B-B14F-4D97-AF65-F5344CB8AC3E}">
        <p14:creationId xmlns:p14="http://schemas.microsoft.com/office/powerpoint/2010/main" val="119816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
                                            <p:txEl>
                                              <p:pRg st="6" end="6"/>
                                            </p:txEl>
                                          </p:spTgt>
                                        </p:tgtEl>
                                        <p:attrNameLst>
                                          <p:attrName>style.visibility</p:attrName>
                                        </p:attrNameLst>
                                      </p:cBhvr>
                                      <p:to>
                                        <p:strVal val="visible"/>
                                      </p:to>
                                    </p:set>
                                    <p:anim calcmode="lin" valueType="num">
                                      <p:cBhvr additive="base">
                                        <p:cTn id="29"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
                                            <p:txEl>
                                              <p:pRg st="7" end="7"/>
                                            </p:txEl>
                                          </p:spTgt>
                                        </p:tgtEl>
                                        <p:attrNameLst>
                                          <p:attrName>style.visibility</p:attrName>
                                        </p:attrNameLst>
                                      </p:cBhvr>
                                      <p:to>
                                        <p:strVal val="visible"/>
                                      </p:to>
                                    </p:set>
                                    <p:anim calcmode="lin" valueType="num">
                                      <p:cBhvr additive="base">
                                        <p:cTn id="33"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
                                            <p:txEl>
                                              <p:pRg st="8" end="8"/>
                                            </p:txEl>
                                          </p:spTgt>
                                        </p:tgtEl>
                                        <p:attrNameLst>
                                          <p:attrName>style.visibility</p:attrName>
                                        </p:attrNameLst>
                                      </p:cBhvr>
                                      <p:to>
                                        <p:strVal val="visible"/>
                                      </p:to>
                                    </p:set>
                                    <p:anim calcmode="lin" valueType="num">
                                      <p:cBhvr additive="base">
                                        <p:cTn id="37"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5">
                                            <p:txEl>
                                              <p:pRg st="9" end="9"/>
                                            </p:txEl>
                                          </p:spTgt>
                                        </p:tgtEl>
                                        <p:attrNameLst>
                                          <p:attrName>style.visibility</p:attrName>
                                        </p:attrNameLst>
                                      </p:cBhvr>
                                      <p:to>
                                        <p:strVal val="visible"/>
                                      </p:to>
                                    </p:set>
                                    <p:anim calcmode="lin" valueType="num">
                                      <p:cBhvr additive="base">
                                        <p:cTn id="41"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5">
                                            <p:txEl>
                                              <p:pRg st="10" end="10"/>
                                            </p:txEl>
                                          </p:spTgt>
                                        </p:tgtEl>
                                        <p:attrNameLst>
                                          <p:attrName>style.visibility</p:attrName>
                                        </p:attrNameLst>
                                      </p:cBhvr>
                                      <p:to>
                                        <p:strVal val="visible"/>
                                      </p:to>
                                    </p:set>
                                    <p:anim calcmode="lin" valueType="num">
                                      <p:cBhvr additive="base">
                                        <p:cTn id="45"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5">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5">
                                            <p:txEl>
                                              <p:pRg st="11" end="11"/>
                                            </p:txEl>
                                          </p:spTgt>
                                        </p:tgtEl>
                                        <p:attrNameLst>
                                          <p:attrName>style.visibility</p:attrName>
                                        </p:attrNameLst>
                                      </p:cBhvr>
                                      <p:to>
                                        <p:strVal val="visible"/>
                                      </p:to>
                                    </p:set>
                                    <p:anim calcmode="lin" valueType="num">
                                      <p:cBhvr additive="base">
                                        <p:cTn id="49" dur="500" fill="hold"/>
                                        <p:tgtEl>
                                          <p:spTgt spid="35">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5">
                                            <p:txEl>
                                              <p:pRg st="12" end="12"/>
                                            </p:txEl>
                                          </p:spTgt>
                                        </p:tgtEl>
                                        <p:attrNameLst>
                                          <p:attrName>style.visibility</p:attrName>
                                        </p:attrNameLst>
                                      </p:cBhvr>
                                      <p:to>
                                        <p:strVal val="visible"/>
                                      </p:to>
                                    </p:set>
                                    <p:anim calcmode="lin" valueType="num">
                                      <p:cBhvr additive="base">
                                        <p:cTn id="55" dur="500" fill="hold"/>
                                        <p:tgtEl>
                                          <p:spTgt spid="35">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5">
                                            <p:txEl>
                                              <p:pRg st="13" end="13"/>
                                            </p:txEl>
                                          </p:spTgt>
                                        </p:tgtEl>
                                        <p:attrNameLst>
                                          <p:attrName>style.visibility</p:attrName>
                                        </p:attrNameLst>
                                      </p:cBhvr>
                                      <p:to>
                                        <p:strVal val="visible"/>
                                      </p:to>
                                    </p:set>
                                    <p:anim calcmode="lin" valueType="num">
                                      <p:cBhvr additive="base">
                                        <p:cTn id="61" dur="500" fill="hold"/>
                                        <p:tgtEl>
                                          <p:spTgt spid="35">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i="0" dirty="0">
                <a:solidFill>
                  <a:srgbClr val="333333"/>
                </a:solidFill>
                <a:effectLst/>
                <a:latin typeface="Open Sans" panose="020B0606030504020204" pitchFamily="34" charset="0"/>
              </a:rPr>
              <a:t>RHEL 9 Release with new features</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RHEL 9 supports newer versions of programming languages:</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Python 3.9</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Node.js 16</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Ruby 3.0.3</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Perl 5.32</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PHP 8.0</a:t>
            </a:r>
          </a:p>
          <a:p>
            <a:pPr marL="366903" lvl="1" indent="0">
              <a:spcAft>
                <a:spcPts val="0"/>
              </a:spcAft>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It comes with preinstalled Version Control System</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Git 2.31</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Subversion 1.14</a:t>
            </a:r>
          </a:p>
          <a:p>
            <a:pPr marL="74295" indent="0">
              <a:spcAft>
                <a:spcPts val="0"/>
              </a:spcAft>
              <a:buClrTx/>
              <a:buNone/>
              <a:defRPr/>
            </a:pP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RHEL 9 is available with caching server</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Squid 5.2</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Varnish cache 6.6</a:t>
            </a:r>
          </a:p>
          <a:p>
            <a:pPr marL="74295" indent="0">
              <a:spcAft>
                <a:spcPts val="0"/>
              </a:spcAft>
              <a:buClrTx/>
              <a:buNone/>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700" b="1" dirty="0"/>
              <a:t>What’s New in RHEL 9</a:t>
            </a:r>
          </a:p>
        </p:txBody>
      </p:sp>
    </p:spTree>
    <p:extLst>
      <p:ext uri="{BB962C8B-B14F-4D97-AF65-F5344CB8AC3E}">
        <p14:creationId xmlns:p14="http://schemas.microsoft.com/office/powerpoint/2010/main" val="154756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3" end="3"/>
                                            </p:txEl>
                                          </p:spTgt>
                                        </p:tgtEl>
                                        <p:attrNameLst>
                                          <p:attrName>style.visibility</p:attrName>
                                        </p:attrNameLst>
                                      </p:cBhvr>
                                      <p:to>
                                        <p:strVal val="visible"/>
                                      </p:to>
                                    </p:set>
                                    <p:anim calcmode="lin" valueType="num">
                                      <p:cBhvr additive="base">
                                        <p:cTn id="11"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4" end="4"/>
                                            </p:txEl>
                                          </p:spTgt>
                                        </p:tgtEl>
                                        <p:attrNameLst>
                                          <p:attrName>style.visibility</p:attrName>
                                        </p:attrNameLst>
                                      </p:cBhvr>
                                      <p:to>
                                        <p:strVal val="visible"/>
                                      </p:to>
                                    </p:set>
                                    <p:anim calcmode="lin" valueType="num">
                                      <p:cBhvr additive="base">
                                        <p:cTn id="1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anim calcmode="lin" valueType="num">
                                      <p:cBhvr additive="base">
                                        <p:cTn id="1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 calcmode="lin" valueType="num">
                                      <p:cBhvr additive="base">
                                        <p:cTn id="23"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5">
                                            <p:txEl>
                                              <p:pRg st="7" end="7"/>
                                            </p:txEl>
                                          </p:spTgt>
                                        </p:tgtEl>
                                        <p:attrNameLst>
                                          <p:attrName>style.visibility</p:attrName>
                                        </p:attrNameLst>
                                      </p:cBhvr>
                                      <p:to>
                                        <p:strVal val="visible"/>
                                      </p:to>
                                    </p:set>
                                    <p:anim calcmode="lin" valueType="num">
                                      <p:cBhvr additive="base">
                                        <p:cTn id="27"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5">
                                            <p:txEl>
                                              <p:pRg st="9" end="9"/>
                                            </p:txEl>
                                          </p:spTgt>
                                        </p:tgtEl>
                                        <p:attrNameLst>
                                          <p:attrName>style.visibility</p:attrName>
                                        </p:attrNameLst>
                                      </p:cBhvr>
                                      <p:to>
                                        <p:strVal val="visible"/>
                                      </p:to>
                                    </p:set>
                                    <p:anim calcmode="lin" valueType="num">
                                      <p:cBhvr additive="base">
                                        <p:cTn id="33"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
                                            <p:txEl>
                                              <p:pRg st="10" end="10"/>
                                            </p:txEl>
                                          </p:spTgt>
                                        </p:tgtEl>
                                        <p:attrNameLst>
                                          <p:attrName>style.visibility</p:attrName>
                                        </p:attrNameLst>
                                      </p:cBhvr>
                                      <p:to>
                                        <p:strVal val="visible"/>
                                      </p:to>
                                    </p:set>
                                    <p:anim calcmode="lin" valueType="num">
                                      <p:cBhvr additive="base">
                                        <p:cTn id="37"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5">
                                            <p:txEl>
                                              <p:pRg st="11" end="11"/>
                                            </p:txEl>
                                          </p:spTgt>
                                        </p:tgtEl>
                                        <p:attrNameLst>
                                          <p:attrName>style.visibility</p:attrName>
                                        </p:attrNameLst>
                                      </p:cBhvr>
                                      <p:to>
                                        <p:strVal val="visible"/>
                                      </p:to>
                                    </p:set>
                                    <p:anim calcmode="lin" valueType="num">
                                      <p:cBhvr additive="base">
                                        <p:cTn id="41" dur="500" fill="hold"/>
                                        <p:tgtEl>
                                          <p:spTgt spid="35">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5">
                                            <p:txEl>
                                              <p:pRg st="13" end="13"/>
                                            </p:txEl>
                                          </p:spTgt>
                                        </p:tgtEl>
                                        <p:attrNameLst>
                                          <p:attrName>style.visibility</p:attrName>
                                        </p:attrNameLst>
                                      </p:cBhvr>
                                      <p:to>
                                        <p:strVal val="visible"/>
                                      </p:to>
                                    </p:set>
                                    <p:anim calcmode="lin" valueType="num">
                                      <p:cBhvr additive="base">
                                        <p:cTn id="47" dur="500" fill="hold"/>
                                        <p:tgtEl>
                                          <p:spTgt spid="35">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5">
                                            <p:txEl>
                                              <p:pRg st="13" end="13"/>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5">
                                            <p:txEl>
                                              <p:pRg st="14" end="14"/>
                                            </p:txEl>
                                          </p:spTgt>
                                        </p:tgtEl>
                                        <p:attrNameLst>
                                          <p:attrName>style.visibility</p:attrName>
                                        </p:attrNameLst>
                                      </p:cBhvr>
                                      <p:to>
                                        <p:strVal val="visible"/>
                                      </p:to>
                                    </p:set>
                                    <p:anim calcmode="lin" valueType="num">
                                      <p:cBhvr additive="base">
                                        <p:cTn id="51" dur="500" fill="hold"/>
                                        <p:tgtEl>
                                          <p:spTgt spid="35">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5">
                                            <p:txEl>
                                              <p:pRg st="14" end="14"/>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5">
                                            <p:txEl>
                                              <p:pRg st="15" end="15"/>
                                            </p:txEl>
                                          </p:spTgt>
                                        </p:tgtEl>
                                        <p:attrNameLst>
                                          <p:attrName>style.visibility</p:attrName>
                                        </p:attrNameLst>
                                      </p:cBhvr>
                                      <p:to>
                                        <p:strVal val="visible"/>
                                      </p:to>
                                    </p:set>
                                    <p:anim calcmode="lin" valueType="num">
                                      <p:cBhvr additive="base">
                                        <p:cTn id="55" dur="500" fill="hold"/>
                                        <p:tgtEl>
                                          <p:spTgt spid="35">
                                            <p:txEl>
                                              <p:pRg st="15" end="1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5">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i="0" dirty="0">
                <a:solidFill>
                  <a:srgbClr val="333333"/>
                </a:solidFill>
                <a:effectLst/>
                <a:latin typeface="Open Sans" panose="020B0606030504020204" pitchFamily="34" charset="0"/>
              </a:rPr>
              <a:t>RHEL 9 Release with new features</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RHEL 9 comes with the following database support.</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MySQL 8.0</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MariaDB 10.5</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PostgreSQL 13</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Redis 6.2</a:t>
            </a:r>
            <a:br>
              <a:rPr lang="en-US" sz="1200" dirty="0">
                <a:solidFill>
                  <a:schemeClr val="tx1">
                    <a:lumMod val="75000"/>
                    <a:lumOff val="25000"/>
                  </a:schemeClr>
                </a:solidFill>
              </a:rPr>
            </a:br>
            <a:endParaRPr lang="en-US" sz="14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RHEL 9 release with the following compilers and development tools</a:t>
            </a:r>
          </a:p>
          <a:p>
            <a:pPr marL="652653" lvl="1" indent="-285750">
              <a:spcAft>
                <a:spcPts val="0"/>
              </a:spcAft>
              <a:buFont typeface="Courier New" panose="02070309020205020404" pitchFamily="49" charset="0"/>
              <a:buChar char="o"/>
              <a:defRPr/>
            </a:pPr>
            <a:r>
              <a:rPr lang="en-US" sz="1200" dirty="0">
                <a:solidFill>
                  <a:schemeClr val="tx1">
                    <a:lumMod val="75000"/>
                    <a:lumOff val="25000"/>
                  </a:schemeClr>
                </a:solidFill>
              </a:rPr>
              <a:t>GCC 11.2.1</a:t>
            </a:r>
          </a:p>
          <a:p>
            <a:pPr marL="652653" lvl="1" indent="-285750">
              <a:spcAft>
                <a:spcPts val="0"/>
              </a:spcAft>
              <a:buFont typeface="Courier New" panose="02070309020205020404" pitchFamily="49" charset="0"/>
              <a:buChar char="o"/>
              <a:defRPr/>
            </a:pPr>
            <a:r>
              <a:rPr lang="en-US" sz="1200" dirty="0" err="1">
                <a:solidFill>
                  <a:schemeClr val="tx1">
                    <a:lumMod val="75000"/>
                    <a:lumOff val="25000"/>
                  </a:schemeClr>
                </a:solidFill>
              </a:rPr>
              <a:t>glibc</a:t>
            </a:r>
            <a:r>
              <a:rPr lang="en-US" sz="1200" dirty="0">
                <a:solidFill>
                  <a:schemeClr val="tx1">
                    <a:lumMod val="75000"/>
                    <a:lumOff val="25000"/>
                  </a:schemeClr>
                </a:solidFill>
              </a:rPr>
              <a:t> 2.34</a:t>
            </a:r>
          </a:p>
          <a:p>
            <a:pPr marL="652653" lvl="1" indent="-285750">
              <a:spcAft>
                <a:spcPts val="0"/>
              </a:spcAft>
              <a:buFont typeface="Courier New" panose="02070309020205020404" pitchFamily="49" charset="0"/>
              <a:buChar char="o"/>
              <a:defRPr/>
            </a:pPr>
            <a:r>
              <a:rPr lang="en-US" sz="1200" dirty="0" err="1">
                <a:solidFill>
                  <a:schemeClr val="tx1">
                    <a:lumMod val="75000"/>
                    <a:lumOff val="25000"/>
                  </a:schemeClr>
                </a:solidFill>
              </a:rPr>
              <a:t>binutils</a:t>
            </a:r>
            <a:r>
              <a:rPr lang="en-US" sz="1200" dirty="0">
                <a:solidFill>
                  <a:schemeClr val="tx1">
                    <a:lumMod val="75000"/>
                    <a:lumOff val="25000"/>
                  </a:schemeClr>
                </a:solidFill>
              </a:rPr>
              <a:t> 2.35.2</a:t>
            </a:r>
            <a:endParaRPr lang="en-US" sz="1200" dirty="0">
              <a:solidFill>
                <a:schemeClr val="tx1"/>
              </a:solidFill>
            </a:endParaRPr>
          </a:p>
          <a:p>
            <a:pPr marL="360045" indent="-285750">
              <a:spcAft>
                <a:spcPts val="0"/>
              </a:spcAft>
              <a:buClrTx/>
              <a:buFont typeface="Wingdings" panose="05000000000000000000" pitchFamily="2" charset="2"/>
              <a:buChar char="§"/>
              <a:defRPr/>
            </a:pPr>
            <a:r>
              <a:rPr lang="en-US" sz="1400" dirty="0">
                <a:solidFill>
                  <a:schemeClr val="tx1"/>
                </a:solidFill>
              </a:rPr>
              <a:t>Network-Scripts deprecated.</a:t>
            </a:r>
          </a:p>
          <a:p>
            <a:pPr marL="360045" indent="-285750">
              <a:spcAft>
                <a:spcPts val="0"/>
              </a:spcAft>
              <a:buClrTx/>
              <a:buFont typeface="Wingdings" panose="05000000000000000000" pitchFamily="2" charset="2"/>
              <a:buChar char="§"/>
              <a:defRPr/>
            </a:pPr>
            <a:r>
              <a:rPr lang="en-US" sz="1400" dirty="0">
                <a:solidFill>
                  <a:schemeClr val="tx1"/>
                </a:solidFill>
              </a:rPr>
              <a:t>VDO (Virtual Data Optimizer) is now LVM.</a:t>
            </a:r>
          </a:p>
          <a:p>
            <a:pPr marL="360045" indent="-285750">
              <a:spcAft>
                <a:spcPts val="0"/>
              </a:spcAft>
              <a:buClrTx/>
              <a:buFont typeface="Wingdings" panose="05000000000000000000" pitchFamily="2" charset="2"/>
              <a:buChar char="§"/>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700" b="1" dirty="0"/>
              <a:t>What’s New in RHEL 9</a:t>
            </a:r>
          </a:p>
        </p:txBody>
      </p:sp>
    </p:spTree>
    <p:extLst>
      <p:ext uri="{BB962C8B-B14F-4D97-AF65-F5344CB8AC3E}">
        <p14:creationId xmlns:p14="http://schemas.microsoft.com/office/powerpoint/2010/main" val="368439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xEl>
                                              <p:pRg st="3" end="3"/>
                                            </p:txEl>
                                          </p:spTgt>
                                        </p:tgtEl>
                                        <p:attrNameLst>
                                          <p:attrName>style.visibility</p:attrName>
                                        </p:attrNameLst>
                                      </p:cBhvr>
                                      <p:to>
                                        <p:strVal val="visible"/>
                                      </p:to>
                                    </p:set>
                                    <p:anim calcmode="lin" valueType="num">
                                      <p:cBhvr additive="base">
                                        <p:cTn id="11"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xEl>
                                              <p:pRg st="4" end="4"/>
                                            </p:txEl>
                                          </p:spTgt>
                                        </p:tgtEl>
                                        <p:attrNameLst>
                                          <p:attrName>style.visibility</p:attrName>
                                        </p:attrNameLst>
                                      </p:cBhvr>
                                      <p:to>
                                        <p:strVal val="visible"/>
                                      </p:to>
                                    </p:set>
                                    <p:anim calcmode="lin" valueType="num">
                                      <p:cBhvr additive="base">
                                        <p:cTn id="1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anim calcmode="lin" valueType="num">
                                      <p:cBhvr additive="base">
                                        <p:cTn id="1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 calcmode="lin" valueType="num">
                                      <p:cBhvr additive="base">
                                        <p:cTn id="23"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5">
                                            <p:txEl>
                                              <p:pRg st="7" end="7"/>
                                            </p:txEl>
                                          </p:spTgt>
                                        </p:tgtEl>
                                        <p:attrNameLst>
                                          <p:attrName>style.visibility</p:attrName>
                                        </p:attrNameLst>
                                      </p:cBhvr>
                                      <p:to>
                                        <p:strVal val="visible"/>
                                      </p:to>
                                    </p:set>
                                    <p:anim calcmode="lin" valueType="num">
                                      <p:cBhvr additive="base">
                                        <p:cTn id="29"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
                                            <p:txEl>
                                              <p:pRg st="8" end="8"/>
                                            </p:txEl>
                                          </p:spTgt>
                                        </p:tgtEl>
                                        <p:attrNameLst>
                                          <p:attrName>style.visibility</p:attrName>
                                        </p:attrNameLst>
                                      </p:cBhvr>
                                      <p:to>
                                        <p:strVal val="visible"/>
                                      </p:to>
                                    </p:set>
                                    <p:anim calcmode="lin" valueType="num">
                                      <p:cBhvr additive="base">
                                        <p:cTn id="33" dur="500" fill="hold"/>
                                        <p:tgtEl>
                                          <p:spTgt spid="35">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
                                            <p:txEl>
                                              <p:pRg st="9" end="9"/>
                                            </p:txEl>
                                          </p:spTgt>
                                        </p:tgtEl>
                                        <p:attrNameLst>
                                          <p:attrName>style.visibility</p:attrName>
                                        </p:attrNameLst>
                                      </p:cBhvr>
                                      <p:to>
                                        <p:strVal val="visible"/>
                                      </p:to>
                                    </p:set>
                                    <p:anim calcmode="lin" valueType="num">
                                      <p:cBhvr additive="base">
                                        <p:cTn id="37" dur="500" fill="hold"/>
                                        <p:tgtEl>
                                          <p:spTgt spid="35">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5">
                                            <p:txEl>
                                              <p:pRg st="10" end="10"/>
                                            </p:txEl>
                                          </p:spTgt>
                                        </p:tgtEl>
                                        <p:attrNameLst>
                                          <p:attrName>style.visibility</p:attrName>
                                        </p:attrNameLst>
                                      </p:cBhvr>
                                      <p:to>
                                        <p:strVal val="visible"/>
                                      </p:to>
                                    </p:set>
                                    <p:anim calcmode="lin" valueType="num">
                                      <p:cBhvr additive="base">
                                        <p:cTn id="41" dur="500" fill="hold"/>
                                        <p:tgtEl>
                                          <p:spTgt spid="35">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5">
                                            <p:txEl>
                                              <p:pRg st="11" end="11"/>
                                            </p:txEl>
                                          </p:spTgt>
                                        </p:tgtEl>
                                        <p:attrNameLst>
                                          <p:attrName>style.visibility</p:attrName>
                                        </p:attrNameLst>
                                      </p:cBhvr>
                                      <p:to>
                                        <p:strVal val="visible"/>
                                      </p:to>
                                    </p:set>
                                    <p:anim calcmode="lin" valueType="num">
                                      <p:cBhvr additive="base">
                                        <p:cTn id="47" dur="500" fill="hold"/>
                                        <p:tgtEl>
                                          <p:spTgt spid="35">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5">
                                            <p:txEl>
                                              <p:pRg st="12" end="12"/>
                                            </p:txEl>
                                          </p:spTgt>
                                        </p:tgtEl>
                                        <p:attrNameLst>
                                          <p:attrName>style.visibility</p:attrName>
                                        </p:attrNameLst>
                                      </p:cBhvr>
                                      <p:to>
                                        <p:strVal val="visible"/>
                                      </p:to>
                                    </p:set>
                                    <p:anim calcmode="lin" valueType="num">
                                      <p:cBhvr additive="base">
                                        <p:cTn id="53" dur="500" fill="hold"/>
                                        <p:tgtEl>
                                          <p:spTgt spid="35">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dirty="0">
                <a:solidFill>
                  <a:srgbClr val="333333"/>
                </a:solidFill>
                <a:latin typeface="Open Sans" panose="020B0606030504020204" pitchFamily="34" charset="0"/>
              </a:rPr>
              <a:t>Configure the OpenSSH Server</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t>
            </a:r>
            <a:r>
              <a:rPr lang="en-US" sz="1400" dirty="0" err="1">
                <a:solidFill>
                  <a:schemeClr val="tx1">
                    <a:lumMod val="75000"/>
                    <a:lumOff val="25000"/>
                  </a:schemeClr>
                </a:solidFill>
              </a:rPr>
              <a:t>sshd</a:t>
            </a:r>
            <a:r>
              <a:rPr lang="en-US" sz="1400" dirty="0">
                <a:solidFill>
                  <a:schemeClr val="tx1">
                    <a:lumMod val="75000"/>
                    <a:lumOff val="25000"/>
                  </a:schemeClr>
                </a:solidFill>
              </a:rPr>
              <a:t> daemon provides the OpenSSH service. You can configure the service by editing the /</a:t>
            </a:r>
            <a:r>
              <a:rPr lang="en-US" sz="1400" dirty="0" err="1">
                <a:solidFill>
                  <a:schemeClr val="tx1">
                    <a:lumMod val="75000"/>
                    <a:lumOff val="25000"/>
                  </a:schemeClr>
                </a:solidFill>
              </a:rPr>
              <a:t>etc</a:t>
            </a:r>
            <a:r>
              <a:rPr lang="en-US" sz="1400" dirty="0">
                <a:solidFill>
                  <a:schemeClr val="tx1">
                    <a:lumMod val="75000"/>
                    <a:lumOff val="25000"/>
                  </a:schemeClr>
                </a:solidFill>
              </a:rPr>
              <a:t>/ssh/</a:t>
            </a:r>
            <a:r>
              <a:rPr lang="en-US" sz="1400" dirty="0" err="1">
                <a:solidFill>
                  <a:schemeClr val="tx1">
                    <a:lumMod val="75000"/>
                    <a:lumOff val="25000"/>
                  </a:schemeClr>
                </a:solidFill>
              </a:rPr>
              <a:t>sshd_config</a:t>
            </a:r>
            <a:r>
              <a:rPr lang="en-US" sz="1400" dirty="0">
                <a:solidFill>
                  <a:schemeClr val="tx1">
                    <a:lumMod val="75000"/>
                    <a:lumOff val="25000"/>
                  </a:schemeClr>
                </a:solidFill>
              </a:rPr>
              <a:t> file.</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default configuration of the OpenSSH server works well for many use cases. However, you might want to make some changes to strengthen the security of your system. </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You might want to prohibit direct remote login to the root account, and you might want to prohibit password-based authentication (in favor of SSH private key authentication).</a:t>
            </a:r>
            <a:br>
              <a:rPr lang="en-US" sz="1200" dirty="0">
                <a:solidFill>
                  <a:schemeClr val="tx1">
                    <a:lumMod val="75000"/>
                    <a:lumOff val="25000"/>
                  </a:schemeClr>
                </a:solidFill>
              </a:rPr>
            </a:b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Customize OpenSSH Service Configuration</a:t>
            </a:r>
          </a:p>
        </p:txBody>
      </p:sp>
    </p:spTree>
    <p:extLst>
      <p:ext uri="{BB962C8B-B14F-4D97-AF65-F5344CB8AC3E}">
        <p14:creationId xmlns:p14="http://schemas.microsoft.com/office/powerpoint/2010/main" val="31354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58</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dirty="0">
                <a:solidFill>
                  <a:srgbClr val="333333"/>
                </a:solidFill>
                <a:latin typeface="Open Sans" panose="020B0606030504020204" pitchFamily="34" charset="0"/>
              </a:rPr>
              <a:t>Prohibit the Superuser from </a:t>
            </a:r>
            <a:r>
              <a:rPr lang="en-US" sz="1400" b="1" dirty="0" err="1">
                <a:solidFill>
                  <a:srgbClr val="333333"/>
                </a:solidFill>
                <a:latin typeface="Open Sans" panose="020B0606030504020204" pitchFamily="34" charset="0"/>
              </a:rPr>
              <a:t>Loggin</a:t>
            </a:r>
            <a:r>
              <a:rPr lang="en-US" sz="1400" b="1" dirty="0">
                <a:solidFill>
                  <a:srgbClr val="333333"/>
                </a:solidFill>
                <a:latin typeface="Open Sans" panose="020B0606030504020204" pitchFamily="34" charset="0"/>
              </a:rPr>
              <a:t> In</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It is a good practice to prohibit direct login to the root user account from remote systems. Some of the risks of allowing direct logins as the root user include the following cases:</a:t>
            </a:r>
          </a:p>
          <a:p>
            <a:pPr marL="360045" indent="-285750">
              <a:spcAft>
                <a:spcPts val="0"/>
              </a:spcAft>
              <a:buClrTx/>
              <a:buFont typeface="Wingdings" panose="05000000000000000000" pitchFamily="2" charset="2"/>
              <a:buChar char="v"/>
              <a:defRPr/>
            </a:pPr>
            <a:r>
              <a:rPr lang="en-US" sz="1400" dirty="0">
                <a:solidFill>
                  <a:schemeClr val="tx1">
                    <a:lumMod val="75000"/>
                    <a:lumOff val="25000"/>
                  </a:schemeClr>
                </a:solidFill>
              </a:rPr>
              <a:t>The root user name is present on every Linux system as a default, which means that a potential attacker only needs to guess the password instead of both a valid user name and password combination. This simplifies the task for an attacker.</a:t>
            </a:r>
          </a:p>
          <a:p>
            <a:pPr marL="360045" indent="-285750">
              <a:spcAft>
                <a:spcPts val="0"/>
              </a:spcAft>
              <a:buClrTx/>
              <a:buFont typeface="Wingdings" panose="05000000000000000000" pitchFamily="2" charset="2"/>
              <a:buChar char="v"/>
              <a:defRPr/>
            </a:pPr>
            <a:r>
              <a:rPr lang="en-US" sz="1400">
                <a:solidFill>
                  <a:schemeClr val="tx1">
                    <a:lumMod val="75000"/>
                    <a:lumOff val="25000"/>
                  </a:schemeClr>
                </a:solidFill>
              </a:rPr>
              <a:t>The </a:t>
            </a:r>
            <a:r>
              <a:rPr lang="en-US" sz="1400" dirty="0">
                <a:solidFill>
                  <a:schemeClr val="tx1">
                    <a:lumMod val="75000"/>
                    <a:lumOff val="25000"/>
                  </a:schemeClr>
                </a:solidFill>
              </a:rPr>
              <a:t>root user has unlimited privileges, so if it is compromised, it can cause significant damage to the system.</a:t>
            </a:r>
          </a:p>
          <a:p>
            <a:pPr marL="360045" indent="-285750">
              <a:spcAft>
                <a:spcPts val="0"/>
              </a:spcAft>
              <a:buClrTx/>
              <a:buFont typeface="Wingdings" panose="05000000000000000000" pitchFamily="2" charset="2"/>
              <a:buChar char="v"/>
              <a:defRPr/>
            </a:pPr>
            <a:r>
              <a:rPr lang="en-US" sz="1400" dirty="0">
                <a:solidFill>
                  <a:schemeClr val="tx1">
                    <a:lumMod val="75000"/>
                    <a:lumOff val="25000"/>
                  </a:schemeClr>
                </a:solidFill>
              </a:rPr>
              <a:t>From an auditing standpoint, it can be challenging to trace the activities of an authorized user who logs in as the root user and makes modifications. However, if users are required to initially log in as a regular user and then switch to the root account, you can refer to a log event to establish accountability.</a:t>
            </a:r>
          </a:p>
          <a:p>
            <a:pPr marL="360045" indent="-285750">
              <a:spcAft>
                <a:spcPts val="0"/>
              </a:spcAft>
              <a:buClrTx/>
              <a:buFont typeface="Wingdings" panose="05000000000000000000" pitchFamily="2" charset="2"/>
              <a:buChar char="v"/>
              <a:defRPr/>
            </a:pPr>
            <a:r>
              <a:rPr lang="en-US" sz="1400" dirty="0">
                <a:solidFill>
                  <a:schemeClr val="tx1">
                    <a:lumMod val="75000"/>
                    <a:lumOff val="25000"/>
                  </a:schemeClr>
                </a:solidFill>
              </a:rPr>
              <a:t>The OpenSSH server utilizes the "</a:t>
            </a:r>
            <a:r>
              <a:rPr lang="en-US" sz="1400" dirty="0" err="1">
                <a:solidFill>
                  <a:schemeClr val="tx1">
                    <a:lumMod val="75000"/>
                    <a:lumOff val="25000"/>
                  </a:schemeClr>
                </a:solidFill>
              </a:rPr>
              <a:t>PermitRootLogin</a:t>
            </a:r>
            <a:r>
              <a:rPr lang="en-US" sz="1400" dirty="0">
                <a:solidFill>
                  <a:schemeClr val="tx1">
                    <a:lumMod val="75000"/>
                    <a:lumOff val="25000"/>
                  </a:schemeClr>
                </a:solidFill>
              </a:rPr>
              <a:t>" configuration setting in the "/</a:t>
            </a:r>
            <a:r>
              <a:rPr lang="en-US" sz="1400" dirty="0" err="1">
                <a:solidFill>
                  <a:schemeClr val="tx1">
                    <a:lumMod val="75000"/>
                    <a:lumOff val="25000"/>
                  </a:schemeClr>
                </a:solidFill>
              </a:rPr>
              <a:t>etc</a:t>
            </a:r>
            <a:r>
              <a:rPr lang="en-US" sz="1400" dirty="0">
                <a:solidFill>
                  <a:schemeClr val="tx1">
                    <a:lumMod val="75000"/>
                    <a:lumOff val="25000"/>
                  </a:schemeClr>
                </a:solidFill>
              </a:rPr>
              <a:t>/ssh/</a:t>
            </a:r>
            <a:r>
              <a:rPr lang="en-US" sz="1400" dirty="0" err="1">
                <a:solidFill>
                  <a:schemeClr val="tx1">
                    <a:lumMod val="75000"/>
                    <a:lumOff val="25000"/>
                  </a:schemeClr>
                </a:solidFill>
              </a:rPr>
              <a:t>sshd_config</a:t>
            </a:r>
            <a:r>
              <a:rPr lang="en-US" sz="1400" dirty="0">
                <a:solidFill>
                  <a:schemeClr val="tx1">
                    <a:lumMod val="75000"/>
                    <a:lumOff val="25000"/>
                  </a:schemeClr>
                </a:solidFill>
              </a:rPr>
              <a:t>" file to determine whether users are allowed or denied access to log in as root. The current setting is "</a:t>
            </a:r>
            <a:r>
              <a:rPr lang="en-US" sz="1400" dirty="0" err="1">
                <a:solidFill>
                  <a:schemeClr val="tx1">
                    <a:lumMod val="75000"/>
                    <a:lumOff val="25000"/>
                  </a:schemeClr>
                </a:solidFill>
              </a:rPr>
              <a:t>PermitRootLogin</a:t>
            </a:r>
            <a:r>
              <a:rPr lang="en-US" sz="1400" dirty="0">
                <a:solidFill>
                  <a:schemeClr val="tx1">
                    <a:lumMod val="75000"/>
                    <a:lumOff val="25000"/>
                  </a:schemeClr>
                </a:solidFill>
              </a:rPr>
              <a:t> yes."</a:t>
            </a:r>
            <a:br>
              <a:rPr lang="en-US" sz="1400" dirty="0">
                <a:solidFill>
                  <a:schemeClr val="tx1">
                    <a:lumMod val="75000"/>
                    <a:lumOff val="25000"/>
                  </a:schemeClr>
                </a:solidFill>
              </a:rPr>
            </a:b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800" b="1" dirty="0"/>
              <a:t>Customize OpenSSH Service Configuration</a:t>
            </a:r>
          </a:p>
        </p:txBody>
      </p:sp>
    </p:spTree>
    <p:extLst>
      <p:ext uri="{BB962C8B-B14F-4D97-AF65-F5344CB8AC3E}">
        <p14:creationId xmlns:p14="http://schemas.microsoft.com/office/powerpoint/2010/main" val="201933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6" end="6"/>
                                            </p:txEl>
                                          </p:spTgt>
                                        </p:tgtEl>
                                        <p:attrNameLst>
                                          <p:attrName>style.visibility</p:attrName>
                                        </p:attrNameLst>
                                      </p:cBhvr>
                                      <p:to>
                                        <p:strVal val="visible"/>
                                      </p:to>
                                    </p:set>
                                    <p:anim calcmode="lin" valueType="num">
                                      <p:cBhvr additive="base">
                                        <p:cTn id="31"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59</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110150"/>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dirty="0">
                <a:solidFill>
                  <a:srgbClr val="333333"/>
                </a:solidFill>
                <a:latin typeface="Open Sans" panose="020B0606030504020204" pitchFamily="34" charset="0"/>
              </a:rPr>
              <a:t>Prohibit Password-based Authentication for SSH</a:t>
            </a:r>
            <a:br>
              <a:rPr lang="en-US" sz="1600" b="1" dirty="0">
                <a:solidFill>
                  <a:schemeClr val="tx1">
                    <a:lumMod val="75000"/>
                    <a:lumOff val="25000"/>
                  </a:schemeClr>
                </a:solidFill>
              </a:rPr>
            </a:br>
            <a:endParaRPr lang="en-US" sz="14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solidFill>
              </a:rPr>
              <a:t>Enabling only private key-based logins for the remote command line offers several advantages:</a:t>
            </a:r>
          </a:p>
          <a:p>
            <a:pPr marL="360045" indent="-285750">
              <a:spcAft>
                <a:spcPts val="0"/>
              </a:spcAft>
              <a:buClrTx/>
              <a:buFont typeface="Wingdings" panose="05000000000000000000" pitchFamily="2" charset="2"/>
              <a:buChar char="§"/>
              <a:defRPr/>
            </a:pPr>
            <a:r>
              <a:rPr lang="en-US" sz="1400" dirty="0">
                <a:solidFill>
                  <a:schemeClr val="tx1"/>
                </a:solidFill>
              </a:rPr>
              <a:t>The OpenSSH server uses the </a:t>
            </a:r>
            <a:r>
              <a:rPr lang="en-US" sz="1400" dirty="0" err="1">
                <a:solidFill>
                  <a:schemeClr val="tx1"/>
                </a:solidFill>
              </a:rPr>
              <a:t>PasswordAuthentication</a:t>
            </a:r>
            <a:r>
              <a:rPr lang="en-US" sz="1400" dirty="0">
                <a:solidFill>
                  <a:schemeClr val="tx1"/>
                </a:solidFill>
              </a:rPr>
              <a:t> parameter in the /</a:t>
            </a:r>
            <a:r>
              <a:rPr lang="en-US" sz="1400" dirty="0" err="1">
                <a:solidFill>
                  <a:schemeClr val="tx1"/>
                </a:solidFill>
              </a:rPr>
              <a:t>etc</a:t>
            </a:r>
            <a:r>
              <a:rPr lang="en-US" sz="1400" dirty="0">
                <a:solidFill>
                  <a:schemeClr val="tx1"/>
                </a:solidFill>
              </a:rPr>
              <a:t>/ssh/</a:t>
            </a:r>
            <a:r>
              <a:rPr lang="en-US" sz="1400" dirty="0" err="1">
                <a:solidFill>
                  <a:schemeClr val="tx1"/>
                </a:solidFill>
              </a:rPr>
              <a:t>sshd_config</a:t>
            </a:r>
            <a:r>
              <a:rPr lang="en-US" sz="1400" dirty="0">
                <a:solidFill>
                  <a:schemeClr val="tx1"/>
                </a:solidFill>
              </a:rPr>
              <a:t> file to control whether users can use password-based authentication to log in to the system.</a:t>
            </a:r>
            <a:br>
              <a:rPr lang="en-US" sz="1400" dirty="0">
                <a:solidFill>
                  <a:schemeClr val="tx1"/>
                </a:solidFill>
              </a:rPr>
            </a:br>
            <a:br>
              <a:rPr lang="en-US" sz="1400" dirty="0">
                <a:solidFill>
                  <a:schemeClr val="tx1"/>
                </a:solidFill>
              </a:rPr>
            </a:br>
            <a:r>
              <a:rPr lang="en-US" sz="1400" b="1" dirty="0" err="1">
                <a:solidFill>
                  <a:schemeClr val="tx1"/>
                </a:solidFill>
              </a:rPr>
              <a:t>PasswordAuthentication</a:t>
            </a:r>
            <a:r>
              <a:rPr lang="en-US" sz="1400" b="1" dirty="0">
                <a:solidFill>
                  <a:schemeClr val="tx1"/>
                </a:solidFill>
              </a:rPr>
              <a:t> yes</a:t>
            </a: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800" b="1" dirty="0"/>
              <a:t>Customize OpenSSH Service Configuration</a:t>
            </a:r>
          </a:p>
        </p:txBody>
      </p:sp>
    </p:spTree>
    <p:extLst>
      <p:ext uri="{BB962C8B-B14F-4D97-AF65-F5344CB8AC3E}">
        <p14:creationId xmlns:p14="http://schemas.microsoft.com/office/powerpoint/2010/main" val="87504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Analyze and Store Logs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6"/>
            <a:ext cx="5014074" cy="3060809"/>
          </a:xfrm>
        </p:spPr>
        <p:txBody>
          <a:bodyPr>
            <a:normAutofit fontScale="62500" lnSpcReduction="20000"/>
          </a:bodyPr>
          <a:lstStyle/>
          <a:p>
            <a:pPr marL="0" indent="0">
              <a:buNone/>
            </a:pPr>
            <a:r>
              <a:rPr lang="en-US" sz="2000" dirty="0"/>
              <a:t>System Logging</a:t>
            </a:r>
          </a:p>
          <a:p>
            <a:pPr marL="0" indent="0">
              <a:buNone/>
            </a:pPr>
            <a:r>
              <a:rPr lang="en-US" sz="2000" dirty="0"/>
              <a:t>Log Events to the System</a:t>
            </a:r>
          </a:p>
          <a:p>
            <a:pPr marL="0" indent="0">
              <a:buNone/>
            </a:pPr>
            <a:r>
              <a:rPr lang="en-US" sz="2000" dirty="0"/>
              <a:t>Log File Rotation</a:t>
            </a:r>
          </a:p>
          <a:p>
            <a:pPr marL="0" indent="0">
              <a:buNone/>
            </a:pPr>
            <a:r>
              <a:rPr lang="en-US" sz="2000" dirty="0"/>
              <a:t>Analyze a Syslog Entry</a:t>
            </a:r>
          </a:p>
          <a:p>
            <a:pPr marL="0" indent="0">
              <a:buNone/>
            </a:pPr>
            <a:r>
              <a:rPr lang="en-US" sz="2000" dirty="0"/>
              <a:t>Monitor Log Events</a:t>
            </a:r>
          </a:p>
          <a:p>
            <a:pPr marL="0" indent="0">
              <a:buNone/>
            </a:pPr>
            <a:r>
              <a:rPr lang="en-US" sz="2000" dirty="0"/>
              <a:t>Find Events on the System Journal</a:t>
            </a:r>
          </a:p>
          <a:p>
            <a:pPr marL="0" indent="0">
              <a:buNone/>
            </a:pPr>
            <a:r>
              <a:rPr lang="en-US" sz="2000" dirty="0"/>
              <a:t>System Journal Storage</a:t>
            </a:r>
          </a:p>
          <a:p>
            <a:pPr marL="0" indent="0">
              <a:buNone/>
            </a:pPr>
            <a:r>
              <a:rPr lang="en-US" sz="2000" dirty="0"/>
              <a:t>Maintain Accurate Time</a:t>
            </a:r>
          </a:p>
          <a:p>
            <a:pPr marL="0" indent="0">
              <a:buNone/>
            </a:pPr>
            <a:endParaRPr lang="en-US" sz="2800"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39679857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61</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System Logging</a:t>
            </a:r>
            <a:br>
              <a:rPr lang="en-US" sz="18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operating system kernel and other processes record a log of events that happen when the system is running. These logs are used to audit the system and to troubleshoot problems. You can use text utilities such as the less and tail commands to inspect these logs.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In Red Hat Linux distributions, including Red Hat Enterprise Linux (RHEL), system logging is typically handled by the </a:t>
            </a:r>
            <a:r>
              <a:rPr lang="en-US" sz="1400" dirty="0" err="1">
                <a:solidFill>
                  <a:schemeClr val="tx1">
                    <a:lumMod val="75000"/>
                    <a:lumOff val="25000"/>
                  </a:schemeClr>
                </a:solidFill>
              </a:rPr>
              <a:t>systemd-journald</a:t>
            </a:r>
            <a:r>
              <a:rPr lang="en-US" sz="1400" dirty="0">
                <a:solidFill>
                  <a:schemeClr val="tx1">
                    <a:lumMod val="75000"/>
                    <a:lumOff val="25000"/>
                  </a:schemeClr>
                </a:solidFill>
              </a:rPr>
              <a:t> and </a:t>
            </a:r>
            <a:r>
              <a:rPr lang="en-US" sz="1400" dirty="0" err="1">
                <a:solidFill>
                  <a:schemeClr val="tx1">
                    <a:lumMod val="75000"/>
                    <a:lumOff val="25000"/>
                  </a:schemeClr>
                </a:solidFill>
              </a:rPr>
              <a:t>rsyslog</a:t>
            </a:r>
            <a:r>
              <a:rPr lang="en-US" sz="1400" dirty="0">
                <a:solidFill>
                  <a:schemeClr val="tx1">
                    <a:lumMod val="75000"/>
                    <a:lumOff val="25000"/>
                  </a:schemeClr>
                </a:solidFill>
              </a:rPr>
              <a:t> services. These services work together to collect, store, and manage log messages.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t>
            </a:r>
            <a:r>
              <a:rPr lang="en-US" sz="1400" dirty="0" err="1">
                <a:solidFill>
                  <a:schemeClr val="tx1">
                    <a:lumMod val="75000"/>
                    <a:lumOff val="25000"/>
                  </a:schemeClr>
                </a:solidFill>
              </a:rPr>
              <a:t>systemd-journald</a:t>
            </a:r>
            <a:r>
              <a:rPr lang="en-US" sz="1400" dirty="0">
                <a:solidFill>
                  <a:schemeClr val="tx1">
                    <a:lumMod val="75000"/>
                    <a:lumOff val="25000"/>
                  </a:schemeClr>
                </a:solidFill>
              </a:rPr>
              <a:t> service is a crucial component of the operating system's event logging system. It gathers event messages from various sources, including:</a:t>
            </a:r>
            <a:br>
              <a:rPr lang="en-US" sz="1400" dirty="0">
                <a:solidFill>
                  <a:schemeClr val="tx1">
                    <a:lumMod val="75000"/>
                    <a:lumOff val="25000"/>
                  </a:schemeClr>
                </a:solidFill>
              </a:rPr>
            </a:br>
            <a:br>
              <a:rPr lang="en-US" sz="1400" dirty="0">
                <a:solidFill>
                  <a:schemeClr val="tx1">
                    <a:lumMod val="75000"/>
                    <a:lumOff val="25000"/>
                  </a:schemeClr>
                </a:solidFill>
              </a:rPr>
            </a:br>
            <a:r>
              <a:rPr lang="en-US" sz="1400" dirty="0">
                <a:solidFill>
                  <a:schemeClr val="tx1">
                    <a:lumMod val="75000"/>
                    <a:lumOff val="25000"/>
                  </a:schemeClr>
                </a:solidFill>
              </a:rPr>
              <a:t>- The system kernel</a:t>
            </a:r>
            <a:br>
              <a:rPr lang="en-US" sz="1400" dirty="0">
                <a:solidFill>
                  <a:schemeClr val="tx1">
                    <a:lumMod val="75000"/>
                    <a:lumOff val="25000"/>
                  </a:schemeClr>
                </a:solidFill>
              </a:rPr>
            </a:br>
            <a:r>
              <a:rPr lang="en-US" sz="1400" dirty="0">
                <a:solidFill>
                  <a:schemeClr val="tx1">
                    <a:lumMod val="75000"/>
                    <a:lumOff val="25000"/>
                  </a:schemeClr>
                </a:solidFill>
              </a:rPr>
              <a:t>- Output generated during the early stages of the boot process</a:t>
            </a:r>
            <a:br>
              <a:rPr lang="en-US" sz="1400" dirty="0">
                <a:solidFill>
                  <a:schemeClr val="tx1">
                    <a:lumMod val="75000"/>
                    <a:lumOff val="25000"/>
                  </a:schemeClr>
                </a:solidFill>
              </a:rPr>
            </a:br>
            <a:r>
              <a:rPr lang="en-US" sz="1400" dirty="0">
                <a:solidFill>
                  <a:schemeClr val="tx1">
                    <a:lumMod val="75000"/>
                    <a:lumOff val="25000"/>
                  </a:schemeClr>
                </a:solidFill>
              </a:rPr>
              <a:t>- Standard output and standard error from daemons</a:t>
            </a:r>
            <a:br>
              <a:rPr lang="en-US" sz="1400" dirty="0">
                <a:solidFill>
                  <a:schemeClr val="tx1">
                    <a:lumMod val="75000"/>
                    <a:lumOff val="25000"/>
                  </a:schemeClr>
                </a:solidFill>
              </a:rPr>
            </a:br>
            <a:r>
              <a:rPr lang="en-US" sz="1400" dirty="0">
                <a:solidFill>
                  <a:schemeClr val="tx1">
                    <a:lumMod val="75000"/>
                    <a:lumOff val="25000"/>
                  </a:schemeClr>
                </a:solidFill>
              </a:rPr>
              <a:t>- Syslog events</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By default, this journal is stored on a file system that does not persist across reboots.</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spTree>
    <p:extLst>
      <p:ext uri="{BB962C8B-B14F-4D97-AF65-F5344CB8AC3E}">
        <p14:creationId xmlns:p14="http://schemas.microsoft.com/office/powerpoint/2010/main" val="239462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5" end="5"/>
                                            </p:txEl>
                                          </p:spTgt>
                                        </p:tgtEl>
                                        <p:attrNameLst>
                                          <p:attrName>style.visibility</p:attrName>
                                        </p:attrNameLst>
                                      </p:cBhvr>
                                      <p:to>
                                        <p:strVal val="visible"/>
                                      </p:to>
                                    </p:set>
                                    <p:anim calcmode="lin" valueType="num">
                                      <p:cBhvr additive="base">
                                        <p:cTn id="25"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62</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System Logging</a:t>
            </a:r>
            <a:br>
              <a:rPr lang="en-US" sz="18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t>
            </a:r>
            <a:r>
              <a:rPr lang="en-US" sz="1400" dirty="0" err="1">
                <a:solidFill>
                  <a:schemeClr val="tx1">
                    <a:lumMod val="75000"/>
                    <a:lumOff val="25000"/>
                  </a:schemeClr>
                </a:solidFill>
              </a:rPr>
              <a:t>rsyslog</a:t>
            </a:r>
            <a:r>
              <a:rPr lang="en-US" sz="1400" dirty="0">
                <a:solidFill>
                  <a:schemeClr val="tx1">
                    <a:lumMod val="75000"/>
                    <a:lumOff val="25000"/>
                  </a:schemeClr>
                </a:solidFill>
              </a:rPr>
              <a:t> service reads syslog messages that the </a:t>
            </a:r>
            <a:r>
              <a:rPr lang="en-US" sz="1400" dirty="0" err="1">
                <a:solidFill>
                  <a:schemeClr val="tx1">
                    <a:lumMod val="75000"/>
                    <a:lumOff val="25000"/>
                  </a:schemeClr>
                </a:solidFill>
              </a:rPr>
              <a:t>systemd-journald</a:t>
            </a:r>
            <a:r>
              <a:rPr lang="en-US" sz="1400" dirty="0">
                <a:solidFill>
                  <a:schemeClr val="tx1">
                    <a:lumMod val="75000"/>
                    <a:lumOff val="25000"/>
                  </a:schemeClr>
                </a:solidFill>
              </a:rPr>
              <a:t> service receives from the journal as they arrive. The </a:t>
            </a:r>
            <a:r>
              <a:rPr lang="en-US" sz="1400" dirty="0" err="1">
                <a:solidFill>
                  <a:schemeClr val="tx1">
                    <a:lumMod val="75000"/>
                    <a:lumOff val="25000"/>
                  </a:schemeClr>
                </a:solidFill>
              </a:rPr>
              <a:t>rsyslog</a:t>
            </a:r>
            <a:r>
              <a:rPr lang="en-US" sz="1400" dirty="0">
                <a:solidFill>
                  <a:schemeClr val="tx1">
                    <a:lumMod val="75000"/>
                    <a:lumOff val="25000"/>
                  </a:schemeClr>
                </a:solidFill>
              </a:rPr>
              <a:t> service then processes the syslog events, and records them to its log files or forwards them to other services according to its own configuration.</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The </a:t>
            </a:r>
            <a:r>
              <a:rPr lang="en-US" sz="1400" dirty="0" err="1">
                <a:solidFill>
                  <a:schemeClr val="tx1">
                    <a:lumMod val="75000"/>
                    <a:lumOff val="25000"/>
                  </a:schemeClr>
                </a:solidFill>
              </a:rPr>
              <a:t>rsyslog</a:t>
            </a:r>
            <a:r>
              <a:rPr lang="en-US" sz="1400" dirty="0">
                <a:solidFill>
                  <a:schemeClr val="tx1">
                    <a:lumMod val="75000"/>
                    <a:lumOff val="25000"/>
                  </a:schemeClr>
                </a:solidFill>
              </a:rPr>
              <a:t> service sorts and writes syslog messages to the log files that do persist across reboots in the /var/log directory. The service also sorts the log messages to specific log files according to the type of program that sent each message and the priority of each syslog message.</a:t>
            </a:r>
            <a:br>
              <a:rPr lang="en-US" sz="1400" dirty="0">
                <a:solidFill>
                  <a:schemeClr val="tx1">
                    <a:lumMod val="75000"/>
                    <a:lumOff val="25000"/>
                  </a:schemeClr>
                </a:solidFill>
              </a:rPr>
            </a:b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spTree>
    <p:extLst>
      <p:ext uri="{BB962C8B-B14F-4D97-AF65-F5344CB8AC3E}">
        <p14:creationId xmlns:p14="http://schemas.microsoft.com/office/powerpoint/2010/main" val="2879303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63</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400" b="1" dirty="0">
                <a:solidFill>
                  <a:srgbClr val="333333"/>
                </a:solidFill>
                <a:latin typeface="Open Sans" panose="020B0606030504020204" pitchFamily="34" charset="0"/>
              </a:rPr>
              <a:t>Analyze and Store Logs</a:t>
            </a:r>
            <a:br>
              <a:rPr lang="en-US" sz="1600" b="1" dirty="0">
                <a:solidFill>
                  <a:schemeClr val="tx1">
                    <a:lumMod val="75000"/>
                    <a:lumOff val="25000"/>
                  </a:schemeClr>
                </a:solidFill>
              </a:rPr>
            </a:br>
            <a:br>
              <a:rPr lang="en-US" sz="1400" dirty="0">
                <a:solidFill>
                  <a:schemeClr val="tx1">
                    <a:lumMod val="75000"/>
                    <a:lumOff val="25000"/>
                  </a:schemeClr>
                </a:solidFill>
              </a:rPr>
            </a:br>
            <a:endParaRPr lang="en-US" sz="1400" dirty="0">
              <a:solidFill>
                <a:schemeClr val="tx1">
                  <a:lumMod val="75000"/>
                  <a:lumOff val="25000"/>
                </a:schemeClr>
              </a:solidFill>
            </a:endParaRP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pic>
        <p:nvPicPr>
          <p:cNvPr id="4" name="Picture 3">
            <a:extLst>
              <a:ext uri="{FF2B5EF4-FFF2-40B4-BE49-F238E27FC236}">
                <a16:creationId xmlns:a16="http://schemas.microsoft.com/office/drawing/2014/main" id="{87279B24-BE82-76DC-3E49-1CDC1DF0B0F1}"/>
              </a:ext>
            </a:extLst>
          </p:cNvPr>
          <p:cNvPicPr>
            <a:picLocks noChangeAspect="1"/>
          </p:cNvPicPr>
          <p:nvPr/>
        </p:nvPicPr>
        <p:blipFill>
          <a:blip r:embed="rId2"/>
          <a:stretch>
            <a:fillRect/>
          </a:stretch>
        </p:blipFill>
        <p:spPr>
          <a:xfrm>
            <a:off x="3050173" y="2537923"/>
            <a:ext cx="6264183" cy="2575783"/>
          </a:xfrm>
          <a:prstGeom prst="rect">
            <a:avLst/>
          </a:prstGeom>
        </p:spPr>
      </p:pic>
    </p:spTree>
    <p:extLst>
      <p:ext uri="{BB962C8B-B14F-4D97-AF65-F5344CB8AC3E}">
        <p14:creationId xmlns:p14="http://schemas.microsoft.com/office/powerpoint/2010/main" val="97897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Log Events to the System</a:t>
            </a:r>
          </a:p>
          <a:p>
            <a:pPr marL="74295" indent="0">
              <a:spcAft>
                <a:spcPts val="0"/>
              </a:spcAft>
              <a:buClrTx/>
              <a:buNone/>
              <a:defRPr/>
            </a:pPr>
            <a:endParaRPr lang="en-US" sz="1600" b="1" dirty="0">
              <a:solidFill>
                <a:srgbClr val="333333"/>
              </a:solidFill>
              <a:latin typeface="Open Sans" panose="020B0606030504020204" pitchFamily="34" charset="0"/>
            </a:endParaRPr>
          </a:p>
          <a:p>
            <a:pPr marL="360045" indent="-285750">
              <a:spcAft>
                <a:spcPts val="0"/>
              </a:spcAft>
              <a:buClrTx/>
              <a:buFont typeface="Wingdings" panose="05000000000000000000" pitchFamily="2" charset="2"/>
              <a:buChar char="§"/>
              <a:defRPr/>
            </a:pPr>
            <a:r>
              <a:rPr lang="en-US" sz="1600" dirty="0">
                <a:solidFill>
                  <a:schemeClr val="tx1">
                    <a:lumMod val="75000"/>
                    <a:lumOff val="25000"/>
                  </a:schemeClr>
                </a:solidFill>
              </a:rPr>
              <a:t>Many programs use the syslog protocol to log events to the system. Each log message is categorized by facility (which subsystem produces the message) and priority (the message's severity).</a:t>
            </a:r>
          </a:p>
          <a:p>
            <a:pPr marL="360045" indent="-285750">
              <a:spcAft>
                <a:spcPts val="0"/>
              </a:spcAft>
              <a:buClrTx/>
              <a:buFont typeface="Wingdings" panose="05000000000000000000" pitchFamily="2" charset="2"/>
              <a:buChar char="§"/>
              <a:defRPr/>
            </a:pPr>
            <a:endParaRPr lang="en-US" sz="1600"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600" dirty="0">
                <a:solidFill>
                  <a:schemeClr val="tx1">
                    <a:lumMod val="75000"/>
                    <a:lumOff val="25000"/>
                  </a:schemeClr>
                </a:solidFill>
              </a:rPr>
              <a:t>Syslog server operates any log message using the following scheme:</a:t>
            </a:r>
          </a:p>
          <a:p>
            <a:pPr marL="74295" indent="0">
              <a:spcAft>
                <a:spcPts val="0"/>
              </a:spcAft>
              <a:buClrTx/>
              <a:buNone/>
              <a:defRPr/>
            </a:pPr>
            <a:endParaRPr lang="en-US" sz="1600" dirty="0">
              <a:solidFill>
                <a:schemeClr val="tx1">
                  <a:lumMod val="75000"/>
                  <a:lumOff val="25000"/>
                </a:schemeClr>
              </a:solidFill>
            </a:endParaRPr>
          </a:p>
          <a:p>
            <a:pPr marL="652653" lvl="1" indent="-285750">
              <a:spcAft>
                <a:spcPts val="0"/>
              </a:spcAft>
              <a:buFont typeface="Wingdings" panose="05000000000000000000" pitchFamily="2" charset="2"/>
              <a:buChar char="§"/>
              <a:defRPr/>
            </a:pPr>
            <a:r>
              <a:rPr lang="en-US" sz="1400" dirty="0">
                <a:solidFill>
                  <a:schemeClr val="tx1">
                    <a:lumMod val="75000"/>
                    <a:lumOff val="25000"/>
                  </a:schemeClr>
                </a:solidFill>
              </a:rPr>
              <a:t>Type (facility).Priority (severity)  Destination(where to send the log)</a:t>
            </a:r>
          </a:p>
          <a:p>
            <a:pPr marL="74295" indent="0">
              <a:spcAft>
                <a:spcPts val="0"/>
              </a:spcAft>
              <a:buClrTx/>
              <a:buNone/>
              <a:defRPr/>
            </a:pPr>
            <a:endParaRPr lang="en-US" sz="1400" dirty="0">
              <a:solidFill>
                <a:schemeClr val="tx1"/>
              </a:solidFill>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spTree>
    <p:extLst>
      <p:ext uri="{BB962C8B-B14F-4D97-AF65-F5344CB8AC3E}">
        <p14:creationId xmlns:p14="http://schemas.microsoft.com/office/powerpoint/2010/main" val="277592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3" end="3"/>
                                            </p:txEl>
                                          </p:spTgt>
                                        </p:tgtEl>
                                        <p:attrNameLst>
                                          <p:attrName>style.visibility</p:attrName>
                                        </p:attrNameLst>
                                      </p:cBhvr>
                                      <p:to>
                                        <p:strVal val="visible"/>
                                      </p:to>
                                    </p:set>
                                    <p:anim calcmode="lin" valueType="num">
                                      <p:cBhvr additive="base">
                                        <p:cTn id="7"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5" end="5"/>
                                            </p:txEl>
                                          </p:spTgt>
                                        </p:tgtEl>
                                        <p:attrNameLst>
                                          <p:attrName>style.visibility</p:attrName>
                                        </p:attrNameLst>
                                      </p:cBhvr>
                                      <p:to>
                                        <p:strVal val="visible"/>
                                      </p:to>
                                    </p:set>
                                    <p:anim calcmode="lin" valueType="num">
                                      <p:cBhvr additive="base">
                                        <p:cTn id="13"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
                                            <p:txEl>
                                              <p:pRg st="7" end="7"/>
                                            </p:txEl>
                                          </p:spTgt>
                                        </p:tgtEl>
                                        <p:attrNameLst>
                                          <p:attrName>style.visibility</p:attrName>
                                        </p:attrNameLst>
                                      </p:cBhvr>
                                      <p:to>
                                        <p:strVal val="visible"/>
                                      </p:to>
                                    </p:set>
                                    <p:anim calcmode="lin" valueType="num">
                                      <p:cBhvr additive="base">
                                        <p:cTn id="17"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652653" lvl="1" indent="-285750">
              <a:spcAft>
                <a:spcPts val="0"/>
              </a:spcAft>
              <a:buFont typeface="Wingdings" panose="05000000000000000000" pitchFamily="2" charset="2"/>
              <a:buChar char="§"/>
              <a:defRPr/>
            </a:pPr>
            <a:endParaRPr lang="en-US" sz="1400" dirty="0">
              <a:solidFill>
                <a:schemeClr val="tx1">
                  <a:lumMod val="75000"/>
                  <a:lumOff val="25000"/>
                </a:schemeClr>
              </a:solidFill>
            </a:endParaRPr>
          </a:p>
          <a:p>
            <a:pPr marL="652653" lvl="1" indent="-285750">
              <a:spcAft>
                <a:spcPts val="0"/>
              </a:spcAft>
              <a:buFont typeface="Wingdings" panose="05000000000000000000" pitchFamily="2" charset="2"/>
              <a:buChar char="§"/>
              <a:defRPr/>
            </a:pPr>
            <a:r>
              <a:rPr lang="en-US" sz="1400" dirty="0">
                <a:solidFill>
                  <a:schemeClr val="tx1">
                    <a:lumMod val="75000"/>
                    <a:lumOff val="25000"/>
                  </a:schemeClr>
                </a:solidFill>
              </a:rPr>
              <a:t>Type (facility).Priority (severity)  Destination(where to send the log)</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pic>
        <p:nvPicPr>
          <p:cNvPr id="4" name="Picture 3">
            <a:extLst>
              <a:ext uri="{FF2B5EF4-FFF2-40B4-BE49-F238E27FC236}">
                <a16:creationId xmlns:a16="http://schemas.microsoft.com/office/drawing/2014/main" id="{F26A3689-753E-4D24-6849-4E8290A2F172}"/>
              </a:ext>
            </a:extLst>
          </p:cNvPr>
          <p:cNvPicPr>
            <a:picLocks noChangeAspect="1"/>
          </p:cNvPicPr>
          <p:nvPr/>
        </p:nvPicPr>
        <p:blipFill>
          <a:blip r:embed="rId2"/>
          <a:stretch>
            <a:fillRect/>
          </a:stretch>
        </p:blipFill>
        <p:spPr>
          <a:xfrm>
            <a:off x="3531430" y="1755648"/>
            <a:ext cx="5365682" cy="434805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413511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66</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652653" lvl="1" indent="-285750">
              <a:spcAft>
                <a:spcPts val="0"/>
              </a:spcAft>
              <a:buFont typeface="Wingdings" panose="05000000000000000000" pitchFamily="2" charset="2"/>
              <a:buChar char="§"/>
              <a:defRPr/>
            </a:pPr>
            <a:endParaRPr lang="en-US" sz="1400" dirty="0">
              <a:solidFill>
                <a:schemeClr val="tx1">
                  <a:lumMod val="75000"/>
                  <a:lumOff val="25000"/>
                </a:schemeClr>
              </a:solidFill>
            </a:endParaRPr>
          </a:p>
          <a:p>
            <a:pPr marL="652653" lvl="1" indent="-285750">
              <a:spcAft>
                <a:spcPts val="0"/>
              </a:spcAft>
              <a:buFont typeface="Wingdings" panose="05000000000000000000" pitchFamily="2" charset="2"/>
              <a:buChar char="§"/>
              <a:defRPr/>
            </a:pPr>
            <a:r>
              <a:rPr lang="en-US" sz="1400" dirty="0">
                <a:solidFill>
                  <a:schemeClr val="tx1">
                    <a:lumMod val="75000"/>
                    <a:lumOff val="25000"/>
                  </a:schemeClr>
                </a:solidFill>
              </a:rPr>
              <a:t>Type (facility).Priority (severity)  Destination(where to send the log)</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pic>
        <p:nvPicPr>
          <p:cNvPr id="5" name="Picture 4">
            <a:extLst>
              <a:ext uri="{FF2B5EF4-FFF2-40B4-BE49-F238E27FC236}">
                <a16:creationId xmlns:a16="http://schemas.microsoft.com/office/drawing/2014/main" id="{A82FD019-C345-0CBC-92DB-C33C7086DFA9}"/>
              </a:ext>
            </a:extLst>
          </p:cNvPr>
          <p:cNvPicPr>
            <a:picLocks noChangeAspect="1"/>
          </p:cNvPicPr>
          <p:nvPr/>
        </p:nvPicPr>
        <p:blipFill>
          <a:blip r:embed="rId2"/>
          <a:stretch>
            <a:fillRect/>
          </a:stretch>
        </p:blipFill>
        <p:spPr>
          <a:xfrm>
            <a:off x="2902943" y="2178133"/>
            <a:ext cx="6386113" cy="349026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41694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74295" indent="0">
              <a:spcAft>
                <a:spcPts val="0"/>
              </a:spcAft>
              <a:buClrTx/>
              <a:buNone/>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Log Events to the System</a:t>
            </a:r>
          </a:p>
          <a:p>
            <a:pPr marL="360045" indent="-285750">
              <a:spcAft>
                <a:spcPts val="0"/>
              </a:spcAft>
              <a:buClrTx/>
              <a:buFont typeface="Wingdings" panose="05000000000000000000" pitchFamily="2" charset="2"/>
              <a:buChar char="§"/>
              <a:defRPr/>
            </a:pPr>
            <a:r>
              <a:rPr lang="en-US" sz="1600" dirty="0">
                <a:solidFill>
                  <a:schemeClr val="tx1">
                    <a:lumMod val="75000"/>
                    <a:lumOff val="25000"/>
                  </a:schemeClr>
                </a:solidFill>
              </a:rPr>
              <a:t>For example, the following line in the /</a:t>
            </a:r>
            <a:r>
              <a:rPr lang="en-US" sz="1600" dirty="0" err="1">
                <a:solidFill>
                  <a:schemeClr val="tx1">
                    <a:lumMod val="75000"/>
                    <a:lumOff val="25000"/>
                  </a:schemeClr>
                </a:solidFill>
              </a:rPr>
              <a:t>etc</a:t>
            </a:r>
            <a:r>
              <a:rPr lang="en-US" sz="1600" dirty="0">
                <a:solidFill>
                  <a:schemeClr val="tx1">
                    <a:lumMod val="75000"/>
                    <a:lumOff val="25000"/>
                  </a:schemeClr>
                </a:solidFill>
              </a:rPr>
              <a:t>/</a:t>
            </a:r>
            <a:r>
              <a:rPr lang="en-US" sz="1600" dirty="0" err="1">
                <a:solidFill>
                  <a:schemeClr val="tx1">
                    <a:lumMod val="75000"/>
                    <a:lumOff val="25000"/>
                  </a:schemeClr>
                </a:solidFill>
              </a:rPr>
              <a:t>rsyslog.d</a:t>
            </a:r>
            <a:r>
              <a:rPr lang="en-US" sz="1600" dirty="0">
                <a:solidFill>
                  <a:schemeClr val="tx1">
                    <a:lumMod val="75000"/>
                    <a:lumOff val="25000"/>
                  </a:schemeClr>
                </a:solidFill>
              </a:rPr>
              <a:t> file would record messages that are sent to the </a:t>
            </a:r>
            <a:r>
              <a:rPr lang="en-US" sz="1600" dirty="0" err="1">
                <a:solidFill>
                  <a:schemeClr val="tx1">
                    <a:lumMod val="75000"/>
                    <a:lumOff val="25000"/>
                  </a:schemeClr>
                </a:solidFill>
              </a:rPr>
              <a:t>authpriv</a:t>
            </a:r>
            <a:r>
              <a:rPr lang="en-US" sz="1600" dirty="0">
                <a:solidFill>
                  <a:schemeClr val="tx1">
                    <a:lumMod val="75000"/>
                    <a:lumOff val="25000"/>
                  </a:schemeClr>
                </a:solidFill>
              </a:rPr>
              <a:t> facility at any priority to the /var/log/secure file:</a:t>
            </a:r>
            <a:br>
              <a:rPr lang="en-US" sz="1600" dirty="0">
                <a:solidFill>
                  <a:schemeClr val="tx1">
                    <a:lumMod val="75000"/>
                    <a:lumOff val="25000"/>
                  </a:schemeClr>
                </a:solidFill>
              </a:rPr>
            </a:br>
            <a:br>
              <a:rPr lang="en-US" sz="1600" dirty="0">
                <a:solidFill>
                  <a:schemeClr val="tx1">
                    <a:lumMod val="75000"/>
                    <a:lumOff val="25000"/>
                  </a:schemeClr>
                </a:solidFill>
              </a:rPr>
            </a:br>
            <a:r>
              <a:rPr lang="en-US" sz="1600" dirty="0">
                <a:ln w="0"/>
                <a:solidFill>
                  <a:schemeClr val="tx1"/>
                </a:solidFill>
                <a:effectLst>
                  <a:outerShdw blurRad="38100" dist="19050" dir="2700000" algn="tl" rotWithShape="0">
                    <a:schemeClr val="dk1">
                      <a:alpha val="40000"/>
                    </a:schemeClr>
                  </a:outerShdw>
                </a:effectLst>
              </a:rPr>
              <a:t>authpriv.* /var/log/secure</a:t>
            </a:r>
          </a:p>
          <a:p>
            <a:pPr marL="360045" indent="-285750">
              <a:spcAft>
                <a:spcPts val="0"/>
              </a:spcAft>
              <a:buClrTx/>
              <a:buFont typeface="Wingdings" panose="05000000000000000000" pitchFamily="2" charset="2"/>
              <a:buChar char="§"/>
              <a:defRPr/>
            </a:pPr>
            <a:endParaRPr lang="en-US" sz="1600" dirty="0">
              <a:ln w="0"/>
              <a:solidFill>
                <a:schemeClr val="tx1"/>
              </a:solidFill>
              <a:effectLst>
                <a:outerShdw blurRad="38100" dist="19050" dir="2700000" algn="tl" rotWithShape="0">
                  <a:schemeClr val="dk1">
                    <a:alpha val="40000"/>
                  </a:schemeClr>
                </a:outerShdw>
              </a:effectLst>
            </a:endParaRPr>
          </a:p>
          <a:p>
            <a:pPr marL="360045" indent="-285750">
              <a:spcAft>
                <a:spcPts val="0"/>
              </a:spcAft>
              <a:buClrTx/>
              <a:buFont typeface="Wingdings" panose="05000000000000000000" pitchFamily="2" charset="2"/>
              <a:buChar char="§"/>
              <a:defRPr/>
            </a:pPr>
            <a:endParaRPr lang="en-US" sz="1600" dirty="0">
              <a:ln w="0"/>
              <a:solidFill>
                <a:schemeClr val="tx1"/>
              </a:solidFill>
              <a:effectLst>
                <a:outerShdw blurRad="38100" dist="19050" dir="2700000" algn="tl" rotWithShape="0">
                  <a:schemeClr val="dk1">
                    <a:alpha val="40000"/>
                  </a:schemeClr>
                </a:outerShdw>
              </a:effectLst>
            </a:endParaRP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Analyze and Store Logs</a:t>
            </a:r>
          </a:p>
        </p:txBody>
      </p:sp>
      <p:pic>
        <p:nvPicPr>
          <p:cNvPr id="4" name="Picture 3">
            <a:extLst>
              <a:ext uri="{FF2B5EF4-FFF2-40B4-BE49-F238E27FC236}">
                <a16:creationId xmlns:a16="http://schemas.microsoft.com/office/drawing/2014/main" id="{AAFBB42C-4B28-2C79-D365-C6B69968AAB0}"/>
              </a:ext>
            </a:extLst>
          </p:cNvPr>
          <p:cNvPicPr>
            <a:picLocks noChangeAspect="1"/>
          </p:cNvPicPr>
          <p:nvPr/>
        </p:nvPicPr>
        <p:blipFill>
          <a:blip r:embed="rId2"/>
          <a:stretch>
            <a:fillRect/>
          </a:stretch>
        </p:blipFill>
        <p:spPr>
          <a:xfrm>
            <a:off x="3069830" y="3344298"/>
            <a:ext cx="6180356" cy="27663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90548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Archive and Transfer Files</a:t>
            </a:r>
          </a:p>
        </p:txBody>
      </p:sp>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7" y="3348616"/>
            <a:ext cx="5014074" cy="3060809"/>
          </a:xfrm>
        </p:spPr>
        <p:txBody>
          <a:bodyPr>
            <a:normAutofit fontScale="62500" lnSpcReduction="20000"/>
          </a:bodyPr>
          <a:lstStyle/>
          <a:p>
            <a:pPr marL="0" indent="0">
              <a:buNone/>
            </a:pPr>
            <a:r>
              <a:rPr lang="en-US" sz="2000" dirty="0"/>
              <a:t>Managed Compressed tar Archives</a:t>
            </a:r>
          </a:p>
          <a:p>
            <a:pPr marL="0" indent="0">
              <a:buNone/>
            </a:pPr>
            <a:r>
              <a:rPr lang="en-US" sz="2000" dirty="0"/>
              <a:t>Common Options of the tar Utility</a:t>
            </a:r>
          </a:p>
          <a:p>
            <a:pPr marL="0" indent="0">
              <a:buNone/>
            </a:pPr>
            <a:r>
              <a:rPr lang="en-US" sz="2000" dirty="0"/>
              <a:t>Create an Archive</a:t>
            </a:r>
          </a:p>
          <a:p>
            <a:pPr marL="0" indent="0">
              <a:buNone/>
            </a:pPr>
            <a:r>
              <a:rPr lang="en-US" sz="2000" dirty="0"/>
              <a:t>List and Extract Archive Contents</a:t>
            </a:r>
          </a:p>
          <a:p>
            <a:pPr marL="0" indent="0">
              <a:buNone/>
            </a:pPr>
            <a:r>
              <a:rPr lang="en-US" sz="2000" dirty="0"/>
              <a:t>Create a Compressed Archive</a:t>
            </a:r>
          </a:p>
          <a:p>
            <a:pPr marL="0" indent="0">
              <a:buNone/>
            </a:pPr>
            <a:r>
              <a:rPr lang="en-US" sz="2000" dirty="0"/>
              <a:t>Extract Compressed Archive Contents</a:t>
            </a:r>
          </a:p>
          <a:p>
            <a:pPr marL="0" indent="0">
              <a:buNone/>
            </a:pPr>
            <a:r>
              <a:rPr lang="en-US" sz="2000" dirty="0"/>
              <a:t>Transfer Files Between System Securely</a:t>
            </a:r>
          </a:p>
          <a:p>
            <a:pPr marL="0" indent="0">
              <a:buNone/>
            </a:pPr>
            <a:r>
              <a:rPr lang="en-US" sz="2000" dirty="0"/>
              <a:t>Synchronize Files Between Systems Securely</a:t>
            </a:r>
          </a:p>
          <a:p>
            <a:pPr marL="0" indent="0">
              <a:buNone/>
            </a:pPr>
            <a:endParaRPr lang="en-US" sz="2800" dirty="0"/>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40777022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69</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Create Archives from the Command Line</a:t>
            </a:r>
            <a:br>
              <a:rPr lang="en-US" sz="18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An archive is a single regular file or device file that contains multiple files. The device file could be a tape drive, flash drive, or other removable media.</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Archive files are used to create manageable personal backups, or to simplify the task of transferring a set of files across a network when other methods, such as </a:t>
            </a:r>
            <a:r>
              <a:rPr lang="en-US" sz="1400" dirty="0" err="1">
                <a:solidFill>
                  <a:schemeClr val="tx1">
                    <a:lumMod val="75000"/>
                    <a:lumOff val="25000"/>
                  </a:schemeClr>
                </a:solidFill>
              </a:rPr>
              <a:t>rsync</a:t>
            </a:r>
            <a:r>
              <a:rPr lang="en-US" sz="1400" dirty="0">
                <a:solidFill>
                  <a:schemeClr val="tx1">
                    <a:lumMod val="75000"/>
                    <a:lumOff val="25000"/>
                  </a:schemeClr>
                </a:solidFill>
              </a:rPr>
              <a:t>, are unavailable or might be more complex. Archive files can be created with or without using compression to make the archive file smaller.</a:t>
            </a:r>
          </a:p>
          <a:p>
            <a:pPr marL="360045" indent="-285750">
              <a:spcAft>
                <a:spcPts val="0"/>
              </a:spcAft>
              <a:buClrTx/>
              <a:buFont typeface="Wingdings" panose="05000000000000000000" pitchFamily="2" charset="2"/>
              <a:buChar char="§"/>
              <a:defRPr/>
            </a:pPr>
            <a:r>
              <a:rPr lang="en-US" sz="1400" dirty="0">
                <a:solidFill>
                  <a:schemeClr val="tx1">
                    <a:lumMod val="75000"/>
                    <a:lumOff val="25000"/>
                  </a:schemeClr>
                </a:solidFill>
              </a:rPr>
              <a:t>On Linux, the tar utility is the common command to create, manage, and extract archives. Use the tar command to gather multiple files into a single archive file.</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Archive and Transfer Files</a:t>
            </a:r>
          </a:p>
        </p:txBody>
      </p:sp>
      <p:pic>
        <p:nvPicPr>
          <p:cNvPr id="4" name="Picture 3">
            <a:extLst>
              <a:ext uri="{FF2B5EF4-FFF2-40B4-BE49-F238E27FC236}">
                <a16:creationId xmlns:a16="http://schemas.microsoft.com/office/drawing/2014/main" id="{BB538DED-65B2-32E5-9D23-023CB709B9F1}"/>
              </a:ext>
            </a:extLst>
          </p:cNvPr>
          <p:cNvPicPr>
            <a:picLocks noChangeAspect="1"/>
          </p:cNvPicPr>
          <p:nvPr/>
        </p:nvPicPr>
        <p:blipFill>
          <a:blip r:embed="rId2"/>
          <a:stretch>
            <a:fillRect/>
          </a:stretch>
        </p:blipFill>
        <p:spPr>
          <a:xfrm>
            <a:off x="3657600" y="4028898"/>
            <a:ext cx="4607195" cy="2067936"/>
          </a:xfrm>
          <a:prstGeom prst="rect">
            <a:avLst/>
          </a:prstGeom>
        </p:spPr>
      </p:pic>
    </p:spTree>
    <p:extLst>
      <p:ext uri="{BB962C8B-B14F-4D97-AF65-F5344CB8AC3E}">
        <p14:creationId xmlns:p14="http://schemas.microsoft.com/office/powerpoint/2010/main" val="312980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 calcmode="lin" valueType="num">
                                      <p:cBhvr additive="base">
                                        <p:cTn id="19"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70</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sz="1600" b="1" dirty="0">
                <a:solidFill>
                  <a:srgbClr val="333333"/>
                </a:solidFill>
                <a:latin typeface="Open Sans" panose="020B0606030504020204" pitchFamily="34" charset="0"/>
              </a:rPr>
              <a:t>Create a Compressed Archive</a:t>
            </a:r>
            <a:br>
              <a:rPr lang="en-US" sz="1800" b="1" dirty="0">
                <a:solidFill>
                  <a:schemeClr val="tx1">
                    <a:lumMod val="75000"/>
                    <a:lumOff val="25000"/>
                  </a:schemeClr>
                </a:solidFill>
              </a:rPr>
            </a:b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
              <a:defRPr/>
            </a:pPr>
            <a:r>
              <a:rPr lang="en-US" sz="1600" dirty="0">
                <a:solidFill>
                  <a:schemeClr val="tx1">
                    <a:lumMod val="75000"/>
                    <a:lumOff val="25000"/>
                  </a:schemeClr>
                </a:solidFill>
              </a:rPr>
              <a:t>The tar command supports these compression methods, and others:</a:t>
            </a:r>
          </a:p>
          <a:p>
            <a:pPr marL="74295" indent="0">
              <a:spcAft>
                <a:spcPts val="0"/>
              </a:spcAft>
              <a:buClrTx/>
              <a:buNone/>
              <a:defRPr/>
            </a:pPr>
            <a:endParaRPr lang="en-US" sz="1600" dirty="0">
              <a:solidFill>
                <a:schemeClr val="tx1">
                  <a:lumMod val="75000"/>
                  <a:lumOff val="25000"/>
                </a:schemeClr>
              </a:solidFill>
            </a:endParaRPr>
          </a:p>
          <a:p>
            <a:pPr marL="652653" lvl="1" indent="-285750">
              <a:spcAft>
                <a:spcPts val="0"/>
              </a:spcAft>
              <a:buFont typeface="Wingdings" panose="05000000000000000000" pitchFamily="2" charset="2"/>
              <a:buChar char="Ø"/>
              <a:defRPr/>
            </a:pPr>
            <a:r>
              <a:rPr lang="en-US" sz="1400" dirty="0" err="1">
                <a:solidFill>
                  <a:schemeClr val="tx1">
                    <a:lumMod val="75000"/>
                    <a:lumOff val="25000"/>
                  </a:schemeClr>
                </a:solidFill>
              </a:rPr>
              <a:t>gzip</a:t>
            </a:r>
            <a:r>
              <a:rPr lang="en-US" sz="1400" dirty="0">
                <a:solidFill>
                  <a:schemeClr val="tx1">
                    <a:lumMod val="75000"/>
                    <a:lumOff val="25000"/>
                  </a:schemeClr>
                </a:solidFill>
              </a:rPr>
              <a:t> compression is the legacy, fastest method, and is widely available across platforms.</a:t>
            </a:r>
          </a:p>
          <a:p>
            <a:pPr marL="652653" lvl="1" indent="-285750">
              <a:spcAft>
                <a:spcPts val="0"/>
              </a:spcAft>
              <a:buFont typeface="Wingdings" panose="05000000000000000000" pitchFamily="2" charset="2"/>
              <a:buChar char="Ø"/>
              <a:defRPr/>
            </a:pPr>
            <a:r>
              <a:rPr lang="en-US" sz="1400" dirty="0">
                <a:solidFill>
                  <a:schemeClr val="tx1">
                    <a:lumMod val="75000"/>
                    <a:lumOff val="25000"/>
                  </a:schemeClr>
                </a:solidFill>
              </a:rPr>
              <a:t>bzip2 compression creates smaller archives but is less widely available than </a:t>
            </a:r>
            <a:r>
              <a:rPr lang="en-US" sz="1400" dirty="0" err="1">
                <a:solidFill>
                  <a:schemeClr val="tx1">
                    <a:lumMod val="75000"/>
                    <a:lumOff val="25000"/>
                  </a:schemeClr>
                </a:solidFill>
              </a:rPr>
              <a:t>gzip</a:t>
            </a:r>
            <a:r>
              <a:rPr lang="en-US" sz="1400" dirty="0">
                <a:solidFill>
                  <a:schemeClr val="tx1">
                    <a:lumMod val="75000"/>
                    <a:lumOff val="25000"/>
                  </a:schemeClr>
                </a:solidFill>
              </a:rPr>
              <a:t>.</a:t>
            </a:r>
          </a:p>
          <a:p>
            <a:pPr marL="652653" lvl="1" indent="-285750">
              <a:spcAft>
                <a:spcPts val="0"/>
              </a:spcAft>
              <a:buFont typeface="Wingdings" panose="05000000000000000000" pitchFamily="2" charset="2"/>
              <a:buChar char="Ø"/>
              <a:defRPr/>
            </a:pPr>
            <a:r>
              <a:rPr lang="en-US" sz="1400" dirty="0" err="1">
                <a:solidFill>
                  <a:schemeClr val="tx1">
                    <a:lumMod val="75000"/>
                    <a:lumOff val="25000"/>
                  </a:schemeClr>
                </a:solidFill>
              </a:rPr>
              <a:t>xz</a:t>
            </a:r>
            <a:r>
              <a:rPr lang="en-US" sz="1400" dirty="0">
                <a:solidFill>
                  <a:schemeClr val="tx1">
                    <a:lumMod val="75000"/>
                    <a:lumOff val="25000"/>
                  </a:schemeClr>
                </a:solidFill>
              </a:rPr>
              <a:t> compression is newer, and offers the best compression ratio of the available methods.</a:t>
            </a:r>
          </a:p>
          <a:p>
            <a:pPr marL="652653" lvl="1" indent="-285750">
              <a:spcAft>
                <a:spcPts val="0"/>
              </a:spcAft>
              <a:buFont typeface="Wingdings" panose="05000000000000000000" pitchFamily="2" charset="2"/>
              <a:buChar char="Ø"/>
              <a:defRPr/>
            </a:pPr>
            <a:r>
              <a:rPr lang="en-US" sz="1400" dirty="0">
                <a:solidFill>
                  <a:schemeClr val="tx1">
                    <a:lumMod val="75000"/>
                    <a:lumOff val="25000"/>
                  </a:schemeClr>
                </a:solidFill>
              </a:rPr>
              <a:t>compress is a legacy LZ algorithm variation, and is widely available across platforms.</a:t>
            </a:r>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Archive and Transfer Files</a:t>
            </a:r>
          </a:p>
        </p:txBody>
      </p:sp>
    </p:spTree>
    <p:extLst>
      <p:ext uri="{BB962C8B-B14F-4D97-AF65-F5344CB8AC3E}">
        <p14:creationId xmlns:p14="http://schemas.microsoft.com/office/powerpoint/2010/main" val="306600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4" end="4"/>
                                            </p:txEl>
                                          </p:spTgt>
                                        </p:tgtEl>
                                        <p:attrNameLst>
                                          <p:attrName>style.visibility</p:attrName>
                                        </p:attrNameLst>
                                      </p:cBhvr>
                                      <p:to>
                                        <p:strVal val="visible"/>
                                      </p:to>
                                    </p:set>
                                    <p:anim calcmode="lin" valueType="num">
                                      <p:cBhvr additive="base">
                                        <p:cTn id="13"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anim calcmode="lin" valueType="num">
                                      <p:cBhvr additive="base">
                                        <p:cTn id="1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7" end="7"/>
                                            </p:txEl>
                                          </p:spTgt>
                                        </p:tgtEl>
                                        <p:attrNameLst>
                                          <p:attrName>style.visibility</p:attrName>
                                        </p:attrNameLst>
                                      </p:cBhvr>
                                      <p:to>
                                        <p:strVal val="visible"/>
                                      </p:to>
                                    </p:set>
                                    <p:anim calcmode="lin" valueType="num">
                                      <p:cBhvr additive="base">
                                        <p:cTn id="31" dur="500" fill="hold"/>
                                        <p:tgtEl>
                                          <p:spTgt spid="3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 RH124</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Find command</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5798327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72</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IN" altLang="en-US" sz="1600" dirty="0"/>
              <a:t>The Linux Find Command is one of the most important and much used command in Linux systems. Find command used to search and locate list of files and directories based on conditions you specify for files that match the arguments. </a:t>
            </a:r>
          </a:p>
          <a:p>
            <a:pPr marL="360045" indent="-285750">
              <a:spcAft>
                <a:spcPts val="0"/>
              </a:spcAft>
              <a:buClrTx/>
              <a:buFont typeface="Wingdings" panose="05000000000000000000" pitchFamily="2" charset="2"/>
              <a:buChar char="q"/>
              <a:defRPr/>
            </a:pPr>
            <a:r>
              <a:rPr lang="en-IN" altLang="en-US" sz="1600" dirty="0"/>
              <a:t>Find command can be used in variety of conditions like you can find files by permissions, users, groups, file type, date, size and other possible criteria.</a:t>
            </a:r>
          </a:p>
          <a:p>
            <a:pPr marL="360045" indent="-285750">
              <a:spcAft>
                <a:spcPts val="0"/>
              </a:spcAft>
              <a:buClrTx/>
              <a:buFont typeface="Wingdings" panose="05000000000000000000" pitchFamily="2" charset="2"/>
              <a:buChar char="q"/>
              <a:defRPr/>
            </a:pPr>
            <a:r>
              <a:rPr lang="en-IN" altLang="en-US" sz="1600" dirty="0"/>
              <a:t>The find command is available on most Linux distros by default so you do not have to install any package. The find command is an essential one to learn, if you want to get super productive with the command line on Linux.</a:t>
            </a:r>
          </a:p>
          <a:p>
            <a:pPr marL="360045" indent="-285750">
              <a:spcAft>
                <a:spcPts val="0"/>
              </a:spcAft>
              <a:buClrTx/>
              <a:buFont typeface="Wingdings" panose="05000000000000000000" pitchFamily="2" charset="2"/>
              <a:buChar char="v"/>
              <a:defRPr/>
            </a:pPr>
            <a:r>
              <a:rPr lang="en-IN" altLang="en-US" sz="1600" dirty="0"/>
              <a:t>The basic syntax of the find command looks like this:</a:t>
            </a:r>
            <a:br>
              <a:rPr lang="en-IN" altLang="en-US" sz="1600" dirty="0"/>
            </a:br>
            <a:br>
              <a:rPr lang="en-IN" altLang="en-US" sz="1600"/>
            </a:br>
            <a:r>
              <a:rPr lang="en-IN" altLang="en-US" sz="1600"/>
              <a:t>find [path] [options] [expression]</a:t>
            </a:r>
          </a:p>
          <a:p>
            <a:pPr marL="360045" indent="-285750">
              <a:spcAft>
                <a:spcPts val="0"/>
              </a:spcAft>
              <a:buClrTx/>
              <a:buFont typeface="Wingdings" panose="05000000000000000000" pitchFamily="2" charset="2"/>
              <a:buChar char="v"/>
              <a:defRPr/>
            </a:pPr>
            <a:endParaRPr lang="th-TH" altLang="en-US" sz="1600" dirty="0"/>
          </a:p>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Find Command in Linux</a:t>
            </a:r>
          </a:p>
        </p:txBody>
      </p:sp>
    </p:spTree>
    <p:extLst>
      <p:ext uri="{BB962C8B-B14F-4D97-AF65-F5344CB8AC3E}">
        <p14:creationId xmlns:p14="http://schemas.microsoft.com/office/powerpoint/2010/main" val="192749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grep command</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12657582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74</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altLang="en-US" sz="1600" dirty="0"/>
              <a:t>Grep is a Linux command-line tool that enables users to search files for a specific text pattern. When grep identifies a match, it displays the lines containing that pattern on the terminal.</a:t>
            </a:r>
          </a:p>
          <a:p>
            <a:pPr marL="360045" indent="-285750">
              <a:spcAft>
                <a:spcPts val="0"/>
              </a:spcAft>
              <a:buClrTx/>
              <a:buFont typeface="Wingdings" panose="05000000000000000000" pitchFamily="2" charset="2"/>
              <a:buChar char="q"/>
              <a:defRPr/>
            </a:pPr>
            <a:r>
              <a:rPr lang="en-US" altLang="en-US" sz="1600" dirty="0"/>
              <a:t>By default, the grep command outputs entire lines that contain the match. </a:t>
            </a:r>
          </a:p>
          <a:p>
            <a:pPr marL="360045" indent="-285750">
              <a:spcAft>
                <a:spcPts val="0"/>
              </a:spcAft>
              <a:buClrTx/>
              <a:buFont typeface="Wingdings" panose="05000000000000000000" pitchFamily="2" charset="2"/>
              <a:buChar char="q"/>
              <a:defRPr/>
            </a:pPr>
            <a:r>
              <a:rPr lang="en-US" altLang="en-US" sz="1600" dirty="0"/>
              <a:t>grep stands for "global regular expression print".</a:t>
            </a:r>
          </a:p>
          <a:p>
            <a:pPr marL="360045" indent="-285750">
              <a:spcAft>
                <a:spcPts val="0"/>
              </a:spcAft>
              <a:buClrTx/>
              <a:buFont typeface="Wingdings" panose="05000000000000000000" pitchFamily="2" charset="2"/>
              <a:buChar char="q"/>
              <a:defRPr/>
            </a:pPr>
            <a:r>
              <a:rPr lang="en-IN" altLang="en-US" sz="1600" dirty="0"/>
              <a:t>Syntax of grep command:</a:t>
            </a:r>
            <a:br>
              <a:rPr lang="en-IN" altLang="en-US" sz="1600" dirty="0"/>
            </a:br>
            <a:br>
              <a:rPr lang="en-IN" altLang="en-US" sz="1600" dirty="0"/>
            </a:br>
            <a:r>
              <a:rPr lang="en-IN" altLang="en-US" sz="1600" dirty="0">
                <a:highlight>
                  <a:srgbClr val="FFFF00"/>
                </a:highlight>
              </a:rPr>
              <a:t>#</a:t>
            </a:r>
            <a:r>
              <a:rPr lang="en-US" altLang="en-US" sz="1600" dirty="0">
                <a:highlight>
                  <a:srgbClr val="FFFF00"/>
                </a:highlight>
              </a:rPr>
              <a:t>grep '[</a:t>
            </a:r>
            <a:r>
              <a:rPr lang="en-US" altLang="en-US" sz="1600" dirty="0" err="1">
                <a:highlight>
                  <a:srgbClr val="FFFF00"/>
                </a:highlight>
              </a:rPr>
              <a:t>search_pattern</a:t>
            </a:r>
            <a:r>
              <a:rPr lang="en-US" altLang="en-US" sz="1600" dirty="0">
                <a:highlight>
                  <a:srgbClr val="FFFF00"/>
                </a:highlight>
              </a:rPr>
              <a:t>]' [</a:t>
            </a:r>
            <a:r>
              <a:rPr lang="en-US" altLang="en-US" sz="1600" dirty="0" err="1">
                <a:highlight>
                  <a:srgbClr val="FFFF00"/>
                </a:highlight>
              </a:rPr>
              <a:t>file_name</a:t>
            </a:r>
            <a:r>
              <a:rPr lang="en-US" altLang="en-US" sz="1600" dirty="0">
                <a:highlight>
                  <a:srgbClr val="FFFF00"/>
                </a:highlight>
              </a:rPr>
              <a:t>]</a:t>
            </a:r>
            <a:br>
              <a:rPr lang="en-US" altLang="en-US" sz="1600" dirty="0">
                <a:highlight>
                  <a:srgbClr val="FFFF00"/>
                </a:highlight>
              </a:rPr>
            </a:br>
            <a:br>
              <a:rPr lang="en-US" altLang="en-US" sz="1600" dirty="0">
                <a:highlight>
                  <a:srgbClr val="FFFF00"/>
                </a:highlight>
              </a:rPr>
            </a:br>
            <a:r>
              <a:rPr lang="en-US" altLang="en-US" sz="1600" dirty="0"/>
              <a:t>The grep command consists of three basic parts:</a:t>
            </a:r>
            <a:br>
              <a:rPr lang="en-US" altLang="en-US" sz="1600" dirty="0"/>
            </a:br>
            <a:br>
              <a:rPr lang="en-US" altLang="en-US" sz="1600" dirty="0"/>
            </a:br>
            <a:r>
              <a:rPr lang="en-US" altLang="en-US" sz="1600" dirty="0"/>
              <a:t>* The grep command itself.</a:t>
            </a:r>
            <a:br>
              <a:rPr lang="en-US" altLang="en-US" sz="1600" dirty="0"/>
            </a:br>
            <a:r>
              <a:rPr lang="en-US" altLang="en-US" sz="1600" dirty="0"/>
              <a:t>* The pattern you are searching for.</a:t>
            </a:r>
            <a:br>
              <a:rPr lang="en-US" altLang="en-US" sz="1600" dirty="0"/>
            </a:br>
            <a:r>
              <a:rPr lang="en-US" altLang="en-US" sz="1600" dirty="0"/>
              <a:t>* The file name that grep searches through.</a:t>
            </a:r>
            <a:endParaRPr lang="en-US" altLang="en-US" sz="1600" dirty="0">
              <a:highlight>
                <a:srgbClr val="FFFF00"/>
              </a:highlight>
            </a:endParaRPr>
          </a:p>
          <a:p>
            <a:pPr marL="360045" indent="-285750">
              <a:spcAft>
                <a:spcPts val="0"/>
              </a:spcAft>
              <a:buClrTx/>
              <a:buFont typeface="Wingdings" panose="05000000000000000000" pitchFamily="2" charset="2"/>
              <a:buChar char="q"/>
              <a:defRPr/>
            </a:pPr>
            <a:r>
              <a:rPr lang="en-US" altLang="en-US" sz="1600" dirty="0"/>
              <a:t>For example, to search for the term "cloud computing" in the file named example_file2.txt, enter:</a:t>
            </a:r>
            <a:br>
              <a:rPr lang="en-US" altLang="en-US" sz="1600" dirty="0"/>
            </a:br>
            <a:br>
              <a:rPr lang="en-US" altLang="en-US" sz="1600" dirty="0"/>
            </a:br>
            <a:r>
              <a:rPr lang="en-US" altLang="en-US" sz="1600" dirty="0">
                <a:highlight>
                  <a:srgbClr val="FFFF00"/>
                </a:highlight>
              </a:rPr>
              <a:t>#grep 'cloud computing' example_file2.txt</a:t>
            </a:r>
          </a:p>
          <a:p>
            <a:pPr marL="360045" indent="-285750">
              <a:spcAft>
                <a:spcPts val="0"/>
              </a:spcAft>
              <a:buClrTx/>
              <a:buFont typeface="Wingdings" panose="05000000000000000000" pitchFamily="2" charset="2"/>
              <a:buChar char="q"/>
              <a:defRPr/>
            </a:pPr>
            <a:endParaRPr lang="en-IN" altLang="en-US" sz="1600" dirty="0">
              <a:highlight>
                <a:srgbClr val="FFFF00"/>
              </a:highlight>
            </a:endParaRPr>
          </a:p>
          <a:p>
            <a:pPr marL="360045" indent="-285750">
              <a:spcAft>
                <a:spcPts val="0"/>
              </a:spcAft>
              <a:buClrTx/>
              <a:buFont typeface="Wingdings" panose="05000000000000000000" pitchFamily="2" charset="2"/>
              <a:buChar char="q"/>
              <a:defRPr/>
            </a:pPr>
            <a:endParaRPr lang="en-IN" altLang="en-US" sz="1600" dirty="0">
              <a:highlight>
                <a:srgbClr val="FFFF00"/>
              </a:highlight>
            </a:endParaRPr>
          </a:p>
          <a:p>
            <a:pPr marL="360045" indent="-285750">
              <a:spcAft>
                <a:spcPts val="0"/>
              </a:spcAft>
              <a:buClrTx/>
              <a:buFont typeface="Wingdings" panose="05000000000000000000" pitchFamily="2" charset="2"/>
              <a:buChar char="v"/>
              <a:defRPr/>
            </a:pPr>
            <a:endParaRPr lang="th-TH" altLang="en-US" sz="1600" dirty="0"/>
          </a:p>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Grep Command in Linux</a:t>
            </a:r>
          </a:p>
        </p:txBody>
      </p:sp>
    </p:spTree>
    <p:extLst>
      <p:ext uri="{BB962C8B-B14F-4D97-AF65-F5344CB8AC3E}">
        <p14:creationId xmlns:p14="http://schemas.microsoft.com/office/powerpoint/2010/main" val="376193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5" end="5"/>
                                            </p:txEl>
                                          </p:spTgt>
                                        </p:tgtEl>
                                        <p:attrNameLst>
                                          <p:attrName>style.visibility</p:attrName>
                                        </p:attrNameLst>
                                      </p:cBhvr>
                                      <p:to>
                                        <p:strVal val="visible"/>
                                      </p:to>
                                    </p:set>
                                    <p:anim calcmode="lin" valueType="num">
                                      <p:cBhvr additive="base">
                                        <p:cTn id="31"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75</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Grep Command in Linux</a:t>
            </a:r>
          </a:p>
        </p:txBody>
      </p:sp>
      <p:pic>
        <p:nvPicPr>
          <p:cNvPr id="4" name="Picture 3">
            <a:extLst>
              <a:ext uri="{FF2B5EF4-FFF2-40B4-BE49-F238E27FC236}">
                <a16:creationId xmlns:a16="http://schemas.microsoft.com/office/drawing/2014/main" id="{7E2D8DFD-6109-1CBC-0E15-2FC57BAF0EFF}"/>
              </a:ext>
            </a:extLst>
          </p:cNvPr>
          <p:cNvPicPr>
            <a:picLocks noChangeAspect="1"/>
          </p:cNvPicPr>
          <p:nvPr/>
        </p:nvPicPr>
        <p:blipFill>
          <a:blip r:embed="rId2"/>
          <a:stretch>
            <a:fillRect/>
          </a:stretch>
        </p:blipFill>
        <p:spPr>
          <a:xfrm>
            <a:off x="1181820" y="1265761"/>
            <a:ext cx="4960636" cy="4820836"/>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4D5C8107-ED25-5600-2FA8-2004B0A22652}"/>
              </a:ext>
            </a:extLst>
          </p:cNvPr>
          <p:cNvPicPr>
            <a:picLocks noChangeAspect="1"/>
          </p:cNvPicPr>
          <p:nvPr/>
        </p:nvPicPr>
        <p:blipFill>
          <a:blip r:embed="rId3"/>
          <a:stretch>
            <a:fillRect/>
          </a:stretch>
        </p:blipFill>
        <p:spPr>
          <a:xfrm>
            <a:off x="6310254" y="1265761"/>
            <a:ext cx="5093868" cy="482083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3256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Sort command</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26069269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77</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altLang="en-US" sz="1600" dirty="0"/>
              <a:t>The sort command is used in Linux to print the output of a file in given order.</a:t>
            </a:r>
          </a:p>
          <a:p>
            <a:pPr marL="360045" indent="-285750">
              <a:spcAft>
                <a:spcPts val="0"/>
              </a:spcAft>
              <a:buClrTx/>
              <a:buFont typeface="Wingdings" panose="05000000000000000000" pitchFamily="2" charset="2"/>
              <a:buChar char="q"/>
              <a:defRPr/>
            </a:pPr>
            <a:r>
              <a:rPr lang="en-US" altLang="en-US" sz="1600" dirty="0"/>
              <a:t>This command processes your data (the content of a file or the output of any command) and reorders it in a specified manner, making it easier for us to read the data efficiently.</a:t>
            </a:r>
          </a:p>
          <a:p>
            <a:pPr marL="360045" indent="-285750">
              <a:spcAft>
                <a:spcPts val="0"/>
              </a:spcAft>
              <a:buClrTx/>
              <a:buFont typeface="Wingdings" panose="05000000000000000000" pitchFamily="2" charset="2"/>
              <a:buChar char="q"/>
              <a:defRPr/>
            </a:pPr>
            <a:r>
              <a:rPr lang="en-US" altLang="en-US" sz="1600" dirty="0"/>
              <a:t>It is very useful when dealing with large amounts of information that need to be organized alphabetically or in ascending or descending numerical order.</a:t>
            </a:r>
          </a:p>
          <a:p>
            <a:pPr marL="360045" indent="-285750">
              <a:spcAft>
                <a:spcPts val="0"/>
              </a:spcAft>
              <a:buClrTx/>
              <a:buFont typeface="Wingdings" panose="05000000000000000000" pitchFamily="2" charset="2"/>
              <a:buChar char="q"/>
              <a:defRPr/>
            </a:pPr>
            <a:r>
              <a:rPr lang="en-US" altLang="en-US" sz="1600" dirty="0"/>
              <a:t>In alphabetical sorting, the command checks the first letter of each line and moves the lines upward or downward to arrange each line in alphabetical order.</a:t>
            </a:r>
          </a:p>
          <a:p>
            <a:pPr marL="360045" indent="-285750">
              <a:spcAft>
                <a:spcPts val="0"/>
              </a:spcAft>
              <a:buClrTx/>
              <a:buFont typeface="Wingdings" panose="05000000000000000000" pitchFamily="2" charset="2"/>
              <a:buChar char="q"/>
              <a:defRPr/>
            </a:pPr>
            <a:r>
              <a:rPr lang="en-IN" altLang="en-US" sz="1600" dirty="0"/>
              <a:t>Syntax </a:t>
            </a:r>
            <a:r>
              <a:rPr lang="en-IN" altLang="en-US" sz="1600"/>
              <a:t>of sort </a:t>
            </a:r>
            <a:r>
              <a:rPr lang="en-IN" altLang="en-US" sz="1600" dirty="0"/>
              <a:t>command:</a:t>
            </a:r>
            <a:br>
              <a:rPr lang="en-IN" altLang="en-US" sz="1600" dirty="0"/>
            </a:br>
            <a:br>
              <a:rPr lang="en-IN" altLang="en-US" sz="1600" dirty="0"/>
            </a:br>
            <a:r>
              <a:rPr lang="en-IN" altLang="en-US" sz="1600" dirty="0">
                <a:highlight>
                  <a:srgbClr val="FFFF00"/>
                </a:highlight>
              </a:rPr>
              <a:t>#</a:t>
            </a:r>
            <a:r>
              <a:rPr lang="en-US" altLang="en-US" sz="1600" dirty="0">
                <a:highlight>
                  <a:srgbClr val="FFFF00"/>
                </a:highlight>
              </a:rPr>
              <a:t>sort ‘[option]' [</a:t>
            </a:r>
            <a:r>
              <a:rPr lang="en-US" altLang="en-US" sz="1600" dirty="0" err="1">
                <a:highlight>
                  <a:srgbClr val="FFFF00"/>
                </a:highlight>
              </a:rPr>
              <a:t>file_name</a:t>
            </a:r>
            <a:r>
              <a:rPr lang="en-US" altLang="en-US" sz="1600" dirty="0">
                <a:highlight>
                  <a:srgbClr val="FFFF00"/>
                </a:highlight>
              </a:rPr>
              <a:t>]</a:t>
            </a:r>
            <a:br>
              <a:rPr lang="en-US" altLang="en-US" sz="1600" dirty="0">
                <a:highlight>
                  <a:srgbClr val="FFFF00"/>
                </a:highlight>
              </a:rPr>
            </a:br>
            <a:br>
              <a:rPr lang="en-US" altLang="en-US" sz="1600" dirty="0">
                <a:highlight>
                  <a:srgbClr val="FFFF00"/>
                </a:highlight>
              </a:rPr>
            </a:br>
            <a:endParaRPr lang="en-IN" altLang="en-US" sz="1600" dirty="0">
              <a:highlight>
                <a:srgbClr val="FFFF00"/>
              </a:highlight>
            </a:endParaRPr>
          </a:p>
          <a:p>
            <a:pPr marL="360045" indent="-285750">
              <a:spcAft>
                <a:spcPts val="0"/>
              </a:spcAft>
              <a:buClrTx/>
              <a:buFont typeface="Wingdings" panose="05000000000000000000" pitchFamily="2" charset="2"/>
              <a:buChar char="q"/>
              <a:defRPr/>
            </a:pPr>
            <a:endParaRPr lang="en-IN" altLang="en-US" sz="1600" dirty="0">
              <a:highlight>
                <a:srgbClr val="FFFF00"/>
              </a:highlight>
            </a:endParaRPr>
          </a:p>
          <a:p>
            <a:pPr marL="360045" indent="-285750">
              <a:spcAft>
                <a:spcPts val="0"/>
              </a:spcAft>
              <a:buClrTx/>
              <a:buFont typeface="Wingdings" panose="05000000000000000000" pitchFamily="2" charset="2"/>
              <a:buChar char="v"/>
              <a:defRPr/>
            </a:pPr>
            <a:endParaRPr lang="th-TH" altLang="en-US" sz="1600" dirty="0"/>
          </a:p>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Sort Command in Linux</a:t>
            </a:r>
          </a:p>
        </p:txBody>
      </p:sp>
    </p:spTree>
    <p:extLst>
      <p:ext uri="{BB962C8B-B14F-4D97-AF65-F5344CB8AC3E}">
        <p14:creationId xmlns:p14="http://schemas.microsoft.com/office/powerpoint/2010/main" val="278344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5" end="5"/>
                                            </p:txEl>
                                          </p:spTgt>
                                        </p:tgtEl>
                                        <p:attrNameLst>
                                          <p:attrName>style.visibility</p:attrName>
                                        </p:attrNameLst>
                                      </p:cBhvr>
                                      <p:to>
                                        <p:strVal val="visible"/>
                                      </p:to>
                                    </p:set>
                                    <p:anim calcmode="lin" valueType="num">
                                      <p:cBhvr additive="base">
                                        <p:cTn id="31"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err="1"/>
              <a:t>df</a:t>
            </a:r>
            <a:r>
              <a:rPr lang="en-US" dirty="0"/>
              <a:t> command</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789681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79</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altLang="en-US" sz="1600" dirty="0"/>
              <a:t>The </a:t>
            </a:r>
            <a:r>
              <a:rPr lang="en-US" altLang="en-US" sz="1600" dirty="0" err="1"/>
              <a:t>df</a:t>
            </a:r>
            <a:r>
              <a:rPr lang="en-US" altLang="en-US" sz="1600" dirty="0"/>
              <a:t> command display information about file system disk space usage on the mounted file system.</a:t>
            </a:r>
          </a:p>
          <a:p>
            <a:pPr marL="360045" indent="-285750">
              <a:spcAft>
                <a:spcPts val="0"/>
              </a:spcAft>
              <a:buClrTx/>
              <a:buFont typeface="Wingdings" panose="05000000000000000000" pitchFamily="2" charset="2"/>
              <a:buChar char="q"/>
              <a:defRPr/>
            </a:pPr>
            <a:r>
              <a:rPr lang="en-US" altLang="en-US" sz="1600" dirty="0"/>
              <a:t>Disk free also known as ‘</a:t>
            </a:r>
            <a:r>
              <a:rPr lang="en-US" altLang="en-US" sz="1600" dirty="0" err="1"/>
              <a:t>df</a:t>
            </a:r>
            <a:r>
              <a:rPr lang="en-US" altLang="en-US" sz="1600" dirty="0"/>
              <a:t>’, which is a powerful utility that provides valuable information on disk space utilization.</a:t>
            </a:r>
          </a:p>
          <a:p>
            <a:pPr marL="360045" indent="-285750">
              <a:spcAft>
                <a:spcPts val="0"/>
              </a:spcAft>
              <a:buClrTx/>
              <a:buFont typeface="Wingdings" panose="05000000000000000000" pitchFamily="2" charset="2"/>
              <a:buChar char="q"/>
              <a:defRPr/>
            </a:pPr>
            <a:r>
              <a:rPr lang="en-US" altLang="en-US" sz="1600" dirty="0"/>
              <a:t>This command retrieves the information from ‘/proc/mounts’ or ‘/</a:t>
            </a:r>
            <a:r>
              <a:rPr lang="en-US" altLang="en-US" sz="1600" dirty="0" err="1"/>
              <a:t>etc</a:t>
            </a:r>
            <a:r>
              <a:rPr lang="en-US" altLang="en-US" sz="1600" dirty="0"/>
              <a:t>/</a:t>
            </a:r>
            <a:r>
              <a:rPr lang="en-US" altLang="en-US" sz="1600" dirty="0" err="1"/>
              <a:t>mtab</a:t>
            </a:r>
            <a:r>
              <a:rPr lang="en-US" altLang="en-US" sz="1600" dirty="0"/>
              <a:t>’.</a:t>
            </a:r>
          </a:p>
          <a:p>
            <a:pPr marL="360045" indent="-285750">
              <a:spcAft>
                <a:spcPts val="0"/>
              </a:spcAft>
              <a:buClrTx/>
              <a:buFont typeface="Wingdings" panose="05000000000000000000" pitchFamily="2" charset="2"/>
              <a:buChar char="q"/>
              <a:defRPr/>
            </a:pPr>
            <a:r>
              <a:rPr lang="en-US" altLang="en-US" sz="1600" dirty="0"/>
              <a:t>The </a:t>
            </a:r>
            <a:r>
              <a:rPr lang="en-US" altLang="en-US" sz="1600" dirty="0" err="1"/>
              <a:t>df</a:t>
            </a:r>
            <a:r>
              <a:rPr lang="en-US" altLang="en-US" sz="1600" dirty="0"/>
              <a:t> command can be run by any user.</a:t>
            </a:r>
          </a:p>
          <a:p>
            <a:pPr marL="360045" indent="-285750">
              <a:spcAft>
                <a:spcPts val="0"/>
              </a:spcAft>
              <a:buClrTx/>
              <a:buFont typeface="Wingdings" panose="05000000000000000000" pitchFamily="2" charset="2"/>
              <a:buChar char="q"/>
              <a:defRPr/>
            </a:pPr>
            <a:r>
              <a:rPr lang="en-IN" altLang="en-US" sz="1600" dirty="0"/>
              <a:t>Syntax of </a:t>
            </a:r>
            <a:r>
              <a:rPr lang="en-IN" altLang="en-US" sz="1600" dirty="0" err="1"/>
              <a:t>df</a:t>
            </a:r>
            <a:r>
              <a:rPr lang="en-IN" altLang="en-US" sz="1600" dirty="0"/>
              <a:t> command:</a:t>
            </a:r>
            <a:br>
              <a:rPr lang="en-IN" altLang="en-US" sz="1600" dirty="0"/>
            </a:br>
            <a:br>
              <a:rPr lang="en-IN" altLang="en-US" sz="1600" dirty="0"/>
            </a:br>
            <a:r>
              <a:rPr lang="en-IN" altLang="en-US" sz="1600" dirty="0">
                <a:highlight>
                  <a:srgbClr val="FFFF00"/>
                </a:highlight>
              </a:rPr>
              <a:t>#df [options] [filesystems]</a:t>
            </a:r>
            <a:br>
              <a:rPr lang="en-IN" altLang="en-US" sz="1600" dirty="0">
                <a:highlight>
                  <a:srgbClr val="FFFF00"/>
                </a:highlight>
              </a:rPr>
            </a:br>
            <a:br>
              <a:rPr lang="en-IN" altLang="en-US" sz="1600" dirty="0">
                <a:highlight>
                  <a:srgbClr val="FFFF00"/>
                </a:highlight>
              </a:rPr>
            </a:br>
            <a:r>
              <a:rPr lang="en-IN" altLang="en-US" sz="1600" dirty="0"/>
              <a:t>* </a:t>
            </a:r>
            <a:r>
              <a:rPr lang="en-US" altLang="en-US" sz="1600" dirty="0"/>
              <a:t>Options: These are optional flags that modify the output of the command. </a:t>
            </a:r>
            <a:br>
              <a:rPr lang="en-US" altLang="en-US" sz="1600" dirty="0"/>
            </a:br>
            <a:r>
              <a:rPr lang="en-US" altLang="en-US" sz="1600" dirty="0"/>
              <a:t>* filesystems: You can specify specific filesystems (mount points) to check their usage instead of getting information for all mounted drives.</a:t>
            </a:r>
            <a:br>
              <a:rPr lang="en-US" altLang="en-US" sz="1600" dirty="0"/>
            </a:br>
            <a:br>
              <a:rPr lang="en-US" altLang="en-US" sz="1600" dirty="0"/>
            </a:br>
            <a:r>
              <a:rPr lang="en-US" altLang="en-US" sz="1600" b="1" dirty="0"/>
              <a:t>Note:</a:t>
            </a:r>
            <a:r>
              <a:rPr lang="en-US" altLang="en-US" sz="1600" dirty="0"/>
              <a:t> If no file name is given, it displays the space available on all currently mounted file  systems.</a:t>
            </a:r>
          </a:p>
          <a:p>
            <a:pPr marL="74295" indent="0">
              <a:spcAft>
                <a:spcPts val="0"/>
              </a:spcAft>
              <a:buClrTx/>
              <a:buNone/>
              <a:defRPr/>
            </a:pPr>
            <a:br>
              <a:rPr lang="en-US" altLang="en-US" sz="1600" dirty="0">
                <a:highlight>
                  <a:srgbClr val="FFFF00"/>
                </a:highlight>
              </a:rPr>
            </a:br>
            <a:br>
              <a:rPr lang="en-US" altLang="en-US" sz="1600" dirty="0">
                <a:highlight>
                  <a:srgbClr val="FFFF00"/>
                </a:highlight>
              </a:rPr>
            </a:br>
            <a:endParaRPr lang="en-IN" altLang="en-US" sz="1600" dirty="0">
              <a:highlight>
                <a:srgbClr val="FFFF00"/>
              </a:highlight>
            </a:endParaRPr>
          </a:p>
          <a:p>
            <a:pPr marL="360045" indent="-285750">
              <a:spcAft>
                <a:spcPts val="0"/>
              </a:spcAft>
              <a:buClrTx/>
              <a:buFont typeface="Wingdings" panose="05000000000000000000" pitchFamily="2" charset="2"/>
              <a:buChar char="q"/>
              <a:defRPr/>
            </a:pPr>
            <a:endParaRPr lang="en-IN" altLang="en-US" sz="1600" dirty="0">
              <a:highlight>
                <a:srgbClr val="FFFF00"/>
              </a:highlight>
            </a:endParaRPr>
          </a:p>
          <a:p>
            <a:pPr marL="360045" indent="-285750">
              <a:spcAft>
                <a:spcPts val="0"/>
              </a:spcAft>
              <a:buClrTx/>
              <a:buFont typeface="Wingdings" panose="05000000000000000000" pitchFamily="2" charset="2"/>
              <a:buChar char="v"/>
              <a:defRPr/>
            </a:pPr>
            <a:endParaRPr lang="th-TH" altLang="en-US" sz="1600" dirty="0"/>
          </a:p>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err="1"/>
              <a:t>df</a:t>
            </a:r>
            <a:r>
              <a:rPr lang="en-US" sz="2600" b="1" dirty="0"/>
              <a:t> Command in Linux</a:t>
            </a:r>
          </a:p>
        </p:txBody>
      </p:sp>
    </p:spTree>
    <p:extLst>
      <p:ext uri="{BB962C8B-B14F-4D97-AF65-F5344CB8AC3E}">
        <p14:creationId xmlns:p14="http://schemas.microsoft.com/office/powerpoint/2010/main" val="14185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4" end="4"/>
                                            </p:txEl>
                                          </p:spTgt>
                                        </p:tgtEl>
                                        <p:attrNameLst>
                                          <p:attrName>style.visibility</p:attrName>
                                        </p:attrNameLst>
                                      </p:cBhvr>
                                      <p:to>
                                        <p:strVal val="visible"/>
                                      </p:to>
                                    </p:set>
                                    <p:anim calcmode="lin" valueType="num">
                                      <p:cBhvr additive="base">
                                        <p:cTn id="25" dur="500" fill="hold"/>
                                        <p:tgtEl>
                                          <p:spTgt spid="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
                                            <p:txEl>
                                              <p:pRg st="5" end="5"/>
                                            </p:txEl>
                                          </p:spTgt>
                                        </p:tgtEl>
                                        <p:attrNameLst>
                                          <p:attrName>style.visibility</p:attrName>
                                        </p:attrNameLst>
                                      </p:cBhvr>
                                      <p:to>
                                        <p:strVal val="visible"/>
                                      </p:to>
                                    </p:set>
                                    <p:anim calcmode="lin" valueType="num">
                                      <p:cBhvr additive="base">
                                        <p:cTn id="31"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5">
                                            <p:txEl>
                                              <p:pRg st="6" end="6"/>
                                            </p:txEl>
                                          </p:spTgt>
                                        </p:tgtEl>
                                        <p:attrNameLst>
                                          <p:attrName>style.visibility</p:attrName>
                                        </p:attrNameLst>
                                      </p:cBhvr>
                                      <p:to>
                                        <p:strVal val="visible"/>
                                      </p:to>
                                    </p:set>
                                    <p:anim calcmode="lin" valueType="num">
                                      <p:cBhvr additive="base">
                                        <p:cTn id="3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80</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IN" altLang="en-US" sz="1600" dirty="0"/>
              <a:t>Example:</a:t>
            </a:r>
          </a:p>
          <a:p>
            <a:pPr marL="360045" indent="-285750">
              <a:spcAft>
                <a:spcPts val="0"/>
              </a:spcAft>
              <a:buClrTx/>
              <a:buFont typeface="Wingdings" panose="05000000000000000000" pitchFamily="2" charset="2"/>
              <a:buChar char="q"/>
              <a:defRPr/>
            </a:pPr>
            <a:endParaRPr lang="en-IN" altLang="en-US" sz="1600" dirty="0"/>
          </a:p>
          <a:p>
            <a:pPr marL="360045" indent="-285750">
              <a:spcAft>
                <a:spcPts val="0"/>
              </a:spcAft>
              <a:buClrTx/>
              <a:buFont typeface="Wingdings" panose="05000000000000000000" pitchFamily="2" charset="2"/>
              <a:buChar char="q"/>
              <a:defRPr/>
            </a:pPr>
            <a:endParaRPr lang="en-IN" altLang="en-US" sz="1600" dirty="0"/>
          </a:p>
          <a:p>
            <a:pPr marL="360045" indent="-285750">
              <a:spcAft>
                <a:spcPts val="0"/>
              </a:spcAft>
              <a:buClrTx/>
              <a:buFont typeface="Wingdings" panose="05000000000000000000" pitchFamily="2" charset="2"/>
              <a:buChar char="q"/>
              <a:defRPr/>
            </a:pPr>
            <a:endParaRPr lang="en-IN" altLang="en-US" sz="1600" dirty="0"/>
          </a:p>
          <a:p>
            <a:pPr marL="360045" indent="-285750">
              <a:spcAft>
                <a:spcPts val="0"/>
              </a:spcAft>
              <a:buClrTx/>
              <a:buFont typeface="Wingdings" panose="05000000000000000000" pitchFamily="2" charset="2"/>
              <a:buChar char="q"/>
              <a:defRPr/>
            </a:pPr>
            <a:endParaRPr lang="en-IN" altLang="en-US" sz="1600" dirty="0"/>
          </a:p>
          <a:p>
            <a:pPr marL="74295" indent="0">
              <a:spcAft>
                <a:spcPts val="0"/>
              </a:spcAft>
              <a:buClrTx/>
              <a:buNone/>
              <a:defRPr/>
            </a:pPr>
            <a:endParaRPr lang="en-US" altLang="en-US" sz="1600" dirty="0"/>
          </a:p>
          <a:p>
            <a:pPr marL="360045" indent="-285750">
              <a:spcAft>
                <a:spcPts val="0"/>
              </a:spcAft>
              <a:buClrTx/>
              <a:buFont typeface="Wingdings" panose="05000000000000000000" pitchFamily="2" charset="2"/>
              <a:buChar char="q"/>
              <a:defRPr/>
            </a:pPr>
            <a:r>
              <a:rPr lang="en-US" altLang="en-US" sz="1600" dirty="0"/>
              <a:t>This will display information about all the mounted file systems which will include total size, used space, usage percentage, and the mount point as shown below:</a:t>
            </a:r>
            <a:br>
              <a:rPr lang="en-US" altLang="en-US" sz="1600" dirty="0"/>
            </a:br>
            <a:br>
              <a:rPr lang="en-US" altLang="en-US" sz="1600" dirty="0"/>
            </a:br>
            <a:r>
              <a:rPr lang="en-US" altLang="en-US" sz="1600" dirty="0"/>
              <a:t>* Filesystem: The name of the mounted storage device.</a:t>
            </a:r>
            <a:br>
              <a:rPr lang="en-US" altLang="en-US" sz="1600" dirty="0"/>
            </a:br>
            <a:r>
              <a:rPr lang="en-US" altLang="en-US" sz="1600" dirty="0"/>
              <a:t>* Size: The total size of the filesystem in bytes.</a:t>
            </a:r>
            <a:br>
              <a:rPr lang="en-US" altLang="en-US" sz="1600" dirty="0"/>
            </a:br>
            <a:r>
              <a:rPr lang="en-US" altLang="en-US" sz="1600" dirty="0"/>
              <a:t>* Used: The amount of space currently occupied by data in bytes.</a:t>
            </a:r>
            <a:br>
              <a:rPr lang="en-US" altLang="en-US" sz="1600" dirty="0"/>
            </a:br>
            <a:r>
              <a:rPr lang="en-US" altLang="en-US" sz="1600" dirty="0"/>
              <a:t>* Avail: The amount of free space available in bytes.</a:t>
            </a:r>
            <a:br>
              <a:rPr lang="en-US" altLang="en-US" sz="1600" dirty="0"/>
            </a:br>
            <a:r>
              <a:rPr lang="en-US" altLang="en-US" sz="1600" dirty="0"/>
              <a:t>* Use%: The percentage of the filesystem used.</a:t>
            </a:r>
            <a:br>
              <a:rPr lang="en-US" altLang="en-US" sz="1600" dirty="0"/>
            </a:br>
            <a:r>
              <a:rPr lang="en-US" altLang="en-US" sz="1600" dirty="0"/>
              <a:t>* Mounted on: The directory where the filesystem is mounted (e.g., /, /home).</a:t>
            </a:r>
          </a:p>
          <a:p>
            <a:pPr marL="74295" indent="0">
              <a:spcAft>
                <a:spcPts val="0"/>
              </a:spcAft>
              <a:buClrTx/>
              <a:buNone/>
              <a:defRPr/>
            </a:pPr>
            <a:br>
              <a:rPr lang="en-IN" altLang="en-US" sz="1600" dirty="0"/>
            </a:br>
            <a:br>
              <a:rPr lang="en-IN" altLang="en-US" sz="1600" dirty="0"/>
            </a:br>
            <a:br>
              <a:rPr lang="en-IN" altLang="en-US" sz="1600" dirty="0"/>
            </a:b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err="1"/>
              <a:t>df</a:t>
            </a:r>
            <a:r>
              <a:rPr lang="en-US" sz="2600" b="1" dirty="0"/>
              <a:t> Command in Linux</a:t>
            </a:r>
          </a:p>
        </p:txBody>
      </p:sp>
      <p:pic>
        <p:nvPicPr>
          <p:cNvPr id="7" name="Picture 6">
            <a:extLst>
              <a:ext uri="{FF2B5EF4-FFF2-40B4-BE49-F238E27FC236}">
                <a16:creationId xmlns:a16="http://schemas.microsoft.com/office/drawing/2014/main" id="{3E253939-3D68-C5B7-38C0-5CA5AECE3B2A}"/>
              </a:ext>
            </a:extLst>
          </p:cNvPr>
          <p:cNvPicPr>
            <a:picLocks noChangeAspect="1"/>
          </p:cNvPicPr>
          <p:nvPr/>
        </p:nvPicPr>
        <p:blipFill>
          <a:blip r:embed="rId2"/>
          <a:stretch>
            <a:fillRect/>
          </a:stretch>
        </p:blipFill>
        <p:spPr>
          <a:xfrm>
            <a:off x="3299798" y="1493316"/>
            <a:ext cx="5471634" cy="138696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899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6" end="6"/>
                                            </p:txEl>
                                          </p:spTgt>
                                        </p:tgtEl>
                                        <p:attrNameLst>
                                          <p:attrName>style.visibility</p:attrName>
                                        </p:attrNameLst>
                                      </p:cBhvr>
                                      <p:to>
                                        <p:strVal val="visible"/>
                                      </p:to>
                                    </p:set>
                                    <p:anim calcmode="lin" valueType="num">
                                      <p:cBhvr additive="base">
                                        <p:cTn id="13"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1137924"/>
            <a:ext cx="5507816" cy="586324"/>
          </a:xfrm>
        </p:spPr>
        <p:txBody>
          <a:bodyPr>
            <a:normAutofit/>
          </a:bodyPr>
          <a:lstStyle/>
          <a:p>
            <a:pPr algn="ctr"/>
            <a:r>
              <a:rPr lang="en-US" sz="2400" b="1" dirty="0"/>
              <a:t>Red Hat Enterprise Linux 9</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a:normAutofit/>
          </a:bodyPr>
          <a:lstStyle/>
          <a:p>
            <a:r>
              <a:rPr lang="en-US" dirty="0"/>
              <a:t>du command</a:t>
            </a:r>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
        <p:nvSpPr>
          <p:cNvPr id="3" name="Picture Placeholder 2">
            <a:extLst>
              <a:ext uri="{FF2B5EF4-FFF2-40B4-BE49-F238E27FC236}">
                <a16:creationId xmlns:a16="http://schemas.microsoft.com/office/drawing/2014/main" id="{C2E5C0E6-08FC-ADB5-1647-8D91A69DB421}"/>
              </a:ext>
            </a:extLst>
          </p:cNvPr>
          <p:cNvSpPr>
            <a:spLocks noGrp="1"/>
          </p:cNvSpPr>
          <p:nvPr>
            <p:ph type="pic" sz="quarter" idx="11"/>
          </p:nvPr>
        </p:nvSpPr>
        <p:spPr/>
        <p:txBody>
          <a:bodyPr/>
          <a:lstStyle/>
          <a:p>
            <a:endParaRPr lang="en-IN" dirty="0"/>
          </a:p>
        </p:txBody>
      </p:sp>
    </p:spTree>
    <p:extLst>
      <p:ext uri="{BB962C8B-B14F-4D97-AF65-F5344CB8AC3E}">
        <p14:creationId xmlns:p14="http://schemas.microsoft.com/office/powerpoint/2010/main" val="41738183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82</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endParaRPr lang="en-US" sz="1600" b="1" dirty="0">
              <a:solidFill>
                <a:schemeClr val="tx1">
                  <a:lumMod val="75000"/>
                  <a:lumOff val="25000"/>
                </a:schemeClr>
              </a:solidFill>
            </a:endParaRPr>
          </a:p>
          <a:p>
            <a:pPr marL="360045" indent="-285750">
              <a:spcAft>
                <a:spcPts val="0"/>
              </a:spcAft>
              <a:buClrTx/>
              <a:buFont typeface="Wingdings" panose="05000000000000000000" pitchFamily="2" charset="2"/>
              <a:buChar char="q"/>
              <a:defRPr/>
            </a:pPr>
            <a:r>
              <a:rPr lang="en-US" altLang="en-US" sz="1600" dirty="0"/>
              <a:t>du command display a list of all the files/directories along with their respective sizes. By default, size given is in kilobytes.</a:t>
            </a:r>
          </a:p>
          <a:p>
            <a:pPr marL="360045" indent="-285750">
              <a:spcAft>
                <a:spcPts val="0"/>
              </a:spcAft>
              <a:buClrTx/>
              <a:buFont typeface="Wingdings" panose="05000000000000000000" pitchFamily="2" charset="2"/>
              <a:buChar char="q"/>
              <a:defRPr/>
            </a:pPr>
            <a:r>
              <a:rPr lang="en-US" altLang="en-US" sz="1600" dirty="0"/>
              <a:t>du stands for Disk Usage.</a:t>
            </a:r>
          </a:p>
          <a:p>
            <a:pPr marL="360045" indent="-285750">
              <a:spcAft>
                <a:spcPts val="0"/>
              </a:spcAft>
              <a:buClrTx/>
              <a:buFont typeface="Wingdings" panose="05000000000000000000" pitchFamily="2" charset="2"/>
              <a:buChar char="q"/>
              <a:defRPr/>
            </a:pPr>
            <a:r>
              <a:rPr lang="en-IN" altLang="en-US" sz="1600" dirty="0"/>
              <a:t>Syntax of du command:</a:t>
            </a:r>
            <a:br>
              <a:rPr lang="en-IN" altLang="en-US" sz="1600" dirty="0"/>
            </a:br>
            <a:br>
              <a:rPr lang="en-IN" altLang="en-US" sz="1600" dirty="0"/>
            </a:br>
            <a:r>
              <a:rPr lang="en-IN" altLang="en-US" sz="1600" dirty="0">
                <a:highlight>
                  <a:srgbClr val="FFFF00"/>
                </a:highlight>
              </a:rPr>
              <a:t>#du [options] [directory/file]</a:t>
            </a:r>
            <a:br>
              <a:rPr lang="en-IN" altLang="en-US" sz="1600" dirty="0">
                <a:highlight>
                  <a:srgbClr val="FFFF00"/>
                </a:highlight>
              </a:rPr>
            </a:br>
            <a:br>
              <a:rPr lang="en-IN" altLang="en-US" sz="1600" dirty="0">
                <a:highlight>
                  <a:srgbClr val="FFFF00"/>
                </a:highlight>
              </a:rPr>
            </a:br>
            <a:r>
              <a:rPr lang="en-US" altLang="en-US" sz="1600" dirty="0"/>
              <a:t>Here,</a:t>
            </a:r>
            <a:br>
              <a:rPr lang="en-US" altLang="en-US" sz="1600" dirty="0"/>
            </a:br>
            <a:r>
              <a:rPr lang="en-US" altLang="en-US" sz="1600" dirty="0"/>
              <a:t>[options] = various flags that modify the behavior of the command</a:t>
            </a:r>
            <a:br>
              <a:rPr lang="en-US" altLang="en-US" sz="1600" dirty="0"/>
            </a:br>
            <a:r>
              <a:rPr lang="en-US" altLang="en-US" sz="1600" dirty="0"/>
              <a:t>[directory/file] = The target directory or file for which disk usage information is desired. If no directory or file is specified, du will default to the current directory.</a:t>
            </a:r>
          </a:p>
          <a:p>
            <a:pPr marL="74295" indent="0">
              <a:spcAft>
                <a:spcPts val="0"/>
              </a:spcAft>
              <a:buClrTx/>
              <a:buNone/>
              <a:defRPr/>
            </a:pPr>
            <a:br>
              <a:rPr lang="en-US" altLang="en-US" sz="1600" dirty="0">
                <a:highlight>
                  <a:srgbClr val="FFFF00"/>
                </a:highlight>
              </a:rPr>
            </a:br>
            <a:br>
              <a:rPr lang="en-US" altLang="en-US" sz="1600" dirty="0">
                <a:highlight>
                  <a:srgbClr val="FFFF00"/>
                </a:highlight>
              </a:rPr>
            </a:br>
            <a:endParaRPr lang="en-IN" altLang="en-US" sz="1600" dirty="0">
              <a:highlight>
                <a:srgbClr val="FFFF00"/>
              </a:highlight>
            </a:endParaRPr>
          </a:p>
          <a:p>
            <a:pPr marL="360045" indent="-285750">
              <a:spcAft>
                <a:spcPts val="0"/>
              </a:spcAft>
              <a:buClrTx/>
              <a:buFont typeface="Wingdings" panose="05000000000000000000" pitchFamily="2" charset="2"/>
              <a:buChar char="q"/>
              <a:defRPr/>
            </a:pPr>
            <a:endParaRPr lang="en-IN" altLang="en-US" sz="1600" dirty="0">
              <a:highlight>
                <a:srgbClr val="FFFF00"/>
              </a:highlight>
            </a:endParaRPr>
          </a:p>
          <a:p>
            <a:pPr marL="360045" indent="-285750">
              <a:spcAft>
                <a:spcPts val="0"/>
              </a:spcAft>
              <a:buClrTx/>
              <a:buFont typeface="Wingdings" panose="05000000000000000000" pitchFamily="2" charset="2"/>
              <a:buChar char="v"/>
              <a:defRPr/>
            </a:pPr>
            <a:endParaRPr lang="th-TH" altLang="en-US" sz="1600" dirty="0"/>
          </a:p>
          <a:p>
            <a:pPr marL="360045" indent="-285750">
              <a:spcAft>
                <a:spcPts val="0"/>
              </a:spcAft>
              <a:buClrTx/>
              <a:buFont typeface="Wingdings" panose="05000000000000000000" pitchFamily="2" charset="2"/>
              <a:buChar char="q"/>
              <a:defRPr/>
            </a:pP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a:t>du Command in Linux</a:t>
            </a:r>
          </a:p>
        </p:txBody>
      </p:sp>
    </p:spTree>
    <p:extLst>
      <p:ext uri="{BB962C8B-B14F-4D97-AF65-F5344CB8AC3E}">
        <p14:creationId xmlns:p14="http://schemas.microsoft.com/office/powerpoint/2010/main" val="284956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 calcmode="lin" valueType="num">
                                      <p:cBhvr additive="base">
                                        <p:cTn id="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 calcmode="lin" valueType="num">
                                      <p:cBhvr additive="base">
                                        <p:cTn id="13"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anim calcmode="lin" valueType="num">
                                      <p:cBhvr additive="base">
                                        <p:cTn id="19"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10261539" y="6290773"/>
            <a:ext cx="1563517" cy="365125"/>
          </a:xfrm>
        </p:spPr>
        <p:txBody>
          <a:bodyPr/>
          <a:lstStyle/>
          <a:p>
            <a:r>
              <a:rPr lang="en-US" b="1" dirty="0"/>
              <a:t>Shikhar Verma</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1056510" cy="365125"/>
          </a:xfrm>
        </p:spPr>
        <p:txBody>
          <a:bodyPr/>
          <a:lstStyle/>
          <a:p>
            <a:fld id="{3A98EE3D-8CD1-4C3F-BD1C-C98C9596463C}" type="slidenum">
              <a:rPr lang="en-US" smtClean="0"/>
              <a:pPr/>
              <a:t>83</a:t>
            </a:fld>
            <a:endParaRPr lang="en-US" dirty="0"/>
          </a:p>
        </p:txBody>
      </p:sp>
      <p:sp>
        <p:nvSpPr>
          <p:cNvPr id="35" name="Content Placeholder 1">
            <a:extLst>
              <a:ext uri="{FF2B5EF4-FFF2-40B4-BE49-F238E27FC236}">
                <a16:creationId xmlns:a16="http://schemas.microsoft.com/office/drawing/2014/main" id="{9091945C-31CF-2FA2-6632-00480F25C5E3}"/>
              </a:ext>
            </a:extLst>
          </p:cNvPr>
          <p:cNvSpPr txBox="1">
            <a:spLocks/>
          </p:cNvSpPr>
          <p:nvPr/>
        </p:nvSpPr>
        <p:spPr>
          <a:xfrm>
            <a:off x="1014023" y="1061589"/>
            <a:ext cx="10502241" cy="5229183"/>
          </a:xfrm>
          <a:prstGeom prst="rect">
            <a:avLst/>
          </a:prstGeom>
          <a:solidFill>
            <a:schemeClr val="bg1"/>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360045" indent="-285750">
              <a:spcAft>
                <a:spcPts val="0"/>
              </a:spcAft>
              <a:buClrTx/>
              <a:buFont typeface="Wingdings" panose="05000000000000000000" pitchFamily="2" charset="2"/>
              <a:buChar char="q"/>
              <a:defRPr/>
            </a:pPr>
            <a:r>
              <a:rPr lang="en-IN" altLang="en-US" sz="1600" dirty="0"/>
              <a:t>Example:</a:t>
            </a:r>
          </a:p>
          <a:p>
            <a:pPr marL="360045" indent="-285750">
              <a:spcAft>
                <a:spcPts val="0"/>
              </a:spcAft>
              <a:buClrTx/>
              <a:buFont typeface="Wingdings" panose="05000000000000000000" pitchFamily="2" charset="2"/>
              <a:buChar char="q"/>
              <a:defRPr/>
            </a:pPr>
            <a:endParaRPr lang="en-IN" altLang="en-US" sz="1600" dirty="0"/>
          </a:p>
          <a:p>
            <a:pPr marL="360045" indent="-285750">
              <a:spcAft>
                <a:spcPts val="0"/>
              </a:spcAft>
              <a:buClrTx/>
              <a:buFont typeface="Wingdings" panose="05000000000000000000" pitchFamily="2" charset="2"/>
              <a:buChar char="q"/>
              <a:defRPr/>
            </a:pPr>
            <a:endParaRPr lang="en-IN" altLang="en-US" sz="1600" dirty="0"/>
          </a:p>
          <a:p>
            <a:pPr marL="74295" indent="0">
              <a:spcAft>
                <a:spcPts val="0"/>
              </a:spcAft>
              <a:buClrTx/>
              <a:buNone/>
              <a:defRPr/>
            </a:pPr>
            <a:endParaRPr lang="en-IN" altLang="en-US" sz="1600" dirty="0"/>
          </a:p>
          <a:p>
            <a:pPr marL="360045" indent="-285750">
              <a:spcAft>
                <a:spcPts val="0"/>
              </a:spcAft>
              <a:buClrTx/>
              <a:buFont typeface="Wingdings" panose="05000000000000000000" pitchFamily="2" charset="2"/>
              <a:buChar char="q"/>
              <a:defRPr/>
            </a:pPr>
            <a:endParaRPr lang="en-IN" altLang="en-US" sz="1600" dirty="0"/>
          </a:p>
          <a:p>
            <a:pPr marL="74295" indent="0">
              <a:spcAft>
                <a:spcPts val="0"/>
              </a:spcAft>
              <a:buClrTx/>
              <a:buNone/>
              <a:defRPr/>
            </a:pPr>
            <a:br>
              <a:rPr lang="en-IN" altLang="en-US" sz="1600" dirty="0"/>
            </a:br>
            <a:br>
              <a:rPr lang="en-IN" altLang="en-US" sz="1600" dirty="0"/>
            </a:br>
            <a:br>
              <a:rPr lang="en-IN" altLang="en-US" sz="1600" dirty="0"/>
            </a:br>
            <a:endParaRPr lang="en-IN" altLang="en-US" sz="1600" dirty="0"/>
          </a:p>
        </p:txBody>
      </p:sp>
      <p:sp>
        <p:nvSpPr>
          <p:cNvPr id="2" name="Title 22">
            <a:extLst>
              <a:ext uri="{FF2B5EF4-FFF2-40B4-BE49-F238E27FC236}">
                <a16:creationId xmlns:a16="http://schemas.microsoft.com/office/drawing/2014/main" id="{464A8D3F-7487-9B72-5842-7DBE8CF52839}"/>
              </a:ext>
            </a:extLst>
          </p:cNvPr>
          <p:cNvSpPr txBox="1">
            <a:spLocks/>
          </p:cNvSpPr>
          <p:nvPr/>
        </p:nvSpPr>
        <p:spPr>
          <a:xfrm>
            <a:off x="1014023" y="341635"/>
            <a:ext cx="8095471" cy="6892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sz="2600" b="1" dirty="0" err="1"/>
              <a:t>df</a:t>
            </a:r>
            <a:r>
              <a:rPr lang="en-US" sz="2600" b="1" dirty="0"/>
              <a:t> Command in Linux</a:t>
            </a:r>
          </a:p>
        </p:txBody>
      </p:sp>
      <p:pic>
        <p:nvPicPr>
          <p:cNvPr id="5" name="Picture 4">
            <a:extLst>
              <a:ext uri="{FF2B5EF4-FFF2-40B4-BE49-F238E27FC236}">
                <a16:creationId xmlns:a16="http://schemas.microsoft.com/office/drawing/2014/main" id="{B4665BF2-CC11-FE4C-7A1C-BEDAFA1865BF}"/>
              </a:ext>
            </a:extLst>
          </p:cNvPr>
          <p:cNvPicPr>
            <a:picLocks noChangeAspect="1"/>
          </p:cNvPicPr>
          <p:nvPr/>
        </p:nvPicPr>
        <p:blipFill>
          <a:blip r:embed="rId2"/>
          <a:stretch>
            <a:fillRect/>
          </a:stretch>
        </p:blipFill>
        <p:spPr>
          <a:xfrm>
            <a:off x="1395663" y="1705338"/>
            <a:ext cx="3940538" cy="2377646"/>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E9B6E295-C884-7BD7-2229-97446660573D}"/>
              </a:ext>
            </a:extLst>
          </p:cNvPr>
          <p:cNvPicPr>
            <a:picLocks noChangeAspect="1"/>
          </p:cNvPicPr>
          <p:nvPr/>
        </p:nvPicPr>
        <p:blipFill>
          <a:blip r:embed="rId3"/>
          <a:stretch>
            <a:fillRect/>
          </a:stretch>
        </p:blipFill>
        <p:spPr>
          <a:xfrm>
            <a:off x="5644993" y="1705338"/>
            <a:ext cx="5395428" cy="237764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71523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CD53A-3321-FDB9-CA50-70544F935C22}"/>
              </a:ext>
            </a:extLst>
          </p:cNvPr>
          <p:cNvSpPr>
            <a:spLocks noGrp="1"/>
          </p:cNvSpPr>
          <p:nvPr>
            <p:ph type="ctrTitle"/>
          </p:nvPr>
        </p:nvSpPr>
        <p:spPr>
          <a:xfrm>
            <a:off x="447368" y="270880"/>
            <a:ext cx="11297264" cy="1524000"/>
          </a:xfrm>
        </p:spPr>
        <p:txBody>
          <a:bodyPr/>
          <a:lstStyle/>
          <a:p>
            <a:r>
              <a:rPr lang="en-US" dirty="0">
                <a:solidFill>
                  <a:schemeClr val="accent1"/>
                </a:solidFill>
              </a:rPr>
              <a:t>Skill two: </a:t>
            </a:r>
            <a:r>
              <a:rPr lang="en-US" dirty="0"/>
              <a:t>Introduction to digital logic</a:t>
            </a:r>
          </a:p>
        </p:txBody>
      </p:sp>
      <p:sp>
        <p:nvSpPr>
          <p:cNvPr id="4" name="Text Placeholder 3">
            <a:extLst>
              <a:ext uri="{FF2B5EF4-FFF2-40B4-BE49-F238E27FC236}">
                <a16:creationId xmlns:a16="http://schemas.microsoft.com/office/drawing/2014/main" id="{548BD71C-DCE9-9855-DCBE-675F20E94682}"/>
              </a:ext>
            </a:extLst>
          </p:cNvPr>
          <p:cNvSpPr>
            <a:spLocks noGrp="1"/>
          </p:cNvSpPr>
          <p:nvPr>
            <p:ph type="body" sz="quarter" idx="16"/>
          </p:nvPr>
        </p:nvSpPr>
        <p:spPr>
          <a:xfrm>
            <a:off x="1318352" y="1894376"/>
            <a:ext cx="2847975" cy="3390899"/>
          </a:xfrm>
        </p:spPr>
        <p:txBody>
          <a:bodyPr/>
          <a:lstStyle/>
          <a:p>
            <a:r>
              <a:rPr lang="en-US" dirty="0"/>
              <a:t>Formula</a:t>
            </a:r>
          </a:p>
        </p:txBody>
      </p:sp>
      <p:pic>
        <p:nvPicPr>
          <p:cNvPr id="51" name="Picture Placeholder 50" descr="Abacus">
            <a:extLst>
              <a:ext uri="{FF2B5EF4-FFF2-40B4-BE49-F238E27FC236}">
                <a16:creationId xmlns:a16="http://schemas.microsoft.com/office/drawing/2014/main" id="{F1A5F630-1971-68D5-BEDA-6FC11471C8E1}"/>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02" b="4502"/>
          <a:stretch/>
        </p:blipFill>
        <p:spPr>
          <a:xfrm>
            <a:off x="2239419" y="2833688"/>
            <a:ext cx="1005840" cy="914400"/>
          </a:xfrm>
        </p:spPr>
      </p:pic>
      <p:sp>
        <p:nvSpPr>
          <p:cNvPr id="8" name="Text Placeholder 7">
            <a:extLst>
              <a:ext uri="{FF2B5EF4-FFF2-40B4-BE49-F238E27FC236}">
                <a16:creationId xmlns:a16="http://schemas.microsoft.com/office/drawing/2014/main" id="{442063B1-AD32-CF53-B792-70C1B67D527C}"/>
              </a:ext>
            </a:extLst>
          </p:cNvPr>
          <p:cNvSpPr>
            <a:spLocks noGrp="1"/>
          </p:cNvSpPr>
          <p:nvPr>
            <p:ph type="body" sz="quarter" idx="20"/>
          </p:nvPr>
        </p:nvSpPr>
        <p:spPr>
          <a:xfrm>
            <a:off x="1605817" y="3989405"/>
            <a:ext cx="2275880" cy="893763"/>
          </a:xfrm>
        </p:spPr>
        <p:txBody>
          <a:bodyPr/>
          <a:lstStyle/>
          <a:p>
            <a:pPr lvl="0"/>
            <a:r>
              <a:rPr lang="en-US" dirty="0"/>
              <a:t>Boolean algebra and its significance in computer generating</a:t>
            </a:r>
          </a:p>
        </p:txBody>
      </p:sp>
      <p:sp>
        <p:nvSpPr>
          <p:cNvPr id="7" name="Text Placeholder 6">
            <a:extLst>
              <a:ext uri="{FF2B5EF4-FFF2-40B4-BE49-F238E27FC236}">
                <a16:creationId xmlns:a16="http://schemas.microsoft.com/office/drawing/2014/main" id="{CEAC814C-D211-009A-190F-549B7A0D6398}"/>
              </a:ext>
            </a:extLst>
          </p:cNvPr>
          <p:cNvSpPr>
            <a:spLocks noGrp="1"/>
          </p:cNvSpPr>
          <p:nvPr>
            <p:ph type="body" sz="quarter" idx="18"/>
          </p:nvPr>
        </p:nvSpPr>
        <p:spPr>
          <a:xfrm>
            <a:off x="4651092" y="1894376"/>
            <a:ext cx="2847975" cy="3390899"/>
          </a:xfrm>
        </p:spPr>
        <p:txBody>
          <a:bodyPr/>
          <a:lstStyle/>
          <a:p>
            <a:r>
              <a:rPr lang="en-US" dirty="0"/>
              <a:t>Logic</a:t>
            </a:r>
          </a:p>
        </p:txBody>
      </p:sp>
      <p:pic>
        <p:nvPicPr>
          <p:cNvPr id="53" name="Picture Placeholder 52" descr="3d Glasses">
            <a:extLst>
              <a:ext uri="{FF2B5EF4-FFF2-40B4-BE49-F238E27FC236}">
                <a16:creationId xmlns:a16="http://schemas.microsoft.com/office/drawing/2014/main" id="{6D152620-03B9-AECD-503A-E23309285EA7}"/>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ABB0AEFB-9FA8-4379-DA69-49759E72608E}"/>
              </a:ext>
            </a:extLst>
          </p:cNvPr>
          <p:cNvSpPr>
            <a:spLocks noGrp="1"/>
          </p:cNvSpPr>
          <p:nvPr>
            <p:ph type="body" sz="quarter" idx="21"/>
          </p:nvPr>
        </p:nvSpPr>
        <p:spPr>
          <a:xfrm>
            <a:off x="4938557" y="3989404"/>
            <a:ext cx="2275880" cy="893763"/>
          </a:xfrm>
        </p:spPr>
        <p:txBody>
          <a:bodyPr/>
          <a:lstStyle/>
          <a:p>
            <a:r>
              <a:rPr lang="en-US" dirty="0"/>
              <a:t>Logic gates: and, or, not, and their truth tables</a:t>
            </a:r>
          </a:p>
        </p:txBody>
      </p:sp>
      <p:sp>
        <p:nvSpPr>
          <p:cNvPr id="2" name="Text Placeholder 1">
            <a:extLst>
              <a:ext uri="{FF2B5EF4-FFF2-40B4-BE49-F238E27FC236}">
                <a16:creationId xmlns:a16="http://schemas.microsoft.com/office/drawing/2014/main" id="{C5B8455C-CEA2-F7C8-E898-97C86849DC0E}"/>
              </a:ext>
            </a:extLst>
          </p:cNvPr>
          <p:cNvSpPr>
            <a:spLocks noGrp="1"/>
          </p:cNvSpPr>
          <p:nvPr>
            <p:ph type="body" sz="quarter" idx="19"/>
          </p:nvPr>
        </p:nvSpPr>
        <p:spPr>
          <a:xfrm>
            <a:off x="7995403" y="1894376"/>
            <a:ext cx="2847975" cy="3390899"/>
          </a:xfrm>
        </p:spPr>
        <p:txBody>
          <a:bodyPr/>
          <a:lstStyle/>
          <a:p>
            <a:r>
              <a:rPr lang="en-US" dirty="0"/>
              <a:t>Sequence</a:t>
            </a:r>
          </a:p>
        </p:txBody>
      </p:sp>
      <p:pic>
        <p:nvPicPr>
          <p:cNvPr id="55" name="Picture Placeholder 54" descr="Circuit">
            <a:extLst>
              <a:ext uri="{FF2B5EF4-FFF2-40B4-BE49-F238E27FC236}">
                <a16:creationId xmlns:a16="http://schemas.microsoft.com/office/drawing/2014/main" id="{415585AE-96E0-81D6-0A31-2A13ECB76808}"/>
              </a:ext>
            </a:extLst>
          </p:cNvPr>
          <p:cNvPicPr>
            <a:picLocks noGrp="1" noChangeAspect="1"/>
          </p:cNvPicPr>
          <p:nvPr>
            <p:ph type="pic" sz="quarter" idx="25"/>
          </p:nvPr>
        </p:nvPicPr>
        <p:blipFill>
          <a:blip r:embed="rId6">
            <a:extLst>
              <a:ext uri="{96DAC541-7B7A-43D3-8B79-37D633B846F1}">
                <asvg:svgBlip xmlns:asvg="http://schemas.microsoft.com/office/drawing/2016/SVG/main" r:embed="rId7"/>
              </a:ext>
            </a:extLst>
          </a:blip>
          <a:srcRect t="4502" b="4502"/>
          <a:stretch/>
        </p:blipFill>
        <p:spPr>
          <a:xfrm>
            <a:off x="8916470" y="2833688"/>
            <a:ext cx="1005840" cy="914400"/>
          </a:xfrm>
        </p:spPr>
      </p:pic>
      <p:sp>
        <p:nvSpPr>
          <p:cNvPr id="10" name="Text Placeholder 9">
            <a:extLst>
              <a:ext uri="{FF2B5EF4-FFF2-40B4-BE49-F238E27FC236}">
                <a16:creationId xmlns:a16="http://schemas.microsoft.com/office/drawing/2014/main" id="{C0563BBD-CFF8-BAAA-D1C5-C6AC7B376BCA}"/>
              </a:ext>
            </a:extLst>
          </p:cNvPr>
          <p:cNvSpPr>
            <a:spLocks noGrp="1"/>
          </p:cNvSpPr>
          <p:nvPr>
            <p:ph type="body" sz="quarter" idx="22"/>
          </p:nvPr>
        </p:nvSpPr>
        <p:spPr>
          <a:xfrm>
            <a:off x="8282868" y="3989404"/>
            <a:ext cx="2275880" cy="893763"/>
          </a:xfrm>
        </p:spPr>
        <p:txBody>
          <a:bodyPr/>
          <a:lstStyle/>
          <a:p>
            <a:pPr lvl="0"/>
            <a:r>
              <a:rPr lang="en-US" dirty="0"/>
              <a:t>Combinational and sequential circuits</a:t>
            </a:r>
          </a:p>
        </p:txBody>
      </p:sp>
      <p:sp>
        <p:nvSpPr>
          <p:cNvPr id="5" name="Footer Placeholder 4">
            <a:extLst>
              <a:ext uri="{FF2B5EF4-FFF2-40B4-BE49-F238E27FC236}">
                <a16:creationId xmlns:a16="http://schemas.microsoft.com/office/drawing/2014/main" id="{F692A183-22BD-739B-59DF-20E049F931B2}"/>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6" name="Slide Number Placeholder 5">
            <a:extLst>
              <a:ext uri="{FF2B5EF4-FFF2-40B4-BE49-F238E27FC236}">
                <a16:creationId xmlns:a16="http://schemas.microsoft.com/office/drawing/2014/main" id="{6314DC98-ED35-A03F-CA2C-D54F23D0FD1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84</a:t>
            </a:fld>
            <a:endParaRPr lang="en-US" dirty="0"/>
          </a:p>
        </p:txBody>
      </p:sp>
    </p:spTree>
    <p:extLst>
      <p:ext uri="{BB962C8B-B14F-4D97-AF65-F5344CB8AC3E}">
        <p14:creationId xmlns:p14="http://schemas.microsoft.com/office/powerpoint/2010/main" val="2129036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CD53A-3321-FDB9-CA50-70544F935C22}"/>
              </a:ext>
            </a:extLst>
          </p:cNvPr>
          <p:cNvSpPr>
            <a:spLocks noGrp="1"/>
          </p:cNvSpPr>
          <p:nvPr>
            <p:ph type="ctrTitle"/>
          </p:nvPr>
        </p:nvSpPr>
        <p:spPr>
          <a:xfrm>
            <a:off x="447368" y="270880"/>
            <a:ext cx="11297264" cy="1524000"/>
          </a:xfrm>
        </p:spPr>
        <p:txBody>
          <a:bodyPr/>
          <a:lstStyle/>
          <a:p>
            <a:r>
              <a:rPr lang="en-US" dirty="0">
                <a:solidFill>
                  <a:schemeClr val="accent1"/>
                </a:solidFill>
              </a:rPr>
              <a:t>Skill two: </a:t>
            </a:r>
            <a:r>
              <a:rPr lang="en-US" dirty="0"/>
              <a:t>Introduction to digital logic</a:t>
            </a:r>
          </a:p>
        </p:txBody>
      </p:sp>
      <p:sp>
        <p:nvSpPr>
          <p:cNvPr id="4" name="Text Placeholder 3">
            <a:extLst>
              <a:ext uri="{FF2B5EF4-FFF2-40B4-BE49-F238E27FC236}">
                <a16:creationId xmlns:a16="http://schemas.microsoft.com/office/drawing/2014/main" id="{548BD71C-DCE9-9855-DCBE-675F20E94682}"/>
              </a:ext>
            </a:extLst>
          </p:cNvPr>
          <p:cNvSpPr>
            <a:spLocks noGrp="1"/>
          </p:cNvSpPr>
          <p:nvPr>
            <p:ph type="body" sz="quarter" idx="16"/>
          </p:nvPr>
        </p:nvSpPr>
        <p:spPr>
          <a:xfrm>
            <a:off x="1318352" y="1894376"/>
            <a:ext cx="2847975" cy="3390899"/>
          </a:xfrm>
        </p:spPr>
        <p:txBody>
          <a:bodyPr/>
          <a:lstStyle/>
          <a:p>
            <a:r>
              <a:rPr lang="en-US" dirty="0"/>
              <a:t>Formula</a:t>
            </a:r>
          </a:p>
        </p:txBody>
      </p:sp>
      <p:pic>
        <p:nvPicPr>
          <p:cNvPr id="51" name="Picture Placeholder 50" descr="Abacus">
            <a:extLst>
              <a:ext uri="{FF2B5EF4-FFF2-40B4-BE49-F238E27FC236}">
                <a16:creationId xmlns:a16="http://schemas.microsoft.com/office/drawing/2014/main" id="{F1A5F630-1971-68D5-BEDA-6FC11471C8E1}"/>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02" b="4502"/>
          <a:stretch/>
        </p:blipFill>
        <p:spPr>
          <a:xfrm>
            <a:off x="2239419" y="2833688"/>
            <a:ext cx="1005840" cy="914400"/>
          </a:xfrm>
        </p:spPr>
      </p:pic>
      <p:sp>
        <p:nvSpPr>
          <p:cNvPr id="8" name="Text Placeholder 7">
            <a:extLst>
              <a:ext uri="{FF2B5EF4-FFF2-40B4-BE49-F238E27FC236}">
                <a16:creationId xmlns:a16="http://schemas.microsoft.com/office/drawing/2014/main" id="{442063B1-AD32-CF53-B792-70C1B67D527C}"/>
              </a:ext>
            </a:extLst>
          </p:cNvPr>
          <p:cNvSpPr>
            <a:spLocks noGrp="1"/>
          </p:cNvSpPr>
          <p:nvPr>
            <p:ph type="body" sz="quarter" idx="20"/>
          </p:nvPr>
        </p:nvSpPr>
        <p:spPr>
          <a:xfrm>
            <a:off x="1605817" y="3989405"/>
            <a:ext cx="2275880" cy="893763"/>
          </a:xfrm>
        </p:spPr>
        <p:txBody>
          <a:bodyPr/>
          <a:lstStyle/>
          <a:p>
            <a:pPr lvl="0"/>
            <a:r>
              <a:rPr lang="en-US" dirty="0"/>
              <a:t>Boolean algebra and its significance in computer generating</a:t>
            </a:r>
          </a:p>
        </p:txBody>
      </p:sp>
      <p:sp>
        <p:nvSpPr>
          <p:cNvPr id="7" name="Text Placeholder 6">
            <a:extLst>
              <a:ext uri="{FF2B5EF4-FFF2-40B4-BE49-F238E27FC236}">
                <a16:creationId xmlns:a16="http://schemas.microsoft.com/office/drawing/2014/main" id="{CEAC814C-D211-009A-190F-549B7A0D6398}"/>
              </a:ext>
            </a:extLst>
          </p:cNvPr>
          <p:cNvSpPr>
            <a:spLocks noGrp="1"/>
          </p:cNvSpPr>
          <p:nvPr>
            <p:ph type="body" sz="quarter" idx="18"/>
          </p:nvPr>
        </p:nvSpPr>
        <p:spPr>
          <a:xfrm>
            <a:off x="4651092" y="1894376"/>
            <a:ext cx="2847975" cy="3390899"/>
          </a:xfrm>
        </p:spPr>
        <p:txBody>
          <a:bodyPr/>
          <a:lstStyle/>
          <a:p>
            <a:r>
              <a:rPr lang="en-US" dirty="0"/>
              <a:t>Logic</a:t>
            </a:r>
          </a:p>
        </p:txBody>
      </p:sp>
      <p:pic>
        <p:nvPicPr>
          <p:cNvPr id="53" name="Picture Placeholder 52" descr="3d Glasses">
            <a:extLst>
              <a:ext uri="{FF2B5EF4-FFF2-40B4-BE49-F238E27FC236}">
                <a16:creationId xmlns:a16="http://schemas.microsoft.com/office/drawing/2014/main" id="{6D152620-03B9-AECD-503A-E23309285EA7}"/>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ABB0AEFB-9FA8-4379-DA69-49759E72608E}"/>
              </a:ext>
            </a:extLst>
          </p:cNvPr>
          <p:cNvSpPr>
            <a:spLocks noGrp="1"/>
          </p:cNvSpPr>
          <p:nvPr>
            <p:ph type="body" sz="quarter" idx="21"/>
          </p:nvPr>
        </p:nvSpPr>
        <p:spPr>
          <a:xfrm>
            <a:off x="4938557" y="3989404"/>
            <a:ext cx="2275880" cy="893763"/>
          </a:xfrm>
        </p:spPr>
        <p:txBody>
          <a:bodyPr/>
          <a:lstStyle/>
          <a:p>
            <a:r>
              <a:rPr lang="en-US" dirty="0"/>
              <a:t>Logic gates: and, or, not, and their truth tables</a:t>
            </a:r>
          </a:p>
        </p:txBody>
      </p:sp>
      <p:sp>
        <p:nvSpPr>
          <p:cNvPr id="2" name="Text Placeholder 1">
            <a:extLst>
              <a:ext uri="{FF2B5EF4-FFF2-40B4-BE49-F238E27FC236}">
                <a16:creationId xmlns:a16="http://schemas.microsoft.com/office/drawing/2014/main" id="{C5B8455C-CEA2-F7C8-E898-97C86849DC0E}"/>
              </a:ext>
            </a:extLst>
          </p:cNvPr>
          <p:cNvSpPr>
            <a:spLocks noGrp="1"/>
          </p:cNvSpPr>
          <p:nvPr>
            <p:ph type="body" sz="quarter" idx="19"/>
          </p:nvPr>
        </p:nvSpPr>
        <p:spPr>
          <a:xfrm>
            <a:off x="7995403" y="1894376"/>
            <a:ext cx="2847975" cy="3390899"/>
          </a:xfrm>
        </p:spPr>
        <p:txBody>
          <a:bodyPr/>
          <a:lstStyle/>
          <a:p>
            <a:r>
              <a:rPr lang="en-US" dirty="0"/>
              <a:t>Sequence</a:t>
            </a:r>
          </a:p>
        </p:txBody>
      </p:sp>
      <p:pic>
        <p:nvPicPr>
          <p:cNvPr id="55" name="Picture Placeholder 54" descr="Circuit">
            <a:extLst>
              <a:ext uri="{FF2B5EF4-FFF2-40B4-BE49-F238E27FC236}">
                <a16:creationId xmlns:a16="http://schemas.microsoft.com/office/drawing/2014/main" id="{415585AE-96E0-81D6-0A31-2A13ECB76808}"/>
              </a:ext>
            </a:extLst>
          </p:cNvPr>
          <p:cNvPicPr>
            <a:picLocks noGrp="1" noChangeAspect="1"/>
          </p:cNvPicPr>
          <p:nvPr>
            <p:ph type="pic" sz="quarter" idx="25"/>
          </p:nvPr>
        </p:nvPicPr>
        <p:blipFill>
          <a:blip r:embed="rId6">
            <a:extLst>
              <a:ext uri="{96DAC541-7B7A-43D3-8B79-37D633B846F1}">
                <asvg:svgBlip xmlns:asvg="http://schemas.microsoft.com/office/drawing/2016/SVG/main" r:embed="rId7"/>
              </a:ext>
            </a:extLst>
          </a:blip>
          <a:srcRect t="4502" b="4502"/>
          <a:stretch/>
        </p:blipFill>
        <p:spPr>
          <a:xfrm>
            <a:off x="8916470" y="2833688"/>
            <a:ext cx="1005840" cy="914400"/>
          </a:xfrm>
        </p:spPr>
      </p:pic>
      <p:sp>
        <p:nvSpPr>
          <p:cNvPr id="10" name="Text Placeholder 9">
            <a:extLst>
              <a:ext uri="{FF2B5EF4-FFF2-40B4-BE49-F238E27FC236}">
                <a16:creationId xmlns:a16="http://schemas.microsoft.com/office/drawing/2014/main" id="{C0563BBD-CFF8-BAAA-D1C5-C6AC7B376BCA}"/>
              </a:ext>
            </a:extLst>
          </p:cNvPr>
          <p:cNvSpPr>
            <a:spLocks noGrp="1"/>
          </p:cNvSpPr>
          <p:nvPr>
            <p:ph type="body" sz="quarter" idx="22"/>
          </p:nvPr>
        </p:nvSpPr>
        <p:spPr>
          <a:xfrm>
            <a:off x="8282868" y="3989404"/>
            <a:ext cx="2275880" cy="893763"/>
          </a:xfrm>
        </p:spPr>
        <p:txBody>
          <a:bodyPr/>
          <a:lstStyle/>
          <a:p>
            <a:pPr lvl="0"/>
            <a:r>
              <a:rPr lang="en-US" dirty="0"/>
              <a:t>Combinational and sequential circuits</a:t>
            </a:r>
          </a:p>
        </p:txBody>
      </p:sp>
      <p:sp>
        <p:nvSpPr>
          <p:cNvPr id="5" name="Footer Placeholder 4">
            <a:extLst>
              <a:ext uri="{FF2B5EF4-FFF2-40B4-BE49-F238E27FC236}">
                <a16:creationId xmlns:a16="http://schemas.microsoft.com/office/drawing/2014/main" id="{F692A183-22BD-739B-59DF-20E049F931B2}"/>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6" name="Slide Number Placeholder 5">
            <a:extLst>
              <a:ext uri="{FF2B5EF4-FFF2-40B4-BE49-F238E27FC236}">
                <a16:creationId xmlns:a16="http://schemas.microsoft.com/office/drawing/2014/main" id="{6314DC98-ED35-A03F-CA2C-D54F23D0FD1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85</a:t>
            </a:fld>
            <a:endParaRPr lang="en-US" dirty="0"/>
          </a:p>
        </p:txBody>
      </p:sp>
    </p:spTree>
    <p:extLst>
      <p:ext uri="{BB962C8B-B14F-4D97-AF65-F5344CB8AC3E}">
        <p14:creationId xmlns:p14="http://schemas.microsoft.com/office/powerpoint/2010/main" val="19848255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70F9-17DA-839C-44F9-7397A5EFC979}"/>
              </a:ext>
            </a:extLst>
          </p:cNvPr>
          <p:cNvSpPr>
            <a:spLocks noGrp="1"/>
          </p:cNvSpPr>
          <p:nvPr>
            <p:ph type="title"/>
          </p:nvPr>
        </p:nvSpPr>
        <p:spPr>
          <a:xfrm>
            <a:off x="1097280" y="286603"/>
            <a:ext cx="10058400" cy="1450757"/>
          </a:xfrm>
        </p:spPr>
        <p:txBody>
          <a:bodyPr>
            <a:normAutofit/>
          </a:bodyPr>
          <a:lstStyle/>
          <a:p>
            <a:r>
              <a:rPr lang="en-US" dirty="0">
                <a:solidFill>
                  <a:schemeClr val="accent1"/>
                </a:solidFill>
              </a:rPr>
              <a:t>Skill two: </a:t>
            </a:r>
            <a:r>
              <a:rPr lang="en-US" dirty="0"/>
              <a:t>Introduction to digital logic (2)</a:t>
            </a:r>
          </a:p>
        </p:txBody>
      </p:sp>
      <p:sp>
        <p:nvSpPr>
          <p:cNvPr id="3" name="Text Placeholder 2">
            <a:extLst>
              <a:ext uri="{FF2B5EF4-FFF2-40B4-BE49-F238E27FC236}">
                <a16:creationId xmlns:a16="http://schemas.microsoft.com/office/drawing/2014/main" id="{597B49AB-9182-5EB7-E03A-3E144B8F0EE9}"/>
              </a:ext>
            </a:extLst>
          </p:cNvPr>
          <p:cNvSpPr>
            <a:spLocks noGrp="1"/>
          </p:cNvSpPr>
          <p:nvPr>
            <p:ph type="body" sz="quarter" idx="16"/>
          </p:nvPr>
        </p:nvSpPr>
        <p:spPr>
          <a:xfrm>
            <a:off x="1318352" y="1894376"/>
            <a:ext cx="2847975" cy="3390899"/>
          </a:xfrm>
        </p:spPr>
        <p:txBody>
          <a:bodyPr/>
          <a:lstStyle/>
          <a:p>
            <a:r>
              <a:rPr lang="en-US" dirty="0"/>
              <a:t>Formula</a:t>
            </a:r>
          </a:p>
        </p:txBody>
      </p:sp>
      <p:pic>
        <p:nvPicPr>
          <p:cNvPr id="17" name="Picture Placeholder 16" descr="Abacus">
            <a:extLst>
              <a:ext uri="{FF2B5EF4-FFF2-40B4-BE49-F238E27FC236}">
                <a16:creationId xmlns:a16="http://schemas.microsoft.com/office/drawing/2014/main" id="{3980A62D-4086-7F4B-0183-79A0BC44178A}"/>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02" b="4502"/>
          <a:stretch/>
        </p:blipFill>
        <p:spPr>
          <a:xfrm>
            <a:off x="2239419" y="2833688"/>
            <a:ext cx="1005840" cy="914400"/>
          </a:xfrm>
        </p:spPr>
      </p:pic>
      <p:sp>
        <p:nvSpPr>
          <p:cNvPr id="6" name="Text Placeholder 5">
            <a:extLst>
              <a:ext uri="{FF2B5EF4-FFF2-40B4-BE49-F238E27FC236}">
                <a16:creationId xmlns:a16="http://schemas.microsoft.com/office/drawing/2014/main" id="{6A1EECEA-D837-E96C-CC5D-8C8B986DA332}"/>
              </a:ext>
            </a:extLst>
          </p:cNvPr>
          <p:cNvSpPr>
            <a:spLocks noGrp="1"/>
          </p:cNvSpPr>
          <p:nvPr>
            <p:ph type="body" sz="quarter" idx="20"/>
          </p:nvPr>
        </p:nvSpPr>
        <p:spPr>
          <a:xfrm>
            <a:off x="1605817" y="3989405"/>
            <a:ext cx="2275880" cy="893763"/>
          </a:xfrm>
        </p:spPr>
        <p:txBody>
          <a:bodyPr/>
          <a:lstStyle/>
          <a:p>
            <a:pPr lvl="0"/>
            <a:r>
              <a:rPr lang="en-US" dirty="0"/>
              <a:t>Boolean algebra and its significance in computer generating</a:t>
            </a:r>
          </a:p>
        </p:txBody>
      </p:sp>
      <p:sp>
        <p:nvSpPr>
          <p:cNvPr id="7" name="Text Placeholder 6">
            <a:extLst>
              <a:ext uri="{FF2B5EF4-FFF2-40B4-BE49-F238E27FC236}">
                <a16:creationId xmlns:a16="http://schemas.microsoft.com/office/drawing/2014/main" id="{DBD828F9-B330-B117-FF6A-8F0C12444700}"/>
              </a:ext>
            </a:extLst>
          </p:cNvPr>
          <p:cNvSpPr>
            <a:spLocks noGrp="1"/>
          </p:cNvSpPr>
          <p:nvPr>
            <p:ph type="body" sz="quarter" idx="18"/>
          </p:nvPr>
        </p:nvSpPr>
        <p:spPr>
          <a:xfrm>
            <a:off x="4651092" y="1894376"/>
            <a:ext cx="2847975" cy="3390899"/>
          </a:xfrm>
        </p:spPr>
        <p:txBody>
          <a:bodyPr/>
          <a:lstStyle/>
          <a:p>
            <a:r>
              <a:rPr lang="en-US" dirty="0"/>
              <a:t>Logic</a:t>
            </a:r>
          </a:p>
        </p:txBody>
      </p:sp>
      <p:pic>
        <p:nvPicPr>
          <p:cNvPr id="19" name="Picture Placeholder 18" descr="3d Glasses">
            <a:extLst>
              <a:ext uri="{FF2B5EF4-FFF2-40B4-BE49-F238E27FC236}">
                <a16:creationId xmlns:a16="http://schemas.microsoft.com/office/drawing/2014/main" id="{05C8F98B-B885-007C-9C78-F2B2AE16A7D9}"/>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2FFA0DAA-37F3-A33A-6A49-3568311D08A7}"/>
              </a:ext>
            </a:extLst>
          </p:cNvPr>
          <p:cNvSpPr>
            <a:spLocks noGrp="1"/>
          </p:cNvSpPr>
          <p:nvPr>
            <p:ph type="body" sz="quarter" idx="21"/>
          </p:nvPr>
        </p:nvSpPr>
        <p:spPr>
          <a:xfrm>
            <a:off x="4938557" y="3989404"/>
            <a:ext cx="2275880" cy="893763"/>
          </a:xfrm>
        </p:spPr>
        <p:txBody>
          <a:bodyPr/>
          <a:lstStyle/>
          <a:p>
            <a:r>
              <a:rPr lang="en-US" dirty="0"/>
              <a:t>Logic gates: and, or, not, and their truth tables</a:t>
            </a:r>
          </a:p>
        </p:txBody>
      </p:sp>
      <p:sp>
        <p:nvSpPr>
          <p:cNvPr id="4" name="Text Placeholder 3">
            <a:extLst>
              <a:ext uri="{FF2B5EF4-FFF2-40B4-BE49-F238E27FC236}">
                <a16:creationId xmlns:a16="http://schemas.microsoft.com/office/drawing/2014/main" id="{4C16C42F-6E4C-CC8A-0CCC-46E1AAF5C772}"/>
              </a:ext>
            </a:extLst>
          </p:cNvPr>
          <p:cNvSpPr>
            <a:spLocks noGrp="1"/>
          </p:cNvSpPr>
          <p:nvPr>
            <p:ph type="body" sz="quarter" idx="19"/>
          </p:nvPr>
        </p:nvSpPr>
        <p:spPr>
          <a:xfrm>
            <a:off x="7995403" y="1894376"/>
            <a:ext cx="2847975" cy="3390899"/>
          </a:xfrm>
        </p:spPr>
        <p:txBody>
          <a:bodyPr/>
          <a:lstStyle/>
          <a:p>
            <a:r>
              <a:rPr lang="en-US" dirty="0"/>
              <a:t>Sequence</a:t>
            </a:r>
          </a:p>
        </p:txBody>
      </p:sp>
      <p:pic>
        <p:nvPicPr>
          <p:cNvPr id="21" name="Picture Placeholder 20" descr="Circuit">
            <a:extLst>
              <a:ext uri="{FF2B5EF4-FFF2-40B4-BE49-F238E27FC236}">
                <a16:creationId xmlns:a16="http://schemas.microsoft.com/office/drawing/2014/main" id="{F759999E-0FBE-FE5E-0E5E-0AC62ECF5895}"/>
              </a:ext>
            </a:extLst>
          </p:cNvPr>
          <p:cNvPicPr>
            <a:picLocks noGrp="1" noChangeAspect="1"/>
          </p:cNvPicPr>
          <p:nvPr>
            <p:ph type="pic" sz="quarter" idx="25"/>
          </p:nvPr>
        </p:nvPicPr>
        <p:blipFill>
          <a:blip r:embed="rId6">
            <a:extLst>
              <a:ext uri="{96DAC541-7B7A-43D3-8B79-37D633B846F1}">
                <asvg:svgBlip xmlns:asvg="http://schemas.microsoft.com/office/drawing/2016/SVG/main" r:embed="rId7"/>
              </a:ext>
            </a:extLst>
          </a:blip>
          <a:srcRect t="4502" b="4502"/>
          <a:stretch/>
        </p:blipFill>
        <p:spPr>
          <a:xfrm>
            <a:off x="8916470" y="2833688"/>
            <a:ext cx="1005840" cy="914400"/>
          </a:xfrm>
        </p:spPr>
      </p:pic>
      <p:sp>
        <p:nvSpPr>
          <p:cNvPr id="11" name="Text Placeholder 10">
            <a:extLst>
              <a:ext uri="{FF2B5EF4-FFF2-40B4-BE49-F238E27FC236}">
                <a16:creationId xmlns:a16="http://schemas.microsoft.com/office/drawing/2014/main" id="{06EADD7E-590E-81AB-52E8-354DDB041D1F}"/>
              </a:ext>
            </a:extLst>
          </p:cNvPr>
          <p:cNvSpPr>
            <a:spLocks noGrp="1"/>
          </p:cNvSpPr>
          <p:nvPr>
            <p:ph type="body" sz="quarter" idx="22"/>
          </p:nvPr>
        </p:nvSpPr>
        <p:spPr>
          <a:xfrm>
            <a:off x="8282868" y="3989404"/>
            <a:ext cx="2275880" cy="893763"/>
          </a:xfrm>
        </p:spPr>
        <p:txBody>
          <a:bodyPr/>
          <a:lstStyle/>
          <a:p>
            <a:pPr lvl="0"/>
            <a:r>
              <a:rPr lang="en-US" dirty="0"/>
              <a:t>Combinational and sequential circuits</a:t>
            </a:r>
          </a:p>
        </p:txBody>
      </p:sp>
      <p:sp>
        <p:nvSpPr>
          <p:cNvPr id="12" name="Footer Placeholder 11">
            <a:extLst>
              <a:ext uri="{FF2B5EF4-FFF2-40B4-BE49-F238E27FC236}">
                <a16:creationId xmlns:a16="http://schemas.microsoft.com/office/drawing/2014/main" id="{F8C77F5E-3D68-52A5-FB4D-4EBC3E74AB0D}"/>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13" name="Slide Number Placeholder 12">
            <a:extLst>
              <a:ext uri="{FF2B5EF4-FFF2-40B4-BE49-F238E27FC236}">
                <a16:creationId xmlns:a16="http://schemas.microsoft.com/office/drawing/2014/main" id="{057039E5-2916-97DA-297D-8FEA442FE1D7}"/>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86</a:t>
            </a:fld>
            <a:endParaRPr lang="en-US" dirty="0"/>
          </a:p>
        </p:txBody>
      </p:sp>
    </p:spTree>
    <p:extLst>
      <p:ext uri="{BB962C8B-B14F-4D97-AF65-F5344CB8AC3E}">
        <p14:creationId xmlns:p14="http://schemas.microsoft.com/office/powerpoint/2010/main" val="11628292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7EE4-0F77-0173-AC5A-9FBAE6AE8B40}"/>
              </a:ext>
            </a:extLst>
          </p:cNvPr>
          <p:cNvSpPr>
            <a:spLocks noGrp="1"/>
          </p:cNvSpPr>
          <p:nvPr>
            <p:ph type="ctrTitle"/>
          </p:nvPr>
        </p:nvSpPr>
        <p:spPr>
          <a:xfrm>
            <a:off x="796322" y="408820"/>
            <a:ext cx="8935507" cy="949467"/>
          </a:xfrm>
        </p:spPr>
        <p:txBody>
          <a:bodyPr/>
          <a:lstStyle/>
          <a:p>
            <a:r>
              <a:rPr lang="en-US" dirty="0">
                <a:solidFill>
                  <a:schemeClr val="accent1"/>
                </a:solidFill>
              </a:rPr>
              <a:t>Skill three: </a:t>
            </a:r>
            <a:r>
              <a:rPr lang="en-US" dirty="0"/>
              <a:t>Computer architecture</a:t>
            </a:r>
          </a:p>
        </p:txBody>
      </p:sp>
      <p:sp>
        <p:nvSpPr>
          <p:cNvPr id="3" name="Text Placeholder 2">
            <a:extLst>
              <a:ext uri="{FF2B5EF4-FFF2-40B4-BE49-F238E27FC236}">
                <a16:creationId xmlns:a16="http://schemas.microsoft.com/office/drawing/2014/main" id="{84485D52-89FB-5227-DA15-3BABC4DF027F}"/>
              </a:ext>
            </a:extLst>
          </p:cNvPr>
          <p:cNvSpPr>
            <a:spLocks noGrp="1"/>
          </p:cNvSpPr>
          <p:nvPr>
            <p:ph sz="quarter" idx="17"/>
          </p:nvPr>
        </p:nvSpPr>
        <p:spPr>
          <a:xfrm>
            <a:off x="796322" y="1986061"/>
            <a:ext cx="5797550" cy="4015244"/>
          </a:xfrm>
        </p:spPr>
        <p:txBody>
          <a:bodyPr>
            <a:normAutofit/>
          </a:bodyPr>
          <a:lstStyle/>
          <a:p>
            <a:r>
              <a:rPr lang="en-US" dirty="0"/>
              <a:t>An overview of the fundamental principles that govern the design and structure of computer systems, including topics like instruction set architecture, data representation, and system organization.</a:t>
            </a:r>
          </a:p>
          <a:p>
            <a:r>
              <a:rPr lang="en-US" dirty="0"/>
              <a:t>Explore the internal structure and organization of a central processing unit, including registers, arithmetic logic units, control units, and pipelines.</a:t>
            </a:r>
          </a:p>
          <a:p>
            <a:r>
              <a:rPr lang="en-US" dirty="0"/>
              <a:t>Discuss the concept of memory hierarchy and its impact on computer performance, covering various levels of memory such as cache, main memory, and secondary storage devices.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689A993C-5F72-7C89-C9F1-F4780EBC0E7E}"/>
              </a:ext>
            </a:extLst>
          </p:cNvPr>
          <p:cNvSpPr>
            <a:spLocks noGrp="1"/>
          </p:cNvSpPr>
          <p:nvPr>
            <p:ph type="ftr" sz="quarter" idx="3"/>
          </p:nvPr>
        </p:nvSpPr>
        <p:spPr>
          <a:xfrm>
            <a:off x="824241" y="6290774"/>
            <a:ext cx="6637071" cy="365125"/>
          </a:xfrm>
        </p:spPr>
        <p:txBody>
          <a:bodyPr/>
          <a:lstStyle/>
          <a:p>
            <a:r>
              <a:rPr lang="en-US" dirty="0"/>
              <a:t>TEACH A COURSE</a:t>
            </a:r>
          </a:p>
        </p:txBody>
      </p:sp>
      <p:pic>
        <p:nvPicPr>
          <p:cNvPr id="14" name="Picture Placeholder 13" descr="A hand holding a wire">
            <a:extLst>
              <a:ext uri="{FF2B5EF4-FFF2-40B4-BE49-F238E27FC236}">
                <a16:creationId xmlns:a16="http://schemas.microsoft.com/office/drawing/2014/main" id="{8663049F-9392-3719-E4E8-8D7D5659E899}"/>
              </a:ext>
            </a:extLst>
          </p:cNvPr>
          <p:cNvPicPr>
            <a:picLocks noGrp="1" noChangeAspect="1"/>
          </p:cNvPicPr>
          <p:nvPr>
            <p:ph type="pic" sz="quarter" idx="11"/>
          </p:nvPr>
        </p:nvPicPr>
        <p:blipFill>
          <a:blip r:embed="rId2"/>
          <a:srcRect l="5747" r="5747"/>
          <a:stretch/>
        </p:blipFill>
        <p:spPr>
          <a:xfrm flipH="1">
            <a:off x="7163691" y="0"/>
            <a:ext cx="5024825" cy="6858000"/>
          </a:xfrm>
        </p:spPr>
      </p:pic>
      <p:sp>
        <p:nvSpPr>
          <p:cNvPr id="6" name="Slide Number Placeholder 5">
            <a:extLst>
              <a:ext uri="{FF2B5EF4-FFF2-40B4-BE49-F238E27FC236}">
                <a16:creationId xmlns:a16="http://schemas.microsoft.com/office/drawing/2014/main" id="{50BB1CD4-3111-5E9F-7893-9B96015B8F4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87</a:t>
            </a:fld>
            <a:endParaRPr lang="en-US" dirty="0"/>
          </a:p>
        </p:txBody>
      </p:sp>
      <p:sp>
        <p:nvSpPr>
          <p:cNvPr id="7" name="Freeform: Shape 6">
            <a:extLst>
              <a:ext uri="{FF2B5EF4-FFF2-40B4-BE49-F238E27FC236}">
                <a16:creationId xmlns:a16="http://schemas.microsoft.com/office/drawing/2014/main" id="{313DF1B8-48E1-A0F1-C69D-7B671CD1D116}"/>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8" name="Graphic 7">
            <a:extLst>
              <a:ext uri="{FF2B5EF4-FFF2-40B4-BE49-F238E27FC236}">
                <a16:creationId xmlns:a16="http://schemas.microsoft.com/office/drawing/2014/main" id="{05D9C41A-6441-7A5C-EAE1-D96C71F24F6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6468038" y="5156615"/>
            <a:ext cx="878334" cy="1705001"/>
          </a:xfrm>
          <a:prstGeom prst="rect">
            <a:avLst/>
          </a:prstGeom>
        </p:spPr>
      </p:pic>
    </p:spTree>
    <p:extLst>
      <p:ext uri="{BB962C8B-B14F-4D97-AF65-F5344CB8AC3E}">
        <p14:creationId xmlns:p14="http://schemas.microsoft.com/office/powerpoint/2010/main" val="37066099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3917-072D-B98F-53A4-46496DCB7D2A}"/>
              </a:ext>
            </a:extLst>
          </p:cNvPr>
          <p:cNvSpPr>
            <a:spLocks noGrp="1"/>
          </p:cNvSpPr>
          <p:nvPr>
            <p:ph type="ctrTitle"/>
          </p:nvPr>
        </p:nvSpPr>
        <p:spPr>
          <a:xfrm>
            <a:off x="6599788" y="353962"/>
            <a:ext cx="4786877" cy="983225"/>
          </a:xfrm>
        </p:spPr>
        <p:txBody>
          <a:bodyPr/>
          <a:lstStyle/>
          <a:p>
            <a:r>
              <a:rPr lang="en-US" dirty="0"/>
              <a:t>Lesson one summary</a:t>
            </a:r>
          </a:p>
        </p:txBody>
      </p:sp>
      <p:sp>
        <p:nvSpPr>
          <p:cNvPr id="10" name="Subtitle 9">
            <a:extLst>
              <a:ext uri="{FF2B5EF4-FFF2-40B4-BE49-F238E27FC236}">
                <a16:creationId xmlns:a16="http://schemas.microsoft.com/office/drawing/2014/main" id="{DB4740A4-A1D9-E9B5-6838-073E1369284E}"/>
              </a:ext>
            </a:extLst>
          </p:cNvPr>
          <p:cNvSpPr>
            <a:spLocks noGrp="1"/>
          </p:cNvSpPr>
          <p:nvPr>
            <p:ph type="subTitle" idx="1"/>
          </p:nvPr>
        </p:nvSpPr>
        <p:spPr>
          <a:xfrm>
            <a:off x="6599788" y="1517074"/>
            <a:ext cx="4786877" cy="763899"/>
          </a:xfrm>
        </p:spPr>
        <p:txBody>
          <a:bodyPr/>
          <a:lstStyle/>
          <a:p>
            <a:r>
              <a:rPr lang="en-US" dirty="0"/>
              <a:t>What we’ve learned so far</a:t>
            </a:r>
          </a:p>
        </p:txBody>
      </p:sp>
      <p:pic>
        <p:nvPicPr>
          <p:cNvPr id="7" name="Picture Placeholder 6" descr="A close up of a circuit board">
            <a:extLst>
              <a:ext uri="{FF2B5EF4-FFF2-40B4-BE49-F238E27FC236}">
                <a16:creationId xmlns:a16="http://schemas.microsoft.com/office/drawing/2014/main" id="{F8C45233-1B15-3596-75CE-DED7D720CA02}"/>
              </a:ext>
            </a:extLst>
          </p:cNvPr>
          <p:cNvPicPr>
            <a:picLocks noGrp="1" noChangeAspect="1"/>
          </p:cNvPicPr>
          <p:nvPr>
            <p:ph type="pic" sz="quarter" idx="11"/>
          </p:nvPr>
        </p:nvPicPr>
        <p:blipFill>
          <a:blip r:embed="rId2"/>
          <a:srcRect l="1194" r="1194"/>
          <a:stretch/>
        </p:blipFill>
        <p:spPr>
          <a:xfrm>
            <a:off x="0" y="-2235"/>
            <a:ext cx="5840730" cy="6862275"/>
          </a:xfrm>
        </p:spPr>
      </p:pic>
      <p:sp>
        <p:nvSpPr>
          <p:cNvPr id="11" name="Text Placeholder 10">
            <a:extLst>
              <a:ext uri="{FF2B5EF4-FFF2-40B4-BE49-F238E27FC236}">
                <a16:creationId xmlns:a16="http://schemas.microsoft.com/office/drawing/2014/main" id="{06C1B1B9-02C9-EF1E-AFBE-E40015F082E0}"/>
              </a:ext>
            </a:extLst>
          </p:cNvPr>
          <p:cNvSpPr>
            <a:spLocks noGrp="1"/>
          </p:cNvSpPr>
          <p:nvPr>
            <p:ph type="body" sz="quarter" idx="12"/>
          </p:nvPr>
        </p:nvSpPr>
        <p:spPr>
          <a:xfrm>
            <a:off x="6599788" y="2341261"/>
            <a:ext cx="4796710" cy="401939"/>
          </a:xfrm>
        </p:spPr>
        <p:txBody>
          <a:bodyPr>
            <a:normAutofit/>
          </a:bodyPr>
          <a:lstStyle/>
          <a:p>
            <a:r>
              <a:rPr lang="en-US" dirty="0"/>
              <a:t>Skill one</a:t>
            </a:r>
          </a:p>
        </p:txBody>
      </p:sp>
      <p:sp>
        <p:nvSpPr>
          <p:cNvPr id="23" name="Text Placeholder 22">
            <a:extLst>
              <a:ext uri="{FF2B5EF4-FFF2-40B4-BE49-F238E27FC236}">
                <a16:creationId xmlns:a16="http://schemas.microsoft.com/office/drawing/2014/main" id="{E8F44E43-BD27-EF72-1581-53AA4AF310DE}"/>
              </a:ext>
            </a:extLst>
          </p:cNvPr>
          <p:cNvSpPr>
            <a:spLocks noGrp="1"/>
          </p:cNvSpPr>
          <p:nvPr>
            <p:ph type="body" sz="quarter" idx="15"/>
          </p:nvPr>
        </p:nvSpPr>
        <p:spPr>
          <a:xfrm>
            <a:off x="6599789" y="2753247"/>
            <a:ext cx="3852296" cy="817345"/>
          </a:xfrm>
        </p:spPr>
        <p:txBody>
          <a:bodyPr/>
          <a:lstStyle/>
          <a:p>
            <a:r>
              <a:rPr lang="en-US" dirty="0"/>
              <a:t>Familiarize students with the basics of computer engineering and the key components of a computer system.</a:t>
            </a:r>
          </a:p>
        </p:txBody>
      </p:sp>
      <p:sp>
        <p:nvSpPr>
          <p:cNvPr id="12" name="Text Placeholder 11">
            <a:extLst>
              <a:ext uri="{FF2B5EF4-FFF2-40B4-BE49-F238E27FC236}">
                <a16:creationId xmlns:a16="http://schemas.microsoft.com/office/drawing/2014/main" id="{A45E210F-6B8D-736F-B141-2B3CBE61357A}"/>
              </a:ext>
            </a:extLst>
          </p:cNvPr>
          <p:cNvSpPr>
            <a:spLocks noGrp="1"/>
          </p:cNvSpPr>
          <p:nvPr>
            <p:ph type="body" sz="quarter" idx="13"/>
          </p:nvPr>
        </p:nvSpPr>
        <p:spPr>
          <a:xfrm>
            <a:off x="6599788" y="3563285"/>
            <a:ext cx="4796710" cy="401939"/>
          </a:xfrm>
        </p:spPr>
        <p:txBody>
          <a:bodyPr>
            <a:normAutofit/>
          </a:bodyPr>
          <a:lstStyle/>
          <a:p>
            <a:r>
              <a:rPr lang="en-US" dirty="0"/>
              <a:t>Skill two</a:t>
            </a:r>
          </a:p>
        </p:txBody>
      </p:sp>
      <p:sp>
        <p:nvSpPr>
          <p:cNvPr id="24" name="Text Placeholder 23">
            <a:extLst>
              <a:ext uri="{FF2B5EF4-FFF2-40B4-BE49-F238E27FC236}">
                <a16:creationId xmlns:a16="http://schemas.microsoft.com/office/drawing/2014/main" id="{55DD8B99-A215-EB84-183A-F3B1E73A45B5}"/>
              </a:ext>
            </a:extLst>
          </p:cNvPr>
          <p:cNvSpPr>
            <a:spLocks noGrp="1"/>
          </p:cNvSpPr>
          <p:nvPr>
            <p:ph type="body" sz="quarter" idx="16"/>
          </p:nvPr>
        </p:nvSpPr>
        <p:spPr>
          <a:xfrm>
            <a:off x="6599788" y="3982578"/>
            <a:ext cx="3860546" cy="529133"/>
          </a:xfrm>
        </p:spPr>
        <p:txBody>
          <a:bodyPr/>
          <a:lstStyle/>
          <a:p>
            <a:r>
              <a:rPr lang="en-US" dirty="0"/>
              <a:t>Introduce students to digital logic, Boolean algebra, and the design of logic circuits.</a:t>
            </a:r>
          </a:p>
        </p:txBody>
      </p:sp>
      <p:sp>
        <p:nvSpPr>
          <p:cNvPr id="13" name="Text Placeholder 12">
            <a:extLst>
              <a:ext uri="{FF2B5EF4-FFF2-40B4-BE49-F238E27FC236}">
                <a16:creationId xmlns:a16="http://schemas.microsoft.com/office/drawing/2014/main" id="{19847AB5-5442-A3C4-87F1-C737DF1C6DC0}"/>
              </a:ext>
            </a:extLst>
          </p:cNvPr>
          <p:cNvSpPr>
            <a:spLocks noGrp="1"/>
          </p:cNvSpPr>
          <p:nvPr>
            <p:ph type="body" sz="quarter" idx="14"/>
          </p:nvPr>
        </p:nvSpPr>
        <p:spPr>
          <a:xfrm>
            <a:off x="6599788" y="4564818"/>
            <a:ext cx="4796710" cy="401939"/>
          </a:xfrm>
        </p:spPr>
        <p:txBody>
          <a:bodyPr>
            <a:normAutofit/>
          </a:bodyPr>
          <a:lstStyle/>
          <a:p>
            <a:r>
              <a:rPr lang="en-US" dirty="0"/>
              <a:t>Skill three</a:t>
            </a:r>
          </a:p>
        </p:txBody>
      </p:sp>
      <p:sp>
        <p:nvSpPr>
          <p:cNvPr id="25" name="Text Placeholder 24">
            <a:extLst>
              <a:ext uri="{FF2B5EF4-FFF2-40B4-BE49-F238E27FC236}">
                <a16:creationId xmlns:a16="http://schemas.microsoft.com/office/drawing/2014/main" id="{CBF28C9E-02B3-7B82-54FB-BB732FF1E97A}"/>
              </a:ext>
            </a:extLst>
          </p:cNvPr>
          <p:cNvSpPr>
            <a:spLocks noGrp="1"/>
          </p:cNvSpPr>
          <p:nvPr>
            <p:ph type="body" sz="quarter" idx="17"/>
          </p:nvPr>
        </p:nvSpPr>
        <p:spPr>
          <a:xfrm>
            <a:off x="6599788" y="4975138"/>
            <a:ext cx="3860546" cy="852906"/>
          </a:xfrm>
        </p:spPr>
        <p:txBody>
          <a:bodyPr/>
          <a:lstStyle/>
          <a:p>
            <a:r>
              <a:rPr lang="en-US" dirty="0"/>
              <a:t>Explore the internal organization of computers, including CPU design and memory systems.</a:t>
            </a:r>
          </a:p>
        </p:txBody>
      </p:sp>
      <p:grpSp>
        <p:nvGrpSpPr>
          <p:cNvPr id="44" name="Group 43">
            <a:extLst>
              <a:ext uri="{FF2B5EF4-FFF2-40B4-BE49-F238E27FC236}">
                <a16:creationId xmlns:a16="http://schemas.microsoft.com/office/drawing/2014/main" id="{19A1C40A-BC04-C14E-7867-E3D7B15979F8}"/>
              </a:ext>
              <a:ext uri="{C183D7F6-B498-43B3-948B-1728B52AA6E4}">
                <adec:decorative xmlns:adec="http://schemas.microsoft.com/office/drawing/2017/decorative" val="1"/>
              </a:ext>
            </a:extLst>
          </p:cNvPr>
          <p:cNvGrpSpPr/>
          <p:nvPr/>
        </p:nvGrpSpPr>
        <p:grpSpPr>
          <a:xfrm>
            <a:off x="3084061" y="0"/>
            <a:ext cx="2959129" cy="6871447"/>
            <a:chOff x="3084061" y="0"/>
            <a:chExt cx="2959129" cy="6871447"/>
          </a:xfrm>
        </p:grpSpPr>
        <p:sp>
          <p:nvSpPr>
            <p:cNvPr id="45" name="Freeform: Shape 44">
              <a:extLst>
                <a:ext uri="{FF2B5EF4-FFF2-40B4-BE49-F238E27FC236}">
                  <a16:creationId xmlns:a16="http://schemas.microsoft.com/office/drawing/2014/main" id="{45521D96-1220-9A5F-FB15-764C14CD87A4}"/>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cxnSp>
          <p:nvCxnSpPr>
            <p:cNvPr id="46" name="Straight Connector 45">
              <a:extLst>
                <a:ext uri="{FF2B5EF4-FFF2-40B4-BE49-F238E27FC236}">
                  <a16:creationId xmlns:a16="http://schemas.microsoft.com/office/drawing/2014/main" id="{937359AB-4FC7-AF1F-096F-69BD733B876C}"/>
                </a:ext>
              </a:extLst>
            </p:cNvPr>
            <p:cNvCxnSpPr>
              <a:cxnSpLocks/>
            </p:cNvCxnSpPr>
            <p:nvPr/>
          </p:nvCxnSpPr>
          <p:spPr>
            <a:xfrm flipH="1">
              <a:off x="308406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1989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A person raising his hand">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l="8333" r="8333"/>
          <a:stretch/>
        </p:blipFill>
        <p:spPr/>
      </p:pic>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p:txBody>
          <a:bodyPr/>
          <a:lstStyle/>
          <a:p>
            <a:r>
              <a:rPr lang="en-US" dirty="0"/>
              <a:t>Course progress</a:t>
            </a:r>
          </a:p>
        </p:txBody>
      </p:sp>
      <p:sp>
        <p:nvSpPr>
          <p:cNvPr id="4" name="Text Placeholder 3">
            <a:extLst>
              <a:ext uri="{FF2B5EF4-FFF2-40B4-BE49-F238E27FC236}">
                <a16:creationId xmlns:a16="http://schemas.microsoft.com/office/drawing/2014/main" id="{C2ABC786-DACF-D63D-553F-4EDB8E95A2F1}"/>
              </a:ext>
            </a:extLst>
          </p:cNvPr>
          <p:cNvSpPr>
            <a:spLocks noGrp="1"/>
          </p:cNvSpPr>
          <p:nvPr>
            <p:ph type="body" sz="quarter" idx="10"/>
          </p:nvPr>
        </p:nvSpPr>
        <p:spPr/>
        <p:txBody>
          <a:bodyPr/>
          <a:lstStyle/>
          <a:p>
            <a:r>
              <a:rPr lang="en-US" dirty="0"/>
              <a:t>o1.</a:t>
            </a:r>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p:txBody>
          <a:bodyPr/>
          <a:lstStyle/>
          <a:p>
            <a:r>
              <a:rPr lang="en-US" dirty="0"/>
              <a:t>Intro to Computer Engineering</a:t>
            </a:r>
          </a:p>
        </p:txBody>
      </p:sp>
      <p:sp>
        <p:nvSpPr>
          <p:cNvPr id="6" name="Text Placeholder 5">
            <a:extLst>
              <a:ext uri="{FF2B5EF4-FFF2-40B4-BE49-F238E27FC236}">
                <a16:creationId xmlns:a16="http://schemas.microsoft.com/office/drawing/2014/main" id="{EF880F1A-5BCC-F84F-3EED-7FA660DEB3F7}"/>
              </a:ext>
            </a:extLst>
          </p:cNvPr>
          <p:cNvSpPr>
            <a:spLocks noGrp="1"/>
          </p:cNvSpPr>
          <p:nvPr>
            <p:ph type="body" sz="quarter" idx="12"/>
          </p:nvPr>
        </p:nvSpPr>
        <p:spPr/>
        <p:txBody>
          <a:bodyPr/>
          <a:lstStyle/>
          <a:p>
            <a:r>
              <a:rPr lang="en-US" dirty="0"/>
              <a:t>o2.</a:t>
            </a:r>
          </a:p>
        </p:txBody>
      </p:sp>
      <p:sp>
        <p:nvSpPr>
          <p:cNvPr id="7" name="Text Placeholder 6">
            <a:extLst>
              <a:ext uri="{FF2B5EF4-FFF2-40B4-BE49-F238E27FC236}">
                <a16:creationId xmlns:a16="http://schemas.microsoft.com/office/drawing/2014/main" id="{BDA9475A-A652-4BB2-F82D-18D978C3972A}"/>
              </a:ext>
            </a:extLst>
          </p:cNvPr>
          <p:cNvSpPr>
            <a:spLocks noGrp="1"/>
          </p:cNvSpPr>
          <p:nvPr>
            <p:ph type="body" sz="quarter" idx="17"/>
          </p:nvPr>
        </p:nvSpPr>
        <p:spPr/>
        <p:txBody>
          <a:bodyPr/>
          <a:lstStyle/>
          <a:p>
            <a:r>
              <a:rPr lang="en-US" dirty="0"/>
              <a:t>Digital Logic and Boolean Algebra</a:t>
            </a:r>
          </a:p>
        </p:txBody>
      </p:sp>
      <p:sp>
        <p:nvSpPr>
          <p:cNvPr id="8" name="Text Placeholder 7">
            <a:extLst>
              <a:ext uri="{FF2B5EF4-FFF2-40B4-BE49-F238E27FC236}">
                <a16:creationId xmlns:a16="http://schemas.microsoft.com/office/drawing/2014/main" id="{EBA4606E-0589-2AE6-3A39-D84CDB24870F}"/>
              </a:ext>
            </a:extLst>
          </p:cNvPr>
          <p:cNvSpPr>
            <a:spLocks noGrp="1"/>
          </p:cNvSpPr>
          <p:nvPr>
            <p:ph type="body" sz="quarter" idx="13"/>
          </p:nvPr>
        </p:nvSpPr>
        <p:spPr/>
        <p:txBody>
          <a:bodyPr/>
          <a:lstStyle/>
          <a:p>
            <a:r>
              <a:rPr lang="en-US" dirty="0"/>
              <a:t>o3.</a:t>
            </a:r>
          </a:p>
        </p:txBody>
      </p:sp>
      <p:sp>
        <p:nvSpPr>
          <p:cNvPr id="9" name="Text Placeholder 8">
            <a:extLst>
              <a:ext uri="{FF2B5EF4-FFF2-40B4-BE49-F238E27FC236}">
                <a16:creationId xmlns:a16="http://schemas.microsoft.com/office/drawing/2014/main" id="{5DE5E134-360B-2943-34EC-C57477A8C820}"/>
              </a:ext>
            </a:extLst>
          </p:cNvPr>
          <p:cNvSpPr>
            <a:spLocks noGrp="1"/>
          </p:cNvSpPr>
          <p:nvPr>
            <p:ph type="body" sz="quarter" idx="18"/>
          </p:nvPr>
        </p:nvSpPr>
        <p:spPr/>
        <p:txBody>
          <a:bodyPr/>
          <a:lstStyle/>
          <a:p>
            <a:r>
              <a:rPr lang="en-US" dirty="0"/>
              <a:t>Computer Architecture</a:t>
            </a:r>
          </a:p>
        </p:txBody>
      </p:sp>
      <p:sp>
        <p:nvSpPr>
          <p:cNvPr id="10" name="Text Placeholder 9">
            <a:extLst>
              <a:ext uri="{FF2B5EF4-FFF2-40B4-BE49-F238E27FC236}">
                <a16:creationId xmlns:a16="http://schemas.microsoft.com/office/drawing/2014/main" id="{50E7CD20-3130-C2BD-2379-6EB766F55674}"/>
              </a:ext>
            </a:extLst>
          </p:cNvPr>
          <p:cNvSpPr>
            <a:spLocks noGrp="1"/>
          </p:cNvSpPr>
          <p:nvPr>
            <p:ph type="body" sz="quarter" idx="14"/>
          </p:nvPr>
        </p:nvSpPr>
        <p:spPr/>
        <p:txBody>
          <a:bodyPr/>
          <a:lstStyle/>
          <a:p>
            <a:r>
              <a:rPr lang="en-US" dirty="0"/>
              <a:t>o4.</a:t>
            </a:r>
          </a:p>
        </p:txBody>
      </p:sp>
      <p:sp>
        <p:nvSpPr>
          <p:cNvPr id="11" name="Text Placeholder 10">
            <a:extLst>
              <a:ext uri="{FF2B5EF4-FFF2-40B4-BE49-F238E27FC236}">
                <a16:creationId xmlns:a16="http://schemas.microsoft.com/office/drawing/2014/main" id="{9C7F6B17-F299-A158-A26D-47FCD7A1971B}"/>
              </a:ext>
            </a:extLst>
          </p:cNvPr>
          <p:cNvSpPr>
            <a:spLocks noGrp="1"/>
          </p:cNvSpPr>
          <p:nvPr>
            <p:ph type="body" sz="quarter" idx="19"/>
          </p:nvPr>
        </p:nvSpPr>
        <p:spPr/>
        <p:txBody>
          <a:bodyPr/>
          <a:lstStyle/>
          <a:p>
            <a:r>
              <a:rPr lang="en-US" dirty="0"/>
              <a:t>Programming Fundamentals</a:t>
            </a:r>
          </a:p>
        </p:txBody>
      </p:sp>
      <p:sp>
        <p:nvSpPr>
          <p:cNvPr id="12" name="Text Placeholder 11">
            <a:extLst>
              <a:ext uri="{FF2B5EF4-FFF2-40B4-BE49-F238E27FC236}">
                <a16:creationId xmlns:a16="http://schemas.microsoft.com/office/drawing/2014/main" id="{DEC4E845-9A78-36A5-60F3-A22DFD938257}"/>
              </a:ext>
            </a:extLst>
          </p:cNvPr>
          <p:cNvSpPr>
            <a:spLocks noGrp="1"/>
          </p:cNvSpPr>
          <p:nvPr>
            <p:ph type="body" sz="quarter" idx="15"/>
          </p:nvPr>
        </p:nvSpPr>
        <p:spPr/>
        <p:txBody>
          <a:bodyPr/>
          <a:lstStyle/>
          <a:p>
            <a:r>
              <a:rPr lang="en-US" dirty="0"/>
              <a:t>o5.</a:t>
            </a:r>
          </a:p>
        </p:txBody>
      </p:sp>
      <p:sp>
        <p:nvSpPr>
          <p:cNvPr id="13" name="Text Placeholder 12">
            <a:extLst>
              <a:ext uri="{FF2B5EF4-FFF2-40B4-BE49-F238E27FC236}">
                <a16:creationId xmlns:a16="http://schemas.microsoft.com/office/drawing/2014/main" id="{125FE4BA-08C1-FBA0-844E-67EA0062904C}"/>
              </a:ext>
            </a:extLst>
          </p:cNvPr>
          <p:cNvSpPr>
            <a:spLocks noGrp="1"/>
          </p:cNvSpPr>
          <p:nvPr>
            <p:ph type="body" sz="quarter" idx="20"/>
          </p:nvPr>
        </p:nvSpPr>
        <p:spPr/>
        <p:txBody>
          <a:bodyPr/>
          <a:lstStyle/>
          <a:p>
            <a:r>
              <a:rPr lang="en-US" dirty="0"/>
              <a:t>Data Structure and Algorithms</a:t>
            </a:r>
          </a:p>
        </p:txBody>
      </p:sp>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p:txBody>
          <a:bodyPr/>
          <a:lstStyle/>
          <a:p>
            <a:r>
              <a:rPr lang="en-US" dirty="0"/>
              <a:t>TEACH A COURSE</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p:txBody>
          <a:bodyPr/>
          <a:lstStyle/>
          <a:p>
            <a:fld id="{3A98EE3D-8CD1-4C3F-BD1C-C98C9596463C}" type="slidenum">
              <a:rPr lang="en-US" smtClean="0"/>
              <a:pPr/>
              <a:t>89</a:t>
            </a:fld>
            <a:endParaRPr lang="en-US" dirty="0"/>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67041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A person raising his hand">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l="8333" r="8333"/>
          <a:stretch/>
        </p:blipFill>
        <p:spPr>
          <a:xfrm flipH="1">
            <a:off x="7163691" y="0"/>
            <a:ext cx="5024825" cy="6858000"/>
          </a:xfrm>
        </p:spPr>
      </p:pic>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796322" y="320040"/>
            <a:ext cx="6732237" cy="1017147"/>
          </a:xfrm>
        </p:spPr>
        <p:txBody>
          <a:bodyPr/>
          <a:lstStyle/>
          <a:p>
            <a:r>
              <a:rPr lang="en-US" dirty="0"/>
              <a:t>Course progress (2)</a:t>
            </a:r>
          </a:p>
        </p:txBody>
      </p:sp>
      <p:sp>
        <p:nvSpPr>
          <p:cNvPr id="4" name="Text Placeholder 3">
            <a:extLst>
              <a:ext uri="{FF2B5EF4-FFF2-40B4-BE49-F238E27FC236}">
                <a16:creationId xmlns:a16="http://schemas.microsoft.com/office/drawing/2014/main" id="{C2ABC786-DACF-D63D-553F-4EDB8E95A2F1}"/>
              </a:ext>
            </a:extLst>
          </p:cNvPr>
          <p:cNvSpPr>
            <a:spLocks noGrp="1"/>
          </p:cNvSpPr>
          <p:nvPr>
            <p:ph type="body" sz="quarter" idx="10"/>
          </p:nvPr>
        </p:nvSpPr>
        <p:spPr>
          <a:xfrm>
            <a:off x="824242" y="1749479"/>
            <a:ext cx="788639" cy="533400"/>
          </a:xfrm>
        </p:spPr>
        <p:txBody>
          <a:bodyPr/>
          <a:lstStyle/>
          <a:p>
            <a:r>
              <a:rPr lang="en-US" dirty="0"/>
              <a:t>o1.</a:t>
            </a:r>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a:xfrm>
            <a:off x="1643379" y="1749479"/>
            <a:ext cx="5885179" cy="533400"/>
          </a:xfrm>
        </p:spPr>
        <p:txBody>
          <a:bodyPr/>
          <a:lstStyle/>
          <a:p>
            <a:r>
              <a:rPr lang="en-US" dirty="0"/>
              <a:t>Intro to Computer Engineering</a:t>
            </a:r>
          </a:p>
        </p:txBody>
      </p:sp>
      <p:sp>
        <p:nvSpPr>
          <p:cNvPr id="6" name="Text Placeholder 5">
            <a:extLst>
              <a:ext uri="{FF2B5EF4-FFF2-40B4-BE49-F238E27FC236}">
                <a16:creationId xmlns:a16="http://schemas.microsoft.com/office/drawing/2014/main" id="{EF880F1A-5BCC-F84F-3EED-7FA660DEB3F7}"/>
              </a:ext>
            </a:extLst>
          </p:cNvPr>
          <p:cNvSpPr>
            <a:spLocks noGrp="1"/>
          </p:cNvSpPr>
          <p:nvPr>
            <p:ph type="body" sz="quarter" idx="12"/>
          </p:nvPr>
        </p:nvSpPr>
        <p:spPr>
          <a:xfrm>
            <a:off x="824242" y="2378035"/>
            <a:ext cx="788639" cy="533400"/>
          </a:xfrm>
        </p:spPr>
        <p:txBody>
          <a:bodyPr/>
          <a:lstStyle/>
          <a:p>
            <a:r>
              <a:rPr lang="en-US" dirty="0"/>
              <a:t>o2.</a:t>
            </a:r>
          </a:p>
        </p:txBody>
      </p:sp>
      <p:sp>
        <p:nvSpPr>
          <p:cNvPr id="7" name="Text Placeholder 6">
            <a:extLst>
              <a:ext uri="{FF2B5EF4-FFF2-40B4-BE49-F238E27FC236}">
                <a16:creationId xmlns:a16="http://schemas.microsoft.com/office/drawing/2014/main" id="{BDA9475A-A652-4BB2-F82D-18D978C3972A}"/>
              </a:ext>
            </a:extLst>
          </p:cNvPr>
          <p:cNvSpPr>
            <a:spLocks noGrp="1"/>
          </p:cNvSpPr>
          <p:nvPr>
            <p:ph type="body" sz="quarter" idx="17"/>
          </p:nvPr>
        </p:nvSpPr>
        <p:spPr>
          <a:xfrm>
            <a:off x="1643379" y="2378035"/>
            <a:ext cx="5885179" cy="533400"/>
          </a:xfrm>
        </p:spPr>
        <p:txBody>
          <a:bodyPr/>
          <a:lstStyle/>
          <a:p>
            <a:r>
              <a:rPr lang="en-US" dirty="0"/>
              <a:t>Digital Logic and Boolean Algebra</a:t>
            </a:r>
          </a:p>
        </p:txBody>
      </p:sp>
      <p:sp>
        <p:nvSpPr>
          <p:cNvPr id="8" name="Text Placeholder 7">
            <a:extLst>
              <a:ext uri="{FF2B5EF4-FFF2-40B4-BE49-F238E27FC236}">
                <a16:creationId xmlns:a16="http://schemas.microsoft.com/office/drawing/2014/main" id="{EBA4606E-0589-2AE6-3A39-D84CDB24870F}"/>
              </a:ext>
            </a:extLst>
          </p:cNvPr>
          <p:cNvSpPr>
            <a:spLocks noGrp="1"/>
          </p:cNvSpPr>
          <p:nvPr>
            <p:ph type="body" sz="quarter" idx="13"/>
          </p:nvPr>
        </p:nvSpPr>
        <p:spPr>
          <a:xfrm>
            <a:off x="824242" y="3006909"/>
            <a:ext cx="788639" cy="533400"/>
          </a:xfrm>
        </p:spPr>
        <p:txBody>
          <a:bodyPr/>
          <a:lstStyle/>
          <a:p>
            <a:r>
              <a:rPr lang="en-US" dirty="0"/>
              <a:t>o3.</a:t>
            </a:r>
          </a:p>
        </p:txBody>
      </p:sp>
      <p:sp>
        <p:nvSpPr>
          <p:cNvPr id="9" name="Text Placeholder 8">
            <a:extLst>
              <a:ext uri="{FF2B5EF4-FFF2-40B4-BE49-F238E27FC236}">
                <a16:creationId xmlns:a16="http://schemas.microsoft.com/office/drawing/2014/main" id="{5DE5E134-360B-2943-34EC-C57477A8C820}"/>
              </a:ext>
            </a:extLst>
          </p:cNvPr>
          <p:cNvSpPr>
            <a:spLocks noGrp="1"/>
          </p:cNvSpPr>
          <p:nvPr>
            <p:ph type="body" sz="quarter" idx="18"/>
          </p:nvPr>
        </p:nvSpPr>
        <p:spPr>
          <a:xfrm>
            <a:off x="1643379" y="3009613"/>
            <a:ext cx="5885179" cy="533400"/>
          </a:xfrm>
        </p:spPr>
        <p:txBody>
          <a:bodyPr/>
          <a:lstStyle/>
          <a:p>
            <a:r>
              <a:rPr lang="en-US" dirty="0"/>
              <a:t>Computer Architecture</a:t>
            </a:r>
          </a:p>
        </p:txBody>
      </p:sp>
      <p:sp>
        <p:nvSpPr>
          <p:cNvPr id="10" name="Text Placeholder 9">
            <a:extLst>
              <a:ext uri="{FF2B5EF4-FFF2-40B4-BE49-F238E27FC236}">
                <a16:creationId xmlns:a16="http://schemas.microsoft.com/office/drawing/2014/main" id="{50E7CD20-3130-C2BD-2379-6EB766F55674}"/>
              </a:ext>
            </a:extLst>
          </p:cNvPr>
          <p:cNvSpPr>
            <a:spLocks noGrp="1"/>
          </p:cNvSpPr>
          <p:nvPr>
            <p:ph type="body" sz="quarter" idx="14"/>
          </p:nvPr>
        </p:nvSpPr>
        <p:spPr>
          <a:xfrm>
            <a:off x="824242" y="3635783"/>
            <a:ext cx="788639" cy="533400"/>
          </a:xfrm>
        </p:spPr>
        <p:txBody>
          <a:bodyPr/>
          <a:lstStyle/>
          <a:p>
            <a:r>
              <a:rPr lang="en-US" dirty="0"/>
              <a:t>o4.</a:t>
            </a:r>
          </a:p>
        </p:txBody>
      </p:sp>
      <p:sp>
        <p:nvSpPr>
          <p:cNvPr id="11" name="Text Placeholder 10">
            <a:extLst>
              <a:ext uri="{FF2B5EF4-FFF2-40B4-BE49-F238E27FC236}">
                <a16:creationId xmlns:a16="http://schemas.microsoft.com/office/drawing/2014/main" id="{9C7F6B17-F299-A158-A26D-47FCD7A1971B}"/>
              </a:ext>
            </a:extLst>
          </p:cNvPr>
          <p:cNvSpPr>
            <a:spLocks noGrp="1"/>
          </p:cNvSpPr>
          <p:nvPr>
            <p:ph type="body" sz="quarter" idx="19"/>
          </p:nvPr>
        </p:nvSpPr>
        <p:spPr>
          <a:xfrm>
            <a:off x="1643379" y="3638169"/>
            <a:ext cx="5885179" cy="533400"/>
          </a:xfrm>
        </p:spPr>
        <p:txBody>
          <a:bodyPr/>
          <a:lstStyle/>
          <a:p>
            <a:r>
              <a:rPr lang="en-US" dirty="0"/>
              <a:t>Programming Fundamentals</a:t>
            </a:r>
          </a:p>
        </p:txBody>
      </p:sp>
      <p:sp>
        <p:nvSpPr>
          <p:cNvPr id="12" name="Text Placeholder 11">
            <a:extLst>
              <a:ext uri="{FF2B5EF4-FFF2-40B4-BE49-F238E27FC236}">
                <a16:creationId xmlns:a16="http://schemas.microsoft.com/office/drawing/2014/main" id="{DEC4E845-9A78-36A5-60F3-A22DFD938257}"/>
              </a:ext>
            </a:extLst>
          </p:cNvPr>
          <p:cNvSpPr>
            <a:spLocks noGrp="1"/>
          </p:cNvSpPr>
          <p:nvPr>
            <p:ph type="body" sz="quarter" idx="15"/>
          </p:nvPr>
        </p:nvSpPr>
        <p:spPr>
          <a:xfrm>
            <a:off x="824242" y="4264656"/>
            <a:ext cx="788639" cy="533400"/>
          </a:xfrm>
        </p:spPr>
        <p:txBody>
          <a:bodyPr/>
          <a:lstStyle/>
          <a:p>
            <a:r>
              <a:rPr lang="en-US" dirty="0"/>
              <a:t>o5.</a:t>
            </a:r>
          </a:p>
        </p:txBody>
      </p:sp>
      <p:sp>
        <p:nvSpPr>
          <p:cNvPr id="13" name="Text Placeholder 12">
            <a:extLst>
              <a:ext uri="{FF2B5EF4-FFF2-40B4-BE49-F238E27FC236}">
                <a16:creationId xmlns:a16="http://schemas.microsoft.com/office/drawing/2014/main" id="{125FE4BA-08C1-FBA0-844E-67EA0062904C}"/>
              </a:ext>
            </a:extLst>
          </p:cNvPr>
          <p:cNvSpPr>
            <a:spLocks noGrp="1"/>
          </p:cNvSpPr>
          <p:nvPr>
            <p:ph type="body" sz="quarter" idx="20"/>
          </p:nvPr>
        </p:nvSpPr>
        <p:spPr>
          <a:xfrm>
            <a:off x="1643379" y="4269747"/>
            <a:ext cx="5885179" cy="533400"/>
          </a:xfrm>
        </p:spPr>
        <p:txBody>
          <a:bodyPr/>
          <a:lstStyle/>
          <a:p>
            <a:r>
              <a:rPr lang="en-US" dirty="0"/>
              <a:t>Data Structure and Algorithms</a:t>
            </a:r>
          </a:p>
        </p:txBody>
      </p:sp>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90</a:t>
            </a:fld>
            <a:endParaRPr lang="en-US" dirty="0"/>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1691671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52219-785E-4657-C5F4-A53FEF2EB02D}"/>
              </a:ext>
            </a:extLst>
          </p:cNvPr>
          <p:cNvSpPr>
            <a:spLocks noGrp="1"/>
          </p:cNvSpPr>
          <p:nvPr>
            <p:ph type="ctrTitle"/>
          </p:nvPr>
        </p:nvSpPr>
        <p:spPr>
          <a:xfrm>
            <a:off x="6970326" y="1679216"/>
            <a:ext cx="4786877" cy="1518315"/>
          </a:xfrm>
        </p:spPr>
        <p:txBody>
          <a:bodyPr/>
          <a:lstStyle/>
          <a:p>
            <a:r>
              <a:rPr lang="en-US" dirty="0"/>
              <a:t>Thank you</a:t>
            </a:r>
          </a:p>
        </p:txBody>
      </p:sp>
      <p:pic>
        <p:nvPicPr>
          <p:cNvPr id="6" name="Picture Placeholder 5" descr="A person and person looking at a computer screen">
            <a:extLst>
              <a:ext uri="{FF2B5EF4-FFF2-40B4-BE49-F238E27FC236}">
                <a16:creationId xmlns:a16="http://schemas.microsoft.com/office/drawing/2014/main" id="{AA35CD3A-9896-7953-C82D-AAE87F6124DB}"/>
              </a:ext>
            </a:extLst>
          </p:cNvPr>
          <p:cNvPicPr>
            <a:picLocks noGrp="1" noChangeAspect="1"/>
          </p:cNvPicPr>
          <p:nvPr>
            <p:ph type="pic" sz="quarter" idx="11"/>
          </p:nvPr>
        </p:nvPicPr>
        <p:blipFill>
          <a:blip r:embed="rId2"/>
          <a:srcRect l="127" r="127"/>
          <a:stretch/>
        </p:blipFill>
        <p:spPr>
          <a:xfrm>
            <a:off x="-29499" y="-2236"/>
            <a:ext cx="6814124" cy="6871095"/>
          </a:xfrm>
        </p:spPr>
      </p:pic>
      <p:sp>
        <p:nvSpPr>
          <p:cNvPr id="4" name="Text Placeholder 3">
            <a:extLst>
              <a:ext uri="{FF2B5EF4-FFF2-40B4-BE49-F238E27FC236}">
                <a16:creationId xmlns:a16="http://schemas.microsoft.com/office/drawing/2014/main" id="{7AF90D79-5C58-F576-D2D0-3F4F1822E757}"/>
              </a:ext>
            </a:extLst>
          </p:cNvPr>
          <p:cNvSpPr>
            <a:spLocks noGrp="1"/>
          </p:cNvSpPr>
          <p:nvPr>
            <p:ph type="body" sz="quarter" idx="12"/>
          </p:nvPr>
        </p:nvSpPr>
        <p:spPr>
          <a:xfrm>
            <a:off x="6970326" y="3748958"/>
            <a:ext cx="4786878" cy="2258013"/>
          </a:xfrm>
        </p:spPr>
        <p:txBody>
          <a:bodyPr/>
          <a:lstStyle/>
          <a:p>
            <a:r>
              <a:rPr lang="en-US" dirty="0"/>
              <a:t>Office hours: </a:t>
            </a:r>
          </a:p>
          <a:p>
            <a:r>
              <a:rPr lang="en-US" dirty="0"/>
              <a:t>M-Th 3:00pm-4:30pm room C402</a:t>
            </a:r>
          </a:p>
          <a:p>
            <a:endParaRPr lang="en-US" dirty="0"/>
          </a:p>
          <a:p>
            <a:r>
              <a:rPr lang="en-US" dirty="0"/>
              <a:t>Please send all questions to:</a:t>
            </a:r>
          </a:p>
          <a:p>
            <a:r>
              <a:rPr lang="en-US" dirty="0"/>
              <a:t>gehad@example.com</a:t>
            </a:r>
          </a:p>
        </p:txBody>
      </p:sp>
      <p:grpSp>
        <p:nvGrpSpPr>
          <p:cNvPr id="7" name="Group 6">
            <a:extLst>
              <a:ext uri="{FF2B5EF4-FFF2-40B4-BE49-F238E27FC236}">
                <a16:creationId xmlns:a16="http://schemas.microsoft.com/office/drawing/2014/main" id="{6A8DFC8D-4AE6-170E-C27A-DA97EBD7DC87}"/>
              </a:ext>
              <a:ext uri="{C183D7F6-B498-43B3-948B-1728B52AA6E4}">
                <adec:decorative xmlns:adec="http://schemas.microsoft.com/office/drawing/2017/decorative" val="1"/>
              </a:ext>
            </a:extLst>
          </p:cNvPr>
          <p:cNvGrpSpPr/>
          <p:nvPr/>
        </p:nvGrpSpPr>
        <p:grpSpPr>
          <a:xfrm>
            <a:off x="4059704" y="0"/>
            <a:ext cx="2928883" cy="6871447"/>
            <a:chOff x="4059704" y="0"/>
            <a:chExt cx="2928883" cy="6871447"/>
          </a:xfrm>
        </p:grpSpPr>
        <p:sp>
          <p:nvSpPr>
            <p:cNvPr id="8" name="Freeform: Shape 7">
              <a:extLst>
                <a:ext uri="{FF2B5EF4-FFF2-40B4-BE49-F238E27FC236}">
                  <a16:creationId xmlns:a16="http://schemas.microsoft.com/office/drawing/2014/main" id="{CF966C9E-A9A2-BF8C-EDCB-B7F6AE51C425}"/>
                </a:ext>
              </a:extLst>
            </p:cNvPr>
            <p:cNvSpPr/>
            <p:nvPr/>
          </p:nvSpPr>
          <p:spPr>
            <a:xfrm rot="10800000">
              <a:off x="4443586" y="50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cxnSp>
          <p:nvCxnSpPr>
            <p:cNvPr id="9" name="Straight Connector 8">
              <a:extLst>
                <a:ext uri="{FF2B5EF4-FFF2-40B4-BE49-F238E27FC236}">
                  <a16:creationId xmlns:a16="http://schemas.microsoft.com/office/drawing/2014/main" id="{433BC35A-F255-48AA-48B8-D6561A6FAB9E}"/>
                </a:ext>
              </a:extLst>
            </p:cNvPr>
            <p:cNvCxnSpPr>
              <a:cxnSpLocks/>
            </p:cNvCxnSpPr>
            <p:nvPr/>
          </p:nvCxnSpPr>
          <p:spPr>
            <a:xfrm flipH="1">
              <a:off x="4059704"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9485134"/>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997564FD-A068-4008-83B6-070AA4A47434}" vid="{E6A5A359-31DF-46AC-82A0-260451C80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5DFD21-F030-4913-A53B-53AB3DF1C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E11EC4-AF13-4A6E-A5E0-5A264B291FD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ACD227D-A683-415D-A610-20912E1CEA1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TM04033937[[fn=Vapor Trail]]</Template>
  <TotalTime>20440</TotalTime>
  <Words>6216</Words>
  <Application>Microsoft Office PowerPoint</Application>
  <PresentationFormat>Widescreen</PresentationFormat>
  <Paragraphs>770</Paragraphs>
  <Slides>91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91</vt:i4>
      </vt:variant>
    </vt:vector>
  </HeadingPairs>
  <TitlesOfParts>
    <vt:vector size="101" baseType="lpstr">
      <vt:lpstr>Arial</vt:lpstr>
      <vt:lpstr>Bahnschrift SemiBold</vt:lpstr>
      <vt:lpstr>Book Antiqua</vt:lpstr>
      <vt:lpstr>Calibri</vt:lpstr>
      <vt:lpstr>Century Gothic</vt:lpstr>
      <vt:lpstr>Courier New</vt:lpstr>
      <vt:lpstr>Open Sans</vt:lpstr>
      <vt:lpstr>Poppins</vt:lpstr>
      <vt:lpstr>Wingdings</vt:lpstr>
      <vt:lpstr>Custom</vt:lpstr>
      <vt:lpstr>RED HAT LINUX ADMINISTRATION l</vt:lpstr>
      <vt:lpstr>Red Hat Enterprise Linux 9 RH124</vt:lpstr>
      <vt:lpstr>Red Hat Enterprise Linux 9</vt:lpstr>
      <vt:lpstr>Red Hat Enterprise Linux 9 RH124</vt:lpstr>
      <vt:lpstr>RED HAT LINUX ADMINISTRATION l</vt:lpstr>
      <vt:lpstr>Red Hat Enterprise Linux 9 RH124</vt:lpstr>
      <vt:lpstr>Red Hat Enterprise Linux 9 RH124</vt:lpstr>
      <vt:lpstr>Red Hat Enterprise Linux 9 RH124</vt:lpstr>
      <vt:lpstr>Red Hat Enterprise Linux 9 RH124</vt:lpstr>
      <vt:lpstr>Red Hat Enterprise Linux 9 RH124</vt:lpstr>
      <vt:lpstr>Red Hat Enterprise Linux 9 RH124</vt:lpstr>
      <vt:lpstr>The File-system Hierarchy</vt:lpstr>
      <vt:lpstr>Specify Files by Name</vt:lpstr>
      <vt:lpstr>Specify Files by Name</vt:lpstr>
      <vt:lpstr>Command-line File Management</vt:lpstr>
      <vt:lpstr>PowerPoint Presentation</vt:lpstr>
      <vt:lpstr>PowerPoint Presentation</vt:lpstr>
      <vt:lpstr>Match File Name with Shell Expansions</vt:lpstr>
      <vt:lpstr>Red Hat Enterprise Linux 9 RH124</vt:lpstr>
      <vt:lpstr>PowerPoint Presentation</vt:lpstr>
      <vt:lpstr>Red Hat Enterprise Linux 9 RH124</vt:lpstr>
      <vt:lpstr>PowerPoint Presentation</vt:lpstr>
      <vt:lpstr>PowerPoint Presentation</vt:lpstr>
      <vt:lpstr>PowerPoint Presentation</vt:lpstr>
      <vt:lpstr>PowerPoint Presentation</vt:lpstr>
      <vt:lpstr>PowerPoint Presentation</vt:lpstr>
      <vt:lpstr>PowerPoint Presentation</vt:lpstr>
      <vt:lpstr>Red Hat Enterprise Linux 9 RH124</vt:lpstr>
      <vt:lpstr>Red Hat Enterprise Linux 9 RH124</vt:lpstr>
      <vt:lpstr>Manage Local Users and Groups </vt:lpstr>
      <vt:lpstr>Manage Local Users and Groups </vt:lpstr>
      <vt:lpstr>Manage Local Users and Groups </vt:lpstr>
      <vt:lpstr>Red Hat Enterprise Linux 9 RH124</vt:lpstr>
      <vt:lpstr>PowerPoint Presentation</vt:lpstr>
      <vt:lpstr>PowerPoint Presentation</vt:lpstr>
      <vt:lpstr>PowerPoint Presentation</vt:lpstr>
      <vt:lpstr>PowerPoint Presentation</vt:lpstr>
      <vt:lpstr>PowerPoint Presentation</vt:lpstr>
      <vt:lpstr>Red Hat Enterprise Linux 9 RH124</vt:lpstr>
      <vt:lpstr>PowerPoint Presentation</vt:lpstr>
      <vt:lpstr>PowerPoint Presentation</vt:lpstr>
      <vt:lpstr>PowerPoint Presentation</vt:lpstr>
      <vt:lpstr>Red Hat Enterprise Linux 9 RH124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 Hat Enterprise Linux 9 RH124</vt:lpstr>
      <vt:lpstr>Red Hat Enterprise Linux 9 RH124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 Hat Enterprise Linux 9 RH124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 Hat Enterprise Linux 9 RH124</vt:lpstr>
      <vt:lpstr>PowerPoint Presentation</vt:lpstr>
      <vt:lpstr>PowerPoint Presentation</vt:lpstr>
      <vt:lpstr>Red Hat Enterprise Linux 9 RH124</vt:lpstr>
      <vt:lpstr>PowerPoint Presentation</vt:lpstr>
      <vt:lpstr>Red Hat Enterprise Linux 9</vt:lpstr>
      <vt:lpstr>PowerPoint Presentation</vt:lpstr>
      <vt:lpstr>PowerPoint Presentation</vt:lpstr>
      <vt:lpstr>Red Hat Enterprise Linux 9</vt:lpstr>
      <vt:lpstr>PowerPoint Presentation</vt:lpstr>
      <vt:lpstr>Red Hat Enterprise Linux 9</vt:lpstr>
      <vt:lpstr>PowerPoint Presentation</vt:lpstr>
      <vt:lpstr>PowerPoint Presentation</vt:lpstr>
      <vt:lpstr>Red Hat Enterprise Linux 9</vt:lpstr>
      <vt:lpstr>PowerPoint Presentation</vt:lpstr>
      <vt:lpstr>PowerPoint Presentation</vt:lpstr>
      <vt:lpstr>Skill two: Introduction to digital logic</vt:lpstr>
      <vt:lpstr>Skill two: Introduction to digital logic</vt:lpstr>
      <vt:lpstr>Skill two: Introduction to digital logic (2)</vt:lpstr>
      <vt:lpstr>Skill three: Computer architecture</vt:lpstr>
      <vt:lpstr>Lesson one summary</vt:lpstr>
      <vt:lpstr>Course progress</vt:lpstr>
      <vt:lpstr>Course progress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HAT LINUX ADMINISTRATION l</dc:title>
  <dc:creator>Shikhar Verma</dc:creator>
  <cp:lastModifiedBy>Shikhar Verma</cp:lastModifiedBy>
  <cp:revision>68</cp:revision>
  <dcterms:created xsi:type="dcterms:W3CDTF">2023-09-25T16:23:31Z</dcterms:created>
  <dcterms:modified xsi:type="dcterms:W3CDTF">2024-05-25T06:27:25Z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